
<file path=[Content_Types].xml><?xml version="1.0" encoding="utf-8"?>
<Types xmlns="http://schemas.openxmlformats.org/package/2006/content-types">
  <Default Extension="bin" ContentType="application/vnd.openxmlformats-officedocument.oleObject"/>
  <Default Extension="png" ContentType="image/png"/>
  <Default Extension="svg" ContentType="image/svg+xml"/>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Override1.xml" ContentType="application/vnd.openxmlformats-officedocument.themeOverr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heme/theme2.xml" ContentType="application/vnd.openxmlformats-officedocument.theme+xml"/>
  <Override PartName="/ppt/theme/themeOverride2.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3.xml" ContentType="application/vnd.openxmlformats-officedocument.presentationml.tags+xml"/>
  <Override PartName="/ppt/notesSlides/notesSlide6.xml" ContentType="application/vnd.openxmlformats-officedocument.presentationml.notesSlide+xml"/>
  <Override PartName="/ppt/tags/tag14.xml" ContentType="application/vnd.openxmlformats-officedocument.presentationml.tags+xml"/>
  <Override PartName="/ppt/notesSlides/notesSlide7.xml" ContentType="application/vnd.openxmlformats-officedocument.presentationml.notesSlide+xml"/>
  <Override PartName="/ppt/tags/tag15.xml" ContentType="application/vnd.openxmlformats-officedocument.presentationml.tags+xml"/>
  <Override PartName="/ppt/notesSlides/notesSlide8.xml" ContentType="application/vnd.openxmlformats-officedocument.presentationml.notesSlide+xml"/>
  <Override PartName="/ppt/theme/themeOverride3.xml" ContentType="application/vnd.openxmlformats-officedocument.themeOverride+xml"/>
  <Override PartName="/ppt/notesSlides/notesSlide9.xml" ContentType="application/vnd.openxmlformats-officedocument.presentationml.notesSlide+xml"/>
  <Override PartName="/ppt/theme/themeOverride4.xml" ContentType="application/vnd.openxmlformats-officedocument.themeOverride+xml"/>
  <Override PartName="/ppt/notesSlides/notesSlide10.xml" ContentType="application/vnd.openxmlformats-officedocument.presentationml.notesSlide+xml"/>
  <Override PartName="/ppt/tags/tag16.xml" ContentType="application/vnd.openxmlformats-officedocument.presentationml.tags+xml"/>
  <Override PartName="/ppt/notesSlides/notesSlide11.xml" ContentType="application/vnd.openxmlformats-officedocument.presentationml.notesSlide+xml"/>
  <Override PartName="/ppt/tags/tag17.xml" ContentType="application/vnd.openxmlformats-officedocument.presentationml.tags+xml"/>
  <Override PartName="/ppt/notesSlides/notesSlide12.xml" ContentType="application/vnd.openxmlformats-officedocument.presentationml.notesSlide+xml"/>
  <Override PartName="/ppt/tags/tag18.xml" ContentType="application/vnd.openxmlformats-officedocument.presentationml.tags+xml"/>
  <Override PartName="/ppt/notesSlides/notesSlide13.xml" ContentType="application/vnd.openxmlformats-officedocument.presentationml.notesSlide+xml"/>
  <Override PartName="/ppt/tags/tag19.xml" ContentType="application/vnd.openxmlformats-officedocument.presentationml.tags+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258" r:id="rId2"/>
    <p:sldId id="335" r:id="rId3"/>
    <p:sldId id="341" r:id="rId4"/>
    <p:sldId id="437" r:id="rId5"/>
    <p:sldId id="449" r:id="rId6"/>
    <p:sldId id="355" r:id="rId7"/>
    <p:sldId id="448" r:id="rId8"/>
    <p:sldId id="450" r:id="rId9"/>
    <p:sldId id="420" r:id="rId10"/>
    <p:sldId id="421" r:id="rId11"/>
    <p:sldId id="413" r:id="rId12"/>
    <p:sldId id="262" r:id="rId13"/>
    <p:sldId id="287" r:id="rId14"/>
    <p:sldId id="439" r:id="rId15"/>
    <p:sldId id="390" r:id="rId16"/>
    <p:sldId id="414" r:id="rId17"/>
    <p:sldId id="42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71F"/>
    <a:srgbClr val="00FFFF"/>
    <a:srgbClr val="66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375" autoAdjust="0"/>
    <p:restoredTop sz="93979" autoAdjust="0"/>
  </p:normalViewPr>
  <p:slideViewPr>
    <p:cSldViewPr snapToGrid="0">
      <p:cViewPr varScale="1">
        <p:scale>
          <a:sx n="66" d="100"/>
          <a:sy n="66" d="100"/>
        </p:scale>
        <p:origin x="668" y="3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34E3EE-A17F-4DB4-B1F3-D446441B65E3}" type="datetimeFigureOut">
              <a:rPr lang="en-US" smtClean="0"/>
              <a:t>25/7/2025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2A4B31-E220-4D9A-8D6D-C00945709A12}" type="slidenum">
              <a:rPr lang="en-US" smtClean="0"/>
              <a:t>‹#›</a:t>
            </a:fld>
            <a:endParaRPr lang="en-US"/>
          </a:p>
        </p:txBody>
      </p:sp>
    </p:spTree>
    <p:extLst>
      <p:ext uri="{BB962C8B-B14F-4D97-AF65-F5344CB8AC3E}">
        <p14:creationId xmlns:p14="http://schemas.microsoft.com/office/powerpoint/2010/main" val="19512275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4923F0-ADC0-490A-9379-761BF1A89AB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62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3" indent="-285750" algn="l" defTabSz="914400" rtl="0" eaLnBrk="1" latinLnBrk="0" hangingPunct="1">
              <a:spcBef>
                <a:spcPts val="0"/>
              </a:spcBef>
              <a:buClr>
                <a:srgbClr val="DA251C"/>
              </a:buClr>
              <a:buFontTx/>
              <a:buChar char="-"/>
              <a:defRPr/>
            </a:pPr>
            <a:r>
              <a:rPr lang="en-US" sz="1200" kern="1200" smtClean="0">
                <a:solidFill>
                  <a:schemeClr val="tx1"/>
                </a:solidFill>
                <a:latin typeface="Times New Roman" panose="02020603050405020304" pitchFamily="18" charset="0"/>
                <a:ea typeface="+mn-ea"/>
                <a:cs typeface="+mn-cs"/>
              </a:rPr>
              <a:t>TT 17: các giao dịch điện tử phải có chữ ký số người đại diện hợp pháp của DN</a:t>
            </a:r>
          </a:p>
          <a:p>
            <a:pPr marL="0" lvl="3" indent="-285750" algn="l" defTabSz="914400" rtl="0" eaLnBrk="1" latinLnBrk="0" hangingPunct="1">
              <a:spcBef>
                <a:spcPts val="0"/>
              </a:spcBef>
              <a:buClr>
                <a:srgbClr val="DA251C"/>
              </a:buClr>
              <a:buFontTx/>
              <a:buChar char="-"/>
              <a:defRPr/>
            </a:pPr>
            <a:r>
              <a:rPr lang="en-US" sz="1200" kern="1200" smtClean="0">
                <a:solidFill>
                  <a:schemeClr val="tx1"/>
                </a:solidFill>
                <a:latin typeface="Times New Roman" panose="02020603050405020304" pitchFamily="18" charset="0"/>
                <a:ea typeface="+mn-ea"/>
                <a:cs typeface="+mn-cs"/>
              </a:rPr>
              <a:t>Luật giao dịch điện tử 2023: các giao dịch điện tử phải có chữ ký số đại</a:t>
            </a:r>
            <a:r>
              <a:rPr lang="en-US" sz="1200" kern="1200" baseline="0" smtClean="0">
                <a:solidFill>
                  <a:schemeClr val="tx1"/>
                </a:solidFill>
                <a:latin typeface="Times New Roman" panose="02020603050405020304" pitchFamily="18" charset="0"/>
                <a:ea typeface="+mn-ea"/>
                <a:cs typeface="+mn-cs"/>
              </a:rPr>
              <a:t> diện của DN</a:t>
            </a:r>
            <a:endParaRPr lang="en-US" sz="1200" kern="1200" smtClean="0">
              <a:solidFill>
                <a:schemeClr val="tx1"/>
              </a:solidFill>
              <a:latin typeface="Times New Roman" panose="02020603050405020304" pitchFamily="18" charset="0"/>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2A4B31-E220-4D9A-8D6D-C00945709A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846831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3" indent="-285750" algn="l" defTabSz="914400" rtl="0" eaLnBrk="1" latinLnBrk="0" hangingPunct="1">
              <a:spcBef>
                <a:spcPts val="0"/>
              </a:spcBef>
              <a:buClr>
                <a:srgbClr val="DA251C"/>
              </a:buClr>
              <a:buFontTx/>
              <a:buChar char="-"/>
              <a:defRPr/>
            </a:pPr>
            <a:r>
              <a:rPr lang="en-US" sz="1200" kern="1200" smtClean="0">
                <a:solidFill>
                  <a:schemeClr val="tx1"/>
                </a:solidFill>
                <a:latin typeface="Times New Roman" panose="02020603050405020304" pitchFamily="18" charset="0"/>
                <a:ea typeface="+mn-ea"/>
                <a:cs typeface="+mn-cs"/>
              </a:rPr>
              <a:t>TT 17: các giao dịch điện tử phải có chữ ký số người đại diện hợp pháp của DN</a:t>
            </a:r>
          </a:p>
          <a:p>
            <a:pPr marL="0" lvl="3" indent="-285750" algn="l" defTabSz="914400" rtl="0" eaLnBrk="1" latinLnBrk="0" hangingPunct="1">
              <a:spcBef>
                <a:spcPts val="0"/>
              </a:spcBef>
              <a:buClr>
                <a:srgbClr val="DA251C"/>
              </a:buClr>
              <a:buFontTx/>
              <a:buChar char="-"/>
              <a:defRPr/>
            </a:pPr>
            <a:r>
              <a:rPr lang="en-US" sz="1200" kern="1200" smtClean="0">
                <a:solidFill>
                  <a:schemeClr val="tx1"/>
                </a:solidFill>
                <a:latin typeface="Times New Roman" panose="02020603050405020304" pitchFamily="18" charset="0"/>
                <a:ea typeface="+mn-ea"/>
                <a:cs typeface="+mn-cs"/>
              </a:rPr>
              <a:t>Luật giao dịch điện tử 2023: các giao dịch điện tử phải có chữ ký số đại</a:t>
            </a:r>
            <a:r>
              <a:rPr lang="en-US" sz="1200" kern="1200" baseline="0" smtClean="0">
                <a:solidFill>
                  <a:schemeClr val="tx1"/>
                </a:solidFill>
                <a:latin typeface="Times New Roman" panose="02020603050405020304" pitchFamily="18" charset="0"/>
                <a:ea typeface="+mn-ea"/>
                <a:cs typeface="+mn-cs"/>
              </a:rPr>
              <a:t> diện của DN</a:t>
            </a:r>
            <a:endParaRPr lang="en-US" sz="1200" kern="1200" smtClean="0">
              <a:solidFill>
                <a:schemeClr val="tx1"/>
              </a:solidFill>
              <a:latin typeface="Times New Roman" panose="02020603050405020304" pitchFamily="18" charset="0"/>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2A4B31-E220-4D9A-8D6D-C00945709A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17002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buFontTx/>
              <a:buNone/>
            </a:pPr>
            <a:endParaRPr lang="en-US" sz="1200" b="0" dirty="0" smtClean="0">
              <a:solidFill>
                <a:srgbClr val="FF0000"/>
              </a:solidFill>
            </a:endParaRPr>
          </a:p>
        </p:txBody>
      </p:sp>
      <p:sp>
        <p:nvSpPr>
          <p:cNvPr id="4" name="Date Placeholder 3"/>
          <p:cNvSpPr>
            <a:spLocks noGrp="1"/>
          </p:cNvSpPr>
          <p:nvPr>
            <p:ph type="dt" idx="1"/>
          </p:nvPr>
        </p:nvSpPr>
        <p:spPr/>
        <p:txBody>
          <a:bodyPr/>
          <a:lstStyle/>
          <a:p>
            <a:fld id="{1DF34805-1F01-4BDA-A8CA-FCEA2B4BC8D0}" type="datetime3">
              <a:rPr lang="en-US" smtClean="0"/>
              <a:pPr/>
              <a:t>25 July 2025</a:t>
            </a:fld>
            <a:endParaRPr lang="en-US" dirty="0"/>
          </a:p>
        </p:txBody>
      </p:sp>
      <p:sp>
        <p:nvSpPr>
          <p:cNvPr id="5" name="Slide Number Placeholder 4"/>
          <p:cNvSpPr>
            <a:spLocks noGrp="1"/>
          </p:cNvSpPr>
          <p:nvPr>
            <p:ph type="sldNum" sz="quarter" idx="5"/>
          </p:nvPr>
        </p:nvSpPr>
        <p:spPr/>
        <p:txBody>
          <a:bodyPr/>
          <a:lstStyle/>
          <a:p>
            <a:fld id="{CF5EBCF4-26FC-4F76-8DA1-52FDDC328D44}" type="slidenum">
              <a:rPr lang="en-US" smtClean="0"/>
              <a:pPr/>
              <a:t>7</a:t>
            </a:fld>
            <a:endParaRPr lang="en-US" dirty="0"/>
          </a:p>
        </p:txBody>
      </p:sp>
    </p:spTree>
    <p:extLst>
      <p:ext uri="{BB962C8B-B14F-4D97-AF65-F5344CB8AC3E}">
        <p14:creationId xmlns:p14="http://schemas.microsoft.com/office/powerpoint/2010/main" val="34666172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3" indent="-285750" algn="l" defTabSz="914400" rtl="0" eaLnBrk="1" latinLnBrk="0" hangingPunct="1">
              <a:spcBef>
                <a:spcPts val="0"/>
              </a:spcBef>
              <a:buClr>
                <a:srgbClr val="DA251C"/>
              </a:buClr>
              <a:buFontTx/>
              <a:buChar char="-"/>
              <a:defRPr/>
            </a:pPr>
            <a:r>
              <a:rPr lang="en-US" sz="1200" kern="1200" smtClean="0">
                <a:solidFill>
                  <a:schemeClr val="tx1"/>
                </a:solidFill>
                <a:latin typeface="Times New Roman" panose="02020603050405020304" pitchFamily="18" charset="0"/>
                <a:ea typeface="+mn-ea"/>
                <a:cs typeface="+mn-cs"/>
              </a:rPr>
              <a:t>TT 17: các giao dịch điện tử phải có chữ ký số người đại diện hợp pháp của DN</a:t>
            </a:r>
          </a:p>
          <a:p>
            <a:pPr marL="0" lvl="3" indent="-285750" algn="l" defTabSz="914400" rtl="0" eaLnBrk="1" latinLnBrk="0" hangingPunct="1">
              <a:spcBef>
                <a:spcPts val="0"/>
              </a:spcBef>
              <a:buClr>
                <a:srgbClr val="DA251C"/>
              </a:buClr>
              <a:buFontTx/>
              <a:buChar char="-"/>
              <a:defRPr/>
            </a:pPr>
            <a:r>
              <a:rPr lang="en-US" sz="1200" kern="1200" smtClean="0">
                <a:solidFill>
                  <a:schemeClr val="tx1"/>
                </a:solidFill>
                <a:latin typeface="Times New Roman" panose="02020603050405020304" pitchFamily="18" charset="0"/>
                <a:ea typeface="+mn-ea"/>
                <a:cs typeface="+mn-cs"/>
              </a:rPr>
              <a:t>Luật giao dịch điện tử 2023: các giao dịch điện tử phải có chữ ký số đại</a:t>
            </a:r>
            <a:r>
              <a:rPr lang="en-US" sz="1200" kern="1200" baseline="0" smtClean="0">
                <a:solidFill>
                  <a:schemeClr val="tx1"/>
                </a:solidFill>
                <a:latin typeface="Times New Roman" panose="02020603050405020304" pitchFamily="18" charset="0"/>
                <a:ea typeface="+mn-ea"/>
                <a:cs typeface="+mn-cs"/>
              </a:rPr>
              <a:t> diện của DN</a:t>
            </a:r>
            <a:endParaRPr lang="en-US" sz="1200" kern="1200" smtClean="0">
              <a:solidFill>
                <a:schemeClr val="tx1"/>
              </a:solidFill>
              <a:latin typeface="Times New Roman" panose="02020603050405020304" pitchFamily="18" charset="0"/>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2A4B31-E220-4D9A-8D6D-C00945709A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673511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just">
              <a:buFontTx/>
              <a:buChar char="-"/>
            </a:pPr>
            <a:endParaRPr lang="en-US" sz="1200" b="0" dirty="0" smtClean="0">
              <a:solidFill>
                <a:srgbClr val="FF0000"/>
              </a:solidFill>
            </a:endParaRPr>
          </a:p>
        </p:txBody>
      </p:sp>
      <p:sp>
        <p:nvSpPr>
          <p:cNvPr id="4" name="Date Placeholder 3"/>
          <p:cNvSpPr>
            <a:spLocks noGrp="1"/>
          </p:cNvSpPr>
          <p:nvPr>
            <p:ph type="dt" idx="1"/>
          </p:nvPr>
        </p:nvSpPr>
        <p:spPr/>
        <p:txBody>
          <a:bodyPr/>
          <a:lstStyle/>
          <a:p>
            <a:fld id="{1DF34805-1F01-4BDA-A8CA-FCEA2B4BC8D0}" type="datetime3">
              <a:rPr lang="en-US" smtClean="0"/>
              <a:pPr/>
              <a:t>25 July 2025</a:t>
            </a:fld>
            <a:endParaRPr lang="en-US" dirty="0"/>
          </a:p>
        </p:txBody>
      </p:sp>
      <p:sp>
        <p:nvSpPr>
          <p:cNvPr id="5" name="Slide Number Placeholder 4"/>
          <p:cNvSpPr>
            <a:spLocks noGrp="1"/>
          </p:cNvSpPr>
          <p:nvPr>
            <p:ph type="sldNum" sz="quarter" idx="5"/>
          </p:nvPr>
        </p:nvSpPr>
        <p:spPr/>
        <p:txBody>
          <a:bodyPr/>
          <a:lstStyle/>
          <a:p>
            <a:fld id="{CF5EBCF4-26FC-4F76-8DA1-52FDDC328D44}" type="slidenum">
              <a:rPr lang="en-US" smtClean="0"/>
              <a:pPr/>
              <a:t>9</a:t>
            </a:fld>
            <a:endParaRPr lang="en-US" dirty="0"/>
          </a:p>
        </p:txBody>
      </p:sp>
    </p:spTree>
    <p:extLst>
      <p:ext uri="{BB962C8B-B14F-4D97-AF65-F5344CB8AC3E}">
        <p14:creationId xmlns:p14="http://schemas.microsoft.com/office/powerpoint/2010/main" val="23231861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just">
              <a:buFontTx/>
              <a:buChar char="-"/>
            </a:pPr>
            <a:r>
              <a:rPr lang="en-US" sz="1200" b="0" smtClean="0">
                <a:solidFill>
                  <a:srgbClr val="FF0000"/>
                </a:solidFill>
              </a:rPr>
              <a:t>Box</a:t>
            </a:r>
            <a:r>
              <a:rPr lang="en-US" sz="1200" b="0" baseline="0" smtClean="0">
                <a:solidFill>
                  <a:srgbClr val="FF0000"/>
                </a:solidFill>
              </a:rPr>
              <a:t> 1: Quầy</a:t>
            </a:r>
          </a:p>
          <a:p>
            <a:pPr marL="171450" indent="-171450" algn="just">
              <a:buFontTx/>
              <a:buChar char="-"/>
            </a:pPr>
            <a:r>
              <a:rPr lang="en-US" sz="1200" b="0" baseline="0" smtClean="0">
                <a:solidFill>
                  <a:srgbClr val="FF0000"/>
                </a:solidFill>
              </a:rPr>
              <a:t>Box 6: ePayment</a:t>
            </a:r>
          </a:p>
          <a:p>
            <a:pPr marL="171450" indent="-171450" algn="just">
              <a:buFontTx/>
              <a:buChar char="-"/>
            </a:pPr>
            <a:r>
              <a:rPr lang="en-US" sz="1200" b="0" baseline="0" smtClean="0">
                <a:solidFill>
                  <a:srgbClr val="FF0000"/>
                </a:solidFill>
              </a:rPr>
              <a:t>Box 7: Core Service (T24 &amp; Way4)</a:t>
            </a:r>
            <a:endParaRPr lang="en-US" sz="1200" b="0" dirty="0" smtClean="0">
              <a:solidFill>
                <a:srgbClr val="FF0000"/>
              </a:solidFill>
            </a:endParaRPr>
          </a:p>
        </p:txBody>
      </p:sp>
      <p:sp>
        <p:nvSpPr>
          <p:cNvPr id="4" name="Date Placeholder 3"/>
          <p:cNvSpPr>
            <a:spLocks noGrp="1"/>
          </p:cNvSpPr>
          <p:nvPr>
            <p:ph type="dt" idx="1"/>
          </p:nvPr>
        </p:nvSpPr>
        <p:spPr/>
        <p:txBody>
          <a:bodyPr/>
          <a:lstStyle/>
          <a:p>
            <a:fld id="{1DF34805-1F01-4BDA-A8CA-FCEA2B4BC8D0}" type="datetime3">
              <a:rPr lang="en-US" smtClean="0"/>
              <a:pPr/>
              <a:t>25 July 2025</a:t>
            </a:fld>
            <a:endParaRPr lang="en-US" dirty="0"/>
          </a:p>
        </p:txBody>
      </p:sp>
      <p:sp>
        <p:nvSpPr>
          <p:cNvPr id="5" name="Slide Number Placeholder 4"/>
          <p:cNvSpPr>
            <a:spLocks noGrp="1"/>
          </p:cNvSpPr>
          <p:nvPr>
            <p:ph type="sldNum" sz="quarter" idx="5"/>
          </p:nvPr>
        </p:nvSpPr>
        <p:spPr/>
        <p:txBody>
          <a:bodyPr/>
          <a:lstStyle/>
          <a:p>
            <a:fld id="{CF5EBCF4-26FC-4F76-8DA1-52FDDC328D44}" type="slidenum">
              <a:rPr lang="en-US" smtClean="0"/>
              <a:pPr/>
              <a:t>10</a:t>
            </a:fld>
            <a:endParaRPr lang="en-US" dirty="0"/>
          </a:p>
        </p:txBody>
      </p:sp>
    </p:spTree>
    <p:extLst>
      <p:ext uri="{BB962C8B-B14F-4D97-AF65-F5344CB8AC3E}">
        <p14:creationId xmlns:p14="http://schemas.microsoft.com/office/powerpoint/2010/main" val="33902119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endParaRPr lang="en-US" sz="1200" b="0" dirty="0" smtClean="0">
              <a:solidFill>
                <a:srgbClr val="FF0000"/>
              </a:solidFill>
            </a:endParaRPr>
          </a:p>
        </p:txBody>
      </p:sp>
      <p:sp>
        <p:nvSpPr>
          <p:cNvPr id="4" name="Date Placeholder 3"/>
          <p:cNvSpPr>
            <a:spLocks noGrp="1"/>
          </p:cNvSpPr>
          <p:nvPr>
            <p:ph type="dt" idx="1"/>
          </p:nvPr>
        </p:nvSpPr>
        <p:spPr/>
        <p:txBody>
          <a:bodyPr/>
          <a:lstStyle/>
          <a:p>
            <a:fld id="{1DF34805-1F01-4BDA-A8CA-FCEA2B4BC8D0}" type="datetime3">
              <a:rPr lang="en-US" smtClean="0"/>
              <a:pPr/>
              <a:t>25 July 2025</a:t>
            </a:fld>
            <a:endParaRPr lang="en-US" dirty="0"/>
          </a:p>
        </p:txBody>
      </p:sp>
      <p:sp>
        <p:nvSpPr>
          <p:cNvPr id="5" name="Slide Number Placeholder 4"/>
          <p:cNvSpPr>
            <a:spLocks noGrp="1"/>
          </p:cNvSpPr>
          <p:nvPr>
            <p:ph type="sldNum" sz="quarter" idx="5"/>
          </p:nvPr>
        </p:nvSpPr>
        <p:spPr/>
        <p:txBody>
          <a:bodyPr/>
          <a:lstStyle/>
          <a:p>
            <a:fld id="{CF5EBCF4-26FC-4F76-8DA1-52FDDC328D44}" type="slidenum">
              <a:rPr lang="en-US" smtClean="0"/>
              <a:pPr/>
              <a:t>11</a:t>
            </a:fld>
            <a:endParaRPr lang="en-US" dirty="0"/>
          </a:p>
        </p:txBody>
      </p:sp>
    </p:spTree>
    <p:extLst>
      <p:ext uri="{BB962C8B-B14F-4D97-AF65-F5344CB8AC3E}">
        <p14:creationId xmlns:p14="http://schemas.microsoft.com/office/powerpoint/2010/main" val="13630669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4923F0-ADC0-490A-9379-761BF1A89AB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04970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4923F0-ADC0-490A-9379-761BF1A89AB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262915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endParaRPr lang="en-US" sz="1200" b="0" dirty="0" smtClean="0">
              <a:solidFill>
                <a:srgbClr val="FF0000"/>
              </a:solidFill>
            </a:endParaRPr>
          </a:p>
        </p:txBody>
      </p:sp>
      <p:sp>
        <p:nvSpPr>
          <p:cNvPr id="4" name="Date Placeholder 3"/>
          <p:cNvSpPr>
            <a:spLocks noGrp="1"/>
          </p:cNvSpPr>
          <p:nvPr>
            <p:ph type="dt" idx="1"/>
          </p:nvPr>
        </p:nvSpPr>
        <p:spPr/>
        <p:txBody>
          <a:bodyPr/>
          <a:lstStyle/>
          <a:p>
            <a:fld id="{1DF34805-1F01-4BDA-A8CA-FCEA2B4BC8D0}" type="datetime3">
              <a:rPr lang="en-US" smtClean="0"/>
              <a:pPr/>
              <a:t>25 July 2025</a:t>
            </a:fld>
            <a:endParaRPr lang="en-US" dirty="0"/>
          </a:p>
        </p:txBody>
      </p:sp>
      <p:sp>
        <p:nvSpPr>
          <p:cNvPr id="5" name="Slide Number Placeholder 4"/>
          <p:cNvSpPr>
            <a:spLocks noGrp="1"/>
          </p:cNvSpPr>
          <p:nvPr>
            <p:ph type="sldNum" sz="quarter" idx="5"/>
          </p:nvPr>
        </p:nvSpPr>
        <p:spPr/>
        <p:txBody>
          <a:bodyPr/>
          <a:lstStyle/>
          <a:p>
            <a:fld id="{CF5EBCF4-26FC-4F76-8DA1-52FDDC328D44}" type="slidenum">
              <a:rPr lang="en-US" smtClean="0"/>
              <a:pPr/>
              <a:t>14</a:t>
            </a:fld>
            <a:endParaRPr lang="en-US" dirty="0"/>
          </a:p>
        </p:txBody>
      </p:sp>
    </p:spTree>
    <p:extLst>
      <p:ext uri="{BB962C8B-B14F-4D97-AF65-F5344CB8AC3E}">
        <p14:creationId xmlns:p14="http://schemas.microsoft.com/office/powerpoint/2010/main" val="88988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just">
              <a:buFontTx/>
              <a:buChar char="-"/>
            </a:pPr>
            <a:r>
              <a:rPr lang="en-US" sz="1200" b="0" smtClean="0">
                <a:solidFill>
                  <a:srgbClr val="FF0000"/>
                </a:solidFill>
              </a:rPr>
              <a:t>Box</a:t>
            </a:r>
            <a:r>
              <a:rPr lang="en-US" sz="1200" b="0" baseline="0" smtClean="0">
                <a:solidFill>
                  <a:srgbClr val="FF0000"/>
                </a:solidFill>
              </a:rPr>
              <a:t> 1: Quầy</a:t>
            </a:r>
          </a:p>
          <a:p>
            <a:pPr marL="171450" indent="-171450" algn="just">
              <a:buFontTx/>
              <a:buChar char="-"/>
            </a:pPr>
            <a:r>
              <a:rPr lang="en-US" sz="1200" b="0" baseline="0" smtClean="0">
                <a:solidFill>
                  <a:srgbClr val="FF0000"/>
                </a:solidFill>
              </a:rPr>
              <a:t>Box 6: ePayment</a:t>
            </a:r>
          </a:p>
          <a:p>
            <a:pPr marL="171450" indent="-171450" algn="just">
              <a:buFontTx/>
              <a:buChar char="-"/>
            </a:pPr>
            <a:r>
              <a:rPr lang="en-US" sz="1200" b="0" baseline="0" smtClean="0">
                <a:solidFill>
                  <a:srgbClr val="FF0000"/>
                </a:solidFill>
              </a:rPr>
              <a:t>Box 7: Core Service (T24 &amp; Way4)</a:t>
            </a:r>
            <a:endParaRPr lang="en-US" sz="1200" b="0" dirty="0" smtClean="0">
              <a:solidFill>
                <a:srgbClr val="FF0000"/>
              </a:solidFill>
            </a:endParaRPr>
          </a:p>
        </p:txBody>
      </p:sp>
      <p:sp>
        <p:nvSpPr>
          <p:cNvPr id="4" name="Date Placeholder 3"/>
          <p:cNvSpPr>
            <a:spLocks noGrp="1"/>
          </p:cNvSpPr>
          <p:nvPr>
            <p:ph type="dt" idx="1"/>
          </p:nvPr>
        </p:nvSpPr>
        <p:spPr/>
        <p:txBody>
          <a:bodyPr/>
          <a:lstStyle/>
          <a:p>
            <a:fld id="{1DF34805-1F01-4BDA-A8CA-FCEA2B4BC8D0}" type="datetime3">
              <a:rPr lang="en-US" smtClean="0"/>
              <a:pPr/>
              <a:t>25 July 2025</a:t>
            </a:fld>
            <a:endParaRPr lang="en-US" dirty="0"/>
          </a:p>
        </p:txBody>
      </p:sp>
      <p:sp>
        <p:nvSpPr>
          <p:cNvPr id="5" name="Slide Number Placeholder 4"/>
          <p:cNvSpPr>
            <a:spLocks noGrp="1"/>
          </p:cNvSpPr>
          <p:nvPr>
            <p:ph type="sldNum" sz="quarter" idx="5"/>
          </p:nvPr>
        </p:nvSpPr>
        <p:spPr/>
        <p:txBody>
          <a:bodyPr/>
          <a:lstStyle/>
          <a:p>
            <a:fld id="{CF5EBCF4-26FC-4F76-8DA1-52FDDC328D44}" type="slidenum">
              <a:rPr lang="en-US" smtClean="0"/>
              <a:pPr/>
              <a:t>15</a:t>
            </a:fld>
            <a:endParaRPr lang="en-US" dirty="0"/>
          </a:p>
        </p:txBody>
      </p:sp>
    </p:spTree>
    <p:extLst>
      <p:ext uri="{BB962C8B-B14F-4D97-AF65-F5344CB8AC3E}">
        <p14:creationId xmlns:p14="http://schemas.microsoft.com/office/powerpoint/2010/main" val="17861644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just">
              <a:buFontTx/>
              <a:buChar char="-"/>
            </a:pPr>
            <a:r>
              <a:rPr lang="en-US" sz="1200" b="0" smtClean="0">
                <a:solidFill>
                  <a:srgbClr val="FF0000"/>
                </a:solidFill>
              </a:rPr>
              <a:t>Box</a:t>
            </a:r>
            <a:r>
              <a:rPr lang="en-US" sz="1200" b="0" baseline="0" smtClean="0">
                <a:solidFill>
                  <a:srgbClr val="FF0000"/>
                </a:solidFill>
              </a:rPr>
              <a:t> 1: Quầy</a:t>
            </a:r>
          </a:p>
          <a:p>
            <a:pPr marL="171450" indent="-171450" algn="just">
              <a:buFontTx/>
              <a:buChar char="-"/>
            </a:pPr>
            <a:r>
              <a:rPr lang="en-US" sz="1200" b="0" baseline="0" smtClean="0">
                <a:solidFill>
                  <a:srgbClr val="FF0000"/>
                </a:solidFill>
              </a:rPr>
              <a:t>Box 6: ePayment</a:t>
            </a:r>
          </a:p>
          <a:p>
            <a:pPr marL="171450" indent="-171450" algn="just">
              <a:buFontTx/>
              <a:buChar char="-"/>
            </a:pPr>
            <a:r>
              <a:rPr lang="en-US" sz="1200" b="0" baseline="0" smtClean="0">
                <a:solidFill>
                  <a:srgbClr val="FF0000"/>
                </a:solidFill>
              </a:rPr>
              <a:t>Box 7: Core Service (T24 &amp; Way4)</a:t>
            </a:r>
            <a:endParaRPr lang="en-US" sz="1200" b="0" dirty="0" smtClean="0">
              <a:solidFill>
                <a:srgbClr val="FF0000"/>
              </a:solidFill>
            </a:endParaRPr>
          </a:p>
        </p:txBody>
      </p:sp>
      <p:sp>
        <p:nvSpPr>
          <p:cNvPr id="4" name="Date Placeholder 3"/>
          <p:cNvSpPr>
            <a:spLocks noGrp="1"/>
          </p:cNvSpPr>
          <p:nvPr>
            <p:ph type="dt" idx="1"/>
          </p:nvPr>
        </p:nvSpPr>
        <p:spPr/>
        <p:txBody>
          <a:bodyPr/>
          <a:lstStyle/>
          <a:p>
            <a:fld id="{1DF34805-1F01-4BDA-A8CA-FCEA2B4BC8D0}" type="datetime3">
              <a:rPr lang="en-US" smtClean="0"/>
              <a:pPr/>
              <a:t>25 July 2025</a:t>
            </a:fld>
            <a:endParaRPr lang="en-US" dirty="0"/>
          </a:p>
        </p:txBody>
      </p:sp>
      <p:sp>
        <p:nvSpPr>
          <p:cNvPr id="5" name="Slide Number Placeholder 4"/>
          <p:cNvSpPr>
            <a:spLocks noGrp="1"/>
          </p:cNvSpPr>
          <p:nvPr>
            <p:ph type="sldNum" sz="quarter" idx="5"/>
          </p:nvPr>
        </p:nvSpPr>
        <p:spPr/>
        <p:txBody>
          <a:bodyPr/>
          <a:lstStyle/>
          <a:p>
            <a:fld id="{CF5EBCF4-26FC-4F76-8DA1-52FDDC328D44}" type="slidenum">
              <a:rPr lang="en-US" smtClean="0"/>
              <a:pPr/>
              <a:t>16</a:t>
            </a:fld>
            <a:endParaRPr lang="en-US" dirty="0"/>
          </a:p>
        </p:txBody>
      </p:sp>
    </p:spTree>
    <p:extLst>
      <p:ext uri="{BB962C8B-B14F-4D97-AF65-F5344CB8AC3E}">
        <p14:creationId xmlns:p14="http://schemas.microsoft.com/office/powerpoint/2010/main" val="36688849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just">
              <a:buFontTx/>
              <a:buChar char="-"/>
            </a:pPr>
            <a:r>
              <a:rPr lang="en-US" sz="1200" b="0" smtClean="0">
                <a:solidFill>
                  <a:srgbClr val="FF0000"/>
                </a:solidFill>
              </a:rPr>
              <a:t>Box</a:t>
            </a:r>
            <a:r>
              <a:rPr lang="en-US" sz="1200" b="0" baseline="0" smtClean="0">
                <a:solidFill>
                  <a:srgbClr val="FF0000"/>
                </a:solidFill>
              </a:rPr>
              <a:t> 1: Quầy</a:t>
            </a:r>
          </a:p>
          <a:p>
            <a:pPr marL="171450" indent="-171450" algn="just">
              <a:buFontTx/>
              <a:buChar char="-"/>
            </a:pPr>
            <a:r>
              <a:rPr lang="en-US" sz="1200" b="0" baseline="0" smtClean="0">
                <a:solidFill>
                  <a:srgbClr val="FF0000"/>
                </a:solidFill>
              </a:rPr>
              <a:t>Box 6: ePayment</a:t>
            </a:r>
          </a:p>
          <a:p>
            <a:pPr marL="171450" indent="-171450" algn="just">
              <a:buFontTx/>
              <a:buChar char="-"/>
            </a:pPr>
            <a:r>
              <a:rPr lang="en-US" sz="1200" b="0" baseline="0" smtClean="0">
                <a:solidFill>
                  <a:srgbClr val="FF0000"/>
                </a:solidFill>
              </a:rPr>
              <a:t>Box 7: Core Service (T24 &amp; Way4)</a:t>
            </a:r>
            <a:endParaRPr lang="en-US" sz="1200" b="0" dirty="0" smtClean="0">
              <a:solidFill>
                <a:srgbClr val="FF0000"/>
              </a:solidFill>
            </a:endParaRPr>
          </a:p>
        </p:txBody>
      </p:sp>
      <p:sp>
        <p:nvSpPr>
          <p:cNvPr id="4" name="Date Placeholder 3"/>
          <p:cNvSpPr>
            <a:spLocks noGrp="1"/>
          </p:cNvSpPr>
          <p:nvPr>
            <p:ph type="dt" idx="1"/>
          </p:nvPr>
        </p:nvSpPr>
        <p:spPr/>
        <p:txBody>
          <a:bodyPr/>
          <a:lstStyle/>
          <a:p>
            <a:fld id="{1DF34805-1F01-4BDA-A8CA-FCEA2B4BC8D0}" type="datetime3">
              <a:rPr lang="en-US" smtClean="0"/>
              <a:pPr/>
              <a:t>25 July 2025</a:t>
            </a:fld>
            <a:endParaRPr lang="en-US" dirty="0"/>
          </a:p>
        </p:txBody>
      </p:sp>
      <p:sp>
        <p:nvSpPr>
          <p:cNvPr id="5" name="Slide Number Placeholder 4"/>
          <p:cNvSpPr>
            <a:spLocks noGrp="1"/>
          </p:cNvSpPr>
          <p:nvPr>
            <p:ph type="sldNum" sz="quarter" idx="5"/>
          </p:nvPr>
        </p:nvSpPr>
        <p:spPr/>
        <p:txBody>
          <a:bodyPr/>
          <a:lstStyle/>
          <a:p>
            <a:fld id="{CF5EBCF4-26FC-4F76-8DA1-52FDDC328D44}" type="slidenum">
              <a:rPr lang="en-US" smtClean="0"/>
              <a:pPr/>
              <a:t>17</a:t>
            </a:fld>
            <a:endParaRPr lang="en-US" dirty="0"/>
          </a:p>
        </p:txBody>
      </p:sp>
    </p:spTree>
    <p:extLst>
      <p:ext uri="{BB962C8B-B14F-4D97-AF65-F5344CB8AC3E}">
        <p14:creationId xmlns:p14="http://schemas.microsoft.com/office/powerpoint/2010/main" val="22569648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7.xml"/><Relationship Id="rId3" Type="http://schemas.openxmlformats.org/officeDocument/2006/relationships/tags" Target="../tags/tag2.xml"/><Relationship Id="rId7" Type="http://schemas.openxmlformats.org/officeDocument/2006/relationships/tags" Target="../tags/tag6.xml"/><Relationship Id="rId2" Type="http://schemas.openxmlformats.org/officeDocument/2006/relationships/tags" Target="../tags/tag1.xml"/><Relationship Id="rId1" Type="http://schemas.openxmlformats.org/officeDocument/2006/relationships/vmlDrawing" Target="../drawings/vmlDrawing1.vml"/><Relationship Id="rId6" Type="http://schemas.openxmlformats.org/officeDocument/2006/relationships/tags" Target="../tags/tag5.xml"/><Relationship Id="rId11" Type="http://schemas.openxmlformats.org/officeDocument/2006/relationships/image" Target="../media/image1.emf"/><Relationship Id="rId5" Type="http://schemas.openxmlformats.org/officeDocument/2006/relationships/tags" Target="../tags/tag4.xml"/><Relationship Id="rId10" Type="http://schemas.openxmlformats.org/officeDocument/2006/relationships/oleObject" Target="../embeddings/oleObject1.bin"/><Relationship Id="rId4" Type="http://schemas.openxmlformats.org/officeDocument/2006/relationships/tags" Target="../tags/tag3.xml"/><Relationship Id="rId9"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tags" Target="../tags/tag9.xml"/><Relationship Id="rId7" Type="http://schemas.openxmlformats.org/officeDocument/2006/relationships/oleObject" Target="../embeddings/oleObject2.bin"/><Relationship Id="rId2" Type="http://schemas.openxmlformats.org/officeDocument/2006/relationships/tags" Target="../tags/tag8.xml"/><Relationship Id="rId1" Type="http://schemas.openxmlformats.org/officeDocument/2006/relationships/vmlDrawing" Target="../drawings/vmlDrawing2.vml"/><Relationship Id="rId6" Type="http://schemas.openxmlformats.org/officeDocument/2006/relationships/slideMaster" Target="../slideMasters/slideMaster1.xml"/><Relationship Id="rId5" Type="http://schemas.openxmlformats.org/officeDocument/2006/relationships/tags" Target="../tags/tag11.xml"/><Relationship Id="rId10" Type="http://schemas.openxmlformats.org/officeDocument/2006/relationships/image" Target="../media/image33.svg"/><Relationship Id="rId4" Type="http://schemas.openxmlformats.org/officeDocument/2006/relationships/tags" Target="../tags/tag10.xml"/><Relationship Id="rId9"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A8C1237-8665-4241-9EA3-A4C5D685A8AD}"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25/7/2025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1934227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206102"/>
            <a:ext cx="10515600" cy="761307"/>
          </a:xfrm>
          <a:prstGeom prst="roundRect">
            <a:avLst>
              <a:gd name="adj" fmla="val 33826"/>
            </a:avLst>
          </a:prstGeom>
          <a:gradFill>
            <a:gsLst>
              <a:gs pos="100000">
                <a:srgbClr val="FF671F"/>
              </a:gs>
              <a:gs pos="0">
                <a:srgbClr val="FF00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kumimoji="0" lang="en-US" sz="3200" b="1" i="0" u="none" strike="noStrike" cap="none" spc="0" normalizeH="0" baseline="0">
                <a:ln>
                  <a:noFill/>
                </a:ln>
                <a:solidFill>
                  <a:prstClr val="white"/>
                </a:solidFill>
                <a:effectLst/>
                <a:uLnTx/>
                <a:uFillTx/>
                <a:latin typeface="Calibri" panose="020F0502020204030204" pitchFamily="34" charset="0"/>
                <a:ea typeface="+mn-ea"/>
                <a:cs typeface="Calibri" panose="020F0502020204030204" pitchFamily="34" charset="0"/>
              </a:defRPr>
            </a:lvl1pPr>
          </a:lstStyle>
          <a:p>
            <a:pPr marL="0" marR="0" lvl="0" indent="0" fontAlgn="auto">
              <a:lnSpc>
                <a:spcPct val="100000"/>
              </a:lnSpc>
              <a:spcBef>
                <a:spcPts val="0"/>
              </a:spcBef>
              <a:spcAft>
                <a:spcPts val="0"/>
              </a:spcAft>
              <a:buClrTx/>
              <a:buSzTx/>
              <a:buFontTx/>
              <a:tabLst/>
            </a:pPr>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C57E346-37CC-49E9-B8D8-CA6ED9DAA749}"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25/7/2025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/25</a:t>
            </a:r>
          </a:p>
        </p:txBody>
      </p:sp>
    </p:spTree>
    <p:extLst>
      <p:ext uri="{BB962C8B-B14F-4D97-AF65-F5344CB8AC3E}">
        <p14:creationId xmlns:p14="http://schemas.microsoft.com/office/powerpoint/2010/main" val="1674593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DF2DD53-6A61-4902-A020-25EFCCA5EBE8}"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25/7/2025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5445256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980661"/>
            <a:ext cx="5181600" cy="519630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980661"/>
            <a:ext cx="5181600" cy="51963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BB11843-7EBF-45A1-939C-F7878282CBC5}"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25/7/2025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994061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6"/>
            <a:ext cx="10515600" cy="628788"/>
          </a:xfrm>
        </p:spPr>
        <p:txBody>
          <a:bodyPr/>
          <a:lstStyle/>
          <a:p>
            <a:r>
              <a:rPr lang="en-US" dirty="0"/>
              <a:t>Click to edit Master title style</a:t>
            </a:r>
          </a:p>
        </p:txBody>
      </p:sp>
      <p:sp>
        <p:nvSpPr>
          <p:cNvPr id="3" name="Text Placeholder 2"/>
          <p:cNvSpPr>
            <a:spLocks noGrp="1"/>
          </p:cNvSpPr>
          <p:nvPr>
            <p:ph type="body" idx="1"/>
          </p:nvPr>
        </p:nvSpPr>
        <p:spPr>
          <a:xfrm>
            <a:off x="839788" y="1071559"/>
            <a:ext cx="5157787" cy="6572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1781792"/>
            <a:ext cx="5157787" cy="4407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071559"/>
            <a:ext cx="5183188" cy="6572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1781792"/>
            <a:ext cx="5183188" cy="4407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20B6A3F-4B5F-4E10-85D8-0D1FE4381868}"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25/7/2025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841512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7D29E6F-BCF7-4E92-BB84-EA10F4C31CC0}"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25/7/2025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6566366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F608346-1A23-4142-8C04-8BCB378159FD}"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25/7/2025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0832527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0C6B13C-E68C-4F5E-8E12-BE670B8FD657}"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25/7/2025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8948314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DF69BD9-1C37-487D-B2A3-7A8CAEFF93DE}"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25/7/2025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698675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9F51696-8AE9-47F5-BD9C-96F7080DA6A3}"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25/7/2025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0507632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1AD536A-5893-4A06-BA4F-531E680B03A1}"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25/7/2025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7981885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ingle Line Title +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31622" y="290302"/>
            <a:ext cx="10956007" cy="482139"/>
          </a:xfrm>
        </p:spPr>
        <p:txBody>
          <a:bodyPr/>
          <a:lstStyle>
            <a:lvl1pPr>
              <a:defRPr baseline="0">
                <a:solidFill>
                  <a:srgbClr val="008FD5"/>
                </a:solidFill>
              </a:defRPr>
            </a:lvl1pPr>
          </a:lstStyle>
          <a:p>
            <a:r>
              <a:rPr lang="en-US" dirty="0" smtClean="0"/>
              <a:t>Title – Calibri; 32 </a:t>
            </a:r>
            <a:r>
              <a:rPr lang="en-US" dirty="0" err="1" smtClean="0"/>
              <a:t>pt</a:t>
            </a:r>
            <a:r>
              <a:rPr lang="en-US" dirty="0" smtClean="0"/>
              <a:t>; Bold; Black; Emphasis = Blue </a:t>
            </a:r>
            <a:endParaRPr lang="en-US" dirty="0"/>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3071FF-E082-4897-9463-52F76F6855A4}" type="slidenum">
              <a:rPr kumimoji="0" lang="en-US" sz="1200" b="0" i="0" u="none" strike="noStrike" kern="1200" cap="none" spc="0" normalizeH="0" baseline="0" noProof="0" smtClean="0">
                <a:ln>
                  <a:noFill/>
                </a:ln>
                <a:solidFill>
                  <a:srgbClr val="000000">
                    <a:tint val="75000"/>
                  </a:srgb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
        <p:nvSpPr>
          <p:cNvPr id="10" name="Content Placeholder 8"/>
          <p:cNvSpPr>
            <a:spLocks noGrp="1"/>
          </p:cNvSpPr>
          <p:nvPr>
            <p:ph sz="quarter" idx="13"/>
          </p:nvPr>
        </p:nvSpPr>
        <p:spPr>
          <a:xfrm>
            <a:off x="631622" y="878683"/>
            <a:ext cx="10963932" cy="5373269"/>
          </a:xfrm>
        </p:spPr>
        <p:txBody>
          <a:bodyPr/>
          <a:lstStyle>
            <a:lvl1pPr marL="158661" indent="-158661">
              <a:buClr>
                <a:srgbClr val="0070C0"/>
              </a:buClr>
              <a:buFont typeface="Wingdings" pitchFamily="2" charset="2"/>
              <a:buChar char="§"/>
              <a:defRPr baseline="0"/>
            </a:lvl1pPr>
            <a:lvl2pPr marL="459281" indent="-300620">
              <a:buClr>
                <a:srgbClr val="00B0F0"/>
              </a:buClr>
              <a:buFont typeface="Arial" pitchFamily="34" charset="0"/>
              <a:buChar char="•"/>
              <a:defRPr/>
            </a:lvl2pPr>
            <a:lvl3pPr marL="569231" indent="-250517">
              <a:buClr>
                <a:srgbClr val="00B0F0"/>
              </a:buClr>
              <a:buFont typeface="Calibri" pitchFamily="34" charset="0"/>
              <a:buChar char="—"/>
              <a:defRPr/>
            </a:lvl3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533947654"/>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2"/>
            </p:custDataLs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8981" name="think-cell Slide" r:id="rId10" imgW="413" imgH="416" progId="TCLayout.ActiveDocument.1">
                  <p:embed/>
                </p:oleObj>
              </mc:Choice>
              <mc:Fallback>
                <p:oleObj name="think-cell Slide" r:id="rId10"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dirty="0">
              <a:solidFill>
                <a:schemeClr val="bg1"/>
              </a:solidFill>
              <a:latin typeface="Arial" panose="020B0604020202020204" pitchFamily="34" charset="0"/>
              <a:ea typeface="+mj-ea"/>
              <a:cs typeface="+mj-cs"/>
              <a:sym typeface="Arial" panose="020B0604020202020204" pitchFamily="34" charset="0"/>
            </a:endParaRP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4"/>
            </p:custDataLst>
          </p:nvPr>
        </p:nvSpPr>
        <p:spPr>
          <a:xfrm>
            <a:off x="554736" y="933538"/>
            <a:ext cx="11082528"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b="0" baseline="0" dirty="0"/>
            </a:lvl1pPr>
          </a:lstStyle>
          <a:p>
            <a:pPr lvl="0"/>
            <a:r>
              <a:rPr lang="en-US"/>
              <a:t>Click to edit Master subtitle style</a:t>
            </a:r>
            <a:endParaRPr lang="en-US" dirty="0"/>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b="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US" sz="900" b="0" dirty="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6"/>
            </p:custDataLst>
          </p:nvPr>
        </p:nvSpPr>
        <p:spPr>
          <a:xfrm>
            <a:off x="554735" y="6501669"/>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dirty="0"/>
              <a:t>Source: …</a:t>
            </a:r>
          </a:p>
        </p:txBody>
      </p:sp>
      <p:sp>
        <p:nvSpPr>
          <p:cNvPr id="11" name="1. On-page tracker">
            <a:extLst>
              <a:ext uri="{FF2B5EF4-FFF2-40B4-BE49-F238E27FC236}">
                <a16:creationId xmlns:a16="http://schemas.microsoft.com/office/drawing/2014/main" id="{C30AC055-11D5-4540-94E4-C3B7BE6EFD7D}"/>
              </a:ext>
            </a:extLst>
          </p:cNvPr>
          <p:cNvSpPr>
            <a:spLocks noGrp="1"/>
          </p:cNvSpPr>
          <p:nvPr>
            <p:ph type="body" sz="quarter" idx="10" hasCustomPrompt="1"/>
            <p:custDataLst>
              <p:tags r:id="rId7"/>
            </p:custDataLst>
          </p:nvPr>
        </p:nvSpPr>
        <p:spPr>
          <a:xfrm>
            <a:off x="554735"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800" b="0" dirty="0">
                <a:cs typeface="+mn-cs"/>
              </a:defRPr>
            </a:lvl1pPr>
          </a:lstStyle>
          <a:p>
            <a:pPr lvl="0">
              <a:buNone/>
            </a:pPr>
            <a:r>
              <a:rPr lang="en-US" dirty="0"/>
              <a:t>Add tracker</a:t>
            </a:r>
          </a:p>
        </p:txBody>
      </p:sp>
      <p:sp>
        <p:nvSpPr>
          <p:cNvPr id="10" name="2. Slide Title">
            <a:extLst>
              <a:ext uri="{FF2B5EF4-FFF2-40B4-BE49-F238E27FC236}">
                <a16:creationId xmlns:a16="http://schemas.microsoft.com/office/drawing/2014/main" id="{8326FFD0-8389-4032-AAB8-00C262CAF746}"/>
              </a:ext>
            </a:extLst>
          </p:cNvPr>
          <p:cNvSpPr>
            <a:spLocks noGrp="1"/>
          </p:cNvSpPr>
          <p:nvPr>
            <p:ph type="title"/>
            <p:custDataLst>
              <p:tags r:id="rId8"/>
            </p:custDataLst>
          </p:nvPr>
        </p:nvSpPr>
        <p:spPr>
          <a:xfrm>
            <a:off x="554736" y="345611"/>
            <a:ext cx="11082528" cy="3847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ctr" anchorCtr="0">
            <a:spAutoFit/>
          </a:bodyPr>
          <a:lstStyle>
            <a:lvl1pPr>
              <a:defRPr lang="en-US" dirty="0"/>
            </a:lvl1pPr>
          </a:lstStyle>
          <a:p>
            <a:pPr lvl="0"/>
            <a:r>
              <a:rPr lang="en-US"/>
              <a:t>Click to edit Master title style</a:t>
            </a:r>
            <a:endParaRPr lang="en-US" dirty="0"/>
          </a:p>
        </p:txBody>
      </p:sp>
    </p:spTree>
    <p:extLst>
      <p:ext uri="{BB962C8B-B14F-4D97-AF65-F5344CB8AC3E}">
        <p14:creationId xmlns:p14="http://schemas.microsoft.com/office/powerpoint/2010/main" val="42765177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1_Custom">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20E9A7C-FB74-480B-8212-8CE5C1AF5D1B}"/>
              </a:ext>
            </a:extLst>
          </p:cNvPr>
          <p:cNvGraphicFramePr>
            <a:graphicFrameLocks noChangeAspect="1"/>
          </p:cNvGraphicFramePr>
          <p:nvPr userDrawn="1">
            <p:custDataLst>
              <p:tags r:id="rId2"/>
            </p:custDataLs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3238" name="think-cell Slide" r:id="rId7" imgW="592" imgH="591" progId="TCLayout.ActiveDocument.1">
                  <p:embed/>
                </p:oleObj>
              </mc:Choice>
              <mc:Fallback>
                <p:oleObj name="think-cell Slide" r:id="rId7" imgW="592" imgH="591" progId="TCLayout.ActiveDocument.1">
                  <p:embed/>
                  <p:pic>
                    <p:nvPicPr>
                      <p:cNvPr id="2" name="Object 1" hidden="1">
                        <a:extLst>
                          <a:ext uri="{FF2B5EF4-FFF2-40B4-BE49-F238E27FC236}">
                            <a16:creationId xmlns:a16="http://schemas.microsoft.com/office/drawing/2014/main" id="{220E9A7C-FB74-480B-8212-8CE5C1AF5D1B}"/>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9" name="Slide Number">
            <a:extLst>
              <a:ext uri="{FF2B5EF4-FFF2-40B4-BE49-F238E27FC236}">
                <a16:creationId xmlns:a16="http://schemas.microsoft.com/office/drawing/2014/main" id="{6982A9EE-ED1D-4D7E-84CA-3C36D0891D68}"/>
              </a:ext>
            </a:extLst>
          </p:cNvPr>
          <p:cNvSpPr>
            <a:spLocks noChangeArrowheads="1"/>
          </p:cNvSpPr>
          <p:nvPr userDrawn="1">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srgbClr val="000000"/>
              </a:solidFill>
              <a:effectLst/>
              <a:uLnTx/>
              <a:uFillTx/>
              <a:latin typeface="Arial"/>
              <a:ea typeface="+mn-ea"/>
              <a:cs typeface="Arial" panose="020B0604020202020204" pitchFamily="34" charset="0"/>
            </a:endParaRPr>
          </a:p>
        </p:txBody>
      </p:sp>
      <p:sp>
        <p:nvSpPr>
          <p:cNvPr id="7" name="5. Source" hidden="1">
            <a:extLst>
              <a:ext uri="{FF2B5EF4-FFF2-40B4-BE49-F238E27FC236}">
                <a16:creationId xmlns:a16="http://schemas.microsoft.com/office/drawing/2014/main" id="{09F9A864-CDB7-4063-BBF8-591908AA18D0}"/>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dirty="0">
                <a:ln>
                  <a:noFill/>
                </a:ln>
                <a:solidFill>
                  <a:srgbClr val="000000"/>
                </a:solidFill>
                <a:effectLst/>
                <a:uLnTx/>
                <a:uFillTx/>
                <a:latin typeface="Arial"/>
                <a:ea typeface="+mn-ea"/>
                <a:cs typeface="Arial" panose="020B0604020202020204" pitchFamily="34" charset="0"/>
              </a:rPr>
              <a:t>Source: …</a:t>
            </a:r>
          </a:p>
        </p:txBody>
      </p:sp>
      <p:sp>
        <p:nvSpPr>
          <p:cNvPr id="8" name="1. On-page tracker">
            <a:extLst>
              <a:ext uri="{FF2B5EF4-FFF2-40B4-BE49-F238E27FC236}">
                <a16:creationId xmlns:a16="http://schemas.microsoft.com/office/drawing/2014/main" id="{BD5E1493-E8EF-4031-B447-85DA0B418111}"/>
              </a:ext>
            </a:extLst>
          </p:cNvPr>
          <p:cNvSpPr>
            <a:spLocks noGrp="1"/>
          </p:cNvSpPr>
          <p:nvPr>
            <p:ph type="body" sz="quarter" idx="10" hasCustomPrompt="1"/>
            <p:custDataLst>
              <p:tags r:id="rId5"/>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dirty="0"/>
              <a:t>Add tracker</a:t>
            </a:r>
          </a:p>
        </p:txBody>
      </p:sp>
      <p:pic>
        <p:nvPicPr>
          <p:cNvPr id="6" name="Graphic 5">
            <a:extLst>
              <a:ext uri="{FF2B5EF4-FFF2-40B4-BE49-F238E27FC236}">
                <a16:creationId xmlns:a16="http://schemas.microsoft.com/office/drawing/2014/main" id="{1C166C02-2E97-4226-9F01-88326758F090}"/>
              </a:ext>
            </a:extLst>
          </p:cNvPr>
          <p:cNvPicPr>
            <a:picLocks noChangeAspect="1"/>
          </p:cNvPicPr>
          <p:nvPr userDrawn="1"/>
        </p:nvPicPr>
        <p:blipFill>
          <a:blip r:embed="rId9" cstate="email">
            <a:lum/>
            <a:extLst>
              <a:ext uri="{28A0092B-C50C-407E-A947-70E740481C1C}">
                <a14:useLocalDpi xmlns:a14="http://schemas.microsoft.com/office/drawing/2010/main"/>
              </a:ext>
              <a:ext uri="{96DAC541-7B7A-43D3-8B79-37D633B846F1}">
                <asvg:svgBlip xmlns:asvg="http://schemas.microsoft.com/office/drawing/2016/SVG/main" xmlns="" r:embed="rId10"/>
              </a:ext>
            </a:extLst>
          </a:blip>
          <a:stretch>
            <a:fillRect/>
          </a:stretch>
        </p:blipFill>
        <p:spPr bwMode="ltGray">
          <a:xfrm>
            <a:off x="10157063" y="6385178"/>
            <a:ext cx="1127390" cy="247778"/>
          </a:xfrm>
          <a:prstGeom prst="rect">
            <a:avLst/>
          </a:prstGeom>
        </p:spPr>
      </p:pic>
    </p:spTree>
    <p:extLst>
      <p:ext uri="{BB962C8B-B14F-4D97-AF65-F5344CB8AC3E}">
        <p14:creationId xmlns:p14="http://schemas.microsoft.com/office/powerpoint/2010/main" val="35750377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206102"/>
            <a:ext cx="10515600" cy="761307"/>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967409"/>
            <a:ext cx="10515600" cy="520955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A66DFC8-27C6-4D33-AC17-4831216A6D22}"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25/7/2025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/25</a:t>
            </a:r>
          </a:p>
        </p:txBody>
      </p:sp>
      <p:graphicFrame>
        <p:nvGraphicFramePr>
          <p:cNvPr id="7" name="Table 6"/>
          <p:cNvGraphicFramePr>
            <a:graphicFrameLocks noGrp="1"/>
          </p:cNvGraphicFramePr>
          <p:nvPr userDrawn="1">
            <p:extLst/>
          </p:nvPr>
        </p:nvGraphicFramePr>
        <p:xfrm>
          <a:off x="-1524000" y="1371601"/>
          <a:ext cx="1057276" cy="5356658"/>
        </p:xfrm>
        <a:graphic>
          <a:graphicData uri="http://schemas.openxmlformats.org/drawingml/2006/table">
            <a:tbl>
              <a:tblPr firstRow="1" bandRow="1">
                <a:tableStyleId>{D7AC3CCA-C797-4891-BE02-D94E43425B78}</a:tableStyleId>
              </a:tblPr>
              <a:tblGrid>
                <a:gridCol w="653589">
                  <a:extLst>
                    <a:ext uri="{9D8B030D-6E8A-4147-A177-3AD203B41FA5}">
                      <a16:colId xmlns:a16="http://schemas.microsoft.com/office/drawing/2014/main" val="20000"/>
                    </a:ext>
                  </a:extLst>
                </a:gridCol>
                <a:gridCol w="403687">
                  <a:extLst>
                    <a:ext uri="{9D8B030D-6E8A-4147-A177-3AD203B41FA5}">
                      <a16:colId xmlns:a16="http://schemas.microsoft.com/office/drawing/2014/main" val="20001"/>
                    </a:ext>
                  </a:extLst>
                </a:gridCol>
              </a:tblGrid>
              <a:tr h="269815">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AU" sz="800" b="1" dirty="0">
                          <a:solidFill>
                            <a:schemeClr val="tx1"/>
                          </a:solidFill>
                        </a:rPr>
                        <a:t>This is only</a:t>
                      </a:r>
                      <a:r>
                        <a:rPr lang="en-AU" sz="800" b="1" baseline="0" dirty="0">
                          <a:solidFill>
                            <a:schemeClr val="tx1"/>
                          </a:solidFill>
                        </a:rPr>
                        <a:t> an aid. It will not print</a:t>
                      </a:r>
                      <a:endParaRPr lang="en-AU" sz="800" b="1" dirty="0">
                        <a:solidFill>
                          <a:schemeClr val="tx1"/>
                        </a:solidFill>
                      </a:endParaRPr>
                    </a:p>
                  </a:txBody>
                  <a:tcPr marL="33344" marR="33344" marT="32652" marB="32652" anchor="b">
                    <a:lnL w="12700" cmpd="sng">
                      <a:noFill/>
                    </a:lnL>
                    <a:lnR w="12700" cmpd="sng">
                      <a:noFill/>
                    </a:lnR>
                    <a:lnT w="19050"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AU" sz="700" b="0" dirty="0">
                        <a:solidFill>
                          <a:schemeClr val="tx2"/>
                        </a:solidFill>
                      </a:endParaRPr>
                    </a:p>
                  </a:txBody>
                  <a:tcPr marL="33344" marR="33344" marT="32652" marB="32652">
                    <a:lnL w="12700" cmpd="sng">
                      <a:noFill/>
                    </a:lnL>
                    <a:lnR w="12700" cmpd="sng">
                      <a:noFill/>
                    </a:lnR>
                    <a:lnT w="190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559593">
                <a:tc>
                  <a:txBody>
                    <a:bodyPr/>
                    <a:lstStyle/>
                    <a:p>
                      <a:r>
                        <a:rPr lang="en-AU" sz="700" b="1" dirty="0">
                          <a:solidFill>
                            <a:schemeClr val="tx2"/>
                          </a:solidFill>
                        </a:rPr>
                        <a:t>Dark Orange</a:t>
                      </a:r>
                    </a:p>
                    <a:p>
                      <a:r>
                        <a:rPr lang="en-AU" sz="700" b="0" dirty="0">
                          <a:solidFill>
                            <a:schemeClr val="tx2"/>
                          </a:solidFill>
                        </a:rPr>
                        <a:t>R     230</a:t>
                      </a:r>
                    </a:p>
                    <a:p>
                      <a:r>
                        <a:rPr lang="en-AU" sz="700" b="0" dirty="0">
                          <a:solidFill>
                            <a:schemeClr val="tx2"/>
                          </a:solidFill>
                        </a:rPr>
                        <a:t>G     112</a:t>
                      </a:r>
                    </a:p>
                    <a:p>
                      <a:r>
                        <a:rPr lang="en-AU" sz="700" b="0" dirty="0">
                          <a:solidFill>
                            <a:schemeClr val="tx2"/>
                          </a:solidFill>
                        </a:rPr>
                        <a:t>B</a:t>
                      </a:r>
                      <a:r>
                        <a:rPr lang="en-AU" sz="700" b="0" baseline="0" dirty="0">
                          <a:solidFill>
                            <a:schemeClr val="tx2"/>
                          </a:solidFill>
                        </a:rPr>
                        <a:t>     21</a:t>
                      </a:r>
                      <a:endParaRPr lang="en-AU" sz="700" b="0" dirty="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AU" sz="700" b="0" dirty="0">
                        <a:solidFill>
                          <a:srgbClr val="E67015"/>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7015"/>
                    </a:solidFill>
                  </a:tcPr>
                </a:tc>
                <a:extLst>
                  <a:ext uri="{0D108BD9-81ED-4DB2-BD59-A6C34878D82A}">
                    <a16:rowId xmlns:a16="http://schemas.microsoft.com/office/drawing/2014/main" val="10001"/>
                  </a:ext>
                </a:extLst>
              </a:tr>
              <a:tr h="559593">
                <a:tc>
                  <a:txBody>
                    <a:bodyPr/>
                    <a:lstStyle/>
                    <a:p>
                      <a:r>
                        <a:rPr lang="en-AU" sz="700" b="1" dirty="0">
                          <a:solidFill>
                            <a:schemeClr val="tx2"/>
                          </a:solidFill>
                        </a:rPr>
                        <a:t>Mid Orange</a:t>
                      </a:r>
                    </a:p>
                    <a:p>
                      <a:r>
                        <a:rPr lang="en-AU" sz="700" b="0" dirty="0">
                          <a:solidFill>
                            <a:schemeClr val="tx2"/>
                          </a:solidFill>
                        </a:rPr>
                        <a:t>R     235</a:t>
                      </a:r>
                    </a:p>
                    <a:p>
                      <a:r>
                        <a:rPr lang="en-AU" sz="700" b="0" dirty="0">
                          <a:solidFill>
                            <a:schemeClr val="tx2"/>
                          </a:solidFill>
                        </a:rPr>
                        <a:t>G     137</a:t>
                      </a:r>
                    </a:p>
                    <a:p>
                      <a:r>
                        <a:rPr lang="en-AU" sz="700" b="0" dirty="0">
                          <a:solidFill>
                            <a:schemeClr val="tx2"/>
                          </a:solidFill>
                        </a:rPr>
                        <a:t>B</a:t>
                      </a:r>
                      <a:r>
                        <a:rPr lang="en-AU" sz="700" b="0" baseline="0" dirty="0">
                          <a:solidFill>
                            <a:schemeClr val="tx2"/>
                          </a:solidFill>
                        </a:rPr>
                        <a:t>     27</a:t>
                      </a:r>
                      <a:endParaRPr lang="en-AU" sz="700" b="0" dirty="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AU" sz="700" b="0" dirty="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B891B"/>
                    </a:solidFill>
                  </a:tcPr>
                </a:tc>
                <a:extLst>
                  <a:ext uri="{0D108BD9-81ED-4DB2-BD59-A6C34878D82A}">
                    <a16:rowId xmlns:a16="http://schemas.microsoft.com/office/drawing/2014/main" val="10002"/>
                  </a:ext>
                </a:extLst>
              </a:tr>
              <a:tr h="570770">
                <a:tc>
                  <a:txBody>
                    <a:bodyPr/>
                    <a:lstStyle/>
                    <a:p>
                      <a:r>
                        <a:rPr lang="en-AU" sz="700" b="1" dirty="0">
                          <a:solidFill>
                            <a:schemeClr val="tx2"/>
                          </a:solidFill>
                        </a:rPr>
                        <a:t>Light</a:t>
                      </a:r>
                      <a:r>
                        <a:rPr lang="en-AU" sz="700" b="1" baseline="0" dirty="0">
                          <a:solidFill>
                            <a:schemeClr val="tx2"/>
                          </a:solidFill>
                        </a:rPr>
                        <a:t> </a:t>
                      </a:r>
                      <a:r>
                        <a:rPr lang="en-AU" sz="700" b="1" dirty="0">
                          <a:solidFill>
                            <a:schemeClr val="tx2"/>
                          </a:solidFill>
                        </a:rPr>
                        <a:t>Orange</a:t>
                      </a:r>
                    </a:p>
                    <a:p>
                      <a:r>
                        <a:rPr lang="en-AU" sz="700" b="0" dirty="0">
                          <a:solidFill>
                            <a:schemeClr val="tx2"/>
                          </a:solidFill>
                        </a:rPr>
                        <a:t>R     243</a:t>
                      </a:r>
                    </a:p>
                    <a:p>
                      <a:pPr marL="268288" indent="-268288"/>
                      <a:r>
                        <a:rPr lang="en-AU" sz="700" b="0" dirty="0">
                          <a:solidFill>
                            <a:schemeClr val="tx2"/>
                          </a:solidFill>
                        </a:rPr>
                        <a:t>G     174</a:t>
                      </a:r>
                    </a:p>
                    <a:p>
                      <a:r>
                        <a:rPr lang="en-AU" sz="700" b="0" dirty="0">
                          <a:solidFill>
                            <a:schemeClr val="tx2"/>
                          </a:solidFill>
                        </a:rPr>
                        <a:t>B</a:t>
                      </a:r>
                      <a:r>
                        <a:rPr lang="en-AU" sz="700" b="0" baseline="0" dirty="0">
                          <a:solidFill>
                            <a:schemeClr val="tx2"/>
                          </a:solidFill>
                        </a:rPr>
                        <a:t>     0</a:t>
                      </a:r>
                      <a:endParaRPr lang="en-AU" sz="700" b="0" dirty="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AU" sz="700" b="0" dirty="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3AE00"/>
                    </a:solidFill>
                  </a:tcPr>
                </a:tc>
                <a:extLst>
                  <a:ext uri="{0D108BD9-81ED-4DB2-BD59-A6C34878D82A}">
                    <a16:rowId xmlns:a16="http://schemas.microsoft.com/office/drawing/2014/main" val="10003"/>
                  </a:ext>
                </a:extLst>
              </a:tr>
              <a:tr h="559593">
                <a:tc>
                  <a:txBody>
                    <a:bodyPr/>
                    <a:lstStyle/>
                    <a:p>
                      <a:r>
                        <a:rPr lang="en-AU" sz="700" b="1" dirty="0">
                          <a:solidFill>
                            <a:schemeClr val="tx2"/>
                          </a:solidFill>
                        </a:rPr>
                        <a:t>Black</a:t>
                      </a:r>
                    </a:p>
                    <a:p>
                      <a:r>
                        <a:rPr lang="en-AU" sz="700" b="0" dirty="0">
                          <a:solidFill>
                            <a:schemeClr val="tx2"/>
                          </a:solidFill>
                        </a:rPr>
                        <a:t>R</a:t>
                      </a:r>
                      <a:r>
                        <a:rPr lang="en-AU" sz="700" b="0" baseline="0" dirty="0">
                          <a:solidFill>
                            <a:schemeClr val="tx2"/>
                          </a:solidFill>
                        </a:rPr>
                        <a:t>     0</a:t>
                      </a:r>
                      <a:endParaRPr lang="en-AU" sz="700" b="0" dirty="0">
                        <a:solidFill>
                          <a:schemeClr val="tx2"/>
                        </a:solidFill>
                      </a:endParaRPr>
                    </a:p>
                    <a:p>
                      <a:r>
                        <a:rPr lang="en-AU" sz="700" b="0" dirty="0">
                          <a:solidFill>
                            <a:schemeClr val="tx2"/>
                          </a:solidFill>
                        </a:rPr>
                        <a:t>G     0</a:t>
                      </a:r>
                    </a:p>
                    <a:p>
                      <a:r>
                        <a:rPr lang="en-AU" sz="700" b="0" dirty="0">
                          <a:solidFill>
                            <a:schemeClr val="tx2"/>
                          </a:solidFill>
                        </a:rPr>
                        <a:t>B</a:t>
                      </a:r>
                      <a:r>
                        <a:rPr lang="en-AU" sz="700" b="0" baseline="0" dirty="0">
                          <a:solidFill>
                            <a:schemeClr val="tx2"/>
                          </a:solidFill>
                        </a:rPr>
                        <a:t>     0</a:t>
                      </a:r>
                      <a:endParaRPr lang="en-AU" sz="700" b="0" dirty="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AU" sz="700" b="0" dirty="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4"/>
                  </a:ext>
                </a:extLst>
              </a:tr>
              <a:tr h="559593">
                <a:tc>
                  <a:txBody>
                    <a:bodyPr/>
                    <a:lstStyle/>
                    <a:p>
                      <a:r>
                        <a:rPr lang="en-AU" sz="700" b="1" dirty="0">
                          <a:solidFill>
                            <a:schemeClr val="tx2"/>
                          </a:solidFill>
                        </a:rPr>
                        <a:t>Grey</a:t>
                      </a:r>
                    </a:p>
                    <a:p>
                      <a:r>
                        <a:rPr lang="en-AU" sz="700" b="0" dirty="0">
                          <a:solidFill>
                            <a:schemeClr val="tx2"/>
                          </a:solidFill>
                        </a:rPr>
                        <a:t>R     166</a:t>
                      </a:r>
                    </a:p>
                    <a:p>
                      <a:r>
                        <a:rPr lang="en-AU" sz="700" b="0" dirty="0">
                          <a:solidFill>
                            <a:schemeClr val="tx2"/>
                          </a:solidFill>
                        </a:rPr>
                        <a:t>G     166</a:t>
                      </a:r>
                    </a:p>
                    <a:p>
                      <a:r>
                        <a:rPr lang="en-AU" sz="700" b="0" dirty="0">
                          <a:solidFill>
                            <a:schemeClr val="tx2"/>
                          </a:solidFill>
                        </a:rPr>
                        <a:t>B</a:t>
                      </a:r>
                      <a:r>
                        <a:rPr lang="en-AU" sz="700" b="0" baseline="0" dirty="0">
                          <a:solidFill>
                            <a:schemeClr val="tx2"/>
                          </a:solidFill>
                        </a:rPr>
                        <a:t>     166</a:t>
                      </a:r>
                      <a:endParaRPr lang="en-AU" sz="700" b="0" dirty="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AU" sz="700" b="0" dirty="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A6A6A6"/>
                    </a:solidFill>
                  </a:tcPr>
                </a:tc>
                <a:extLst>
                  <a:ext uri="{0D108BD9-81ED-4DB2-BD59-A6C34878D82A}">
                    <a16:rowId xmlns:a16="http://schemas.microsoft.com/office/drawing/2014/main" val="10005"/>
                  </a:ext>
                </a:extLst>
              </a:tr>
              <a:tr h="559593">
                <a:tc>
                  <a:txBody>
                    <a:bodyPr/>
                    <a:lstStyle/>
                    <a:p>
                      <a:r>
                        <a:rPr lang="en-AU" sz="700" b="1" dirty="0">
                          <a:solidFill>
                            <a:schemeClr val="tx2"/>
                          </a:solidFill>
                        </a:rPr>
                        <a:t>Mid Grey</a:t>
                      </a:r>
                    </a:p>
                    <a:p>
                      <a:r>
                        <a:rPr lang="en-AU" sz="700" b="0" dirty="0">
                          <a:solidFill>
                            <a:schemeClr val="tx2"/>
                          </a:solidFill>
                        </a:rPr>
                        <a:t>R     191</a:t>
                      </a:r>
                    </a:p>
                    <a:p>
                      <a:r>
                        <a:rPr lang="en-AU" sz="700" b="0" dirty="0">
                          <a:solidFill>
                            <a:schemeClr val="tx2"/>
                          </a:solidFill>
                        </a:rPr>
                        <a:t>G     191</a:t>
                      </a:r>
                    </a:p>
                    <a:p>
                      <a:r>
                        <a:rPr lang="en-AU" sz="700" b="0" dirty="0">
                          <a:solidFill>
                            <a:schemeClr val="tx2"/>
                          </a:solidFill>
                        </a:rPr>
                        <a:t>B</a:t>
                      </a:r>
                      <a:r>
                        <a:rPr lang="en-AU" sz="700" b="0" baseline="0" dirty="0">
                          <a:solidFill>
                            <a:schemeClr val="tx2"/>
                          </a:solidFill>
                        </a:rPr>
                        <a:t>     191</a:t>
                      </a:r>
                      <a:endParaRPr lang="en-AU" sz="700" b="0" dirty="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AU" sz="700" b="0" dirty="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BFBFBF"/>
                    </a:solidFill>
                  </a:tcPr>
                </a:tc>
                <a:extLst>
                  <a:ext uri="{0D108BD9-81ED-4DB2-BD59-A6C34878D82A}">
                    <a16:rowId xmlns:a16="http://schemas.microsoft.com/office/drawing/2014/main" val="10006"/>
                  </a:ext>
                </a:extLst>
              </a:tr>
              <a:tr h="559593">
                <a:tc>
                  <a:txBody>
                    <a:bodyPr/>
                    <a:lstStyle/>
                    <a:p>
                      <a:r>
                        <a:rPr lang="en-AU" sz="700" b="1" dirty="0">
                          <a:solidFill>
                            <a:schemeClr val="tx2"/>
                          </a:solidFill>
                        </a:rPr>
                        <a:t>Blue</a:t>
                      </a:r>
                    </a:p>
                    <a:p>
                      <a:r>
                        <a:rPr lang="en-AU" sz="700" b="0" dirty="0">
                          <a:solidFill>
                            <a:schemeClr val="tx2"/>
                          </a:solidFill>
                        </a:rPr>
                        <a:t>R     0</a:t>
                      </a:r>
                    </a:p>
                    <a:p>
                      <a:r>
                        <a:rPr lang="en-AU" sz="700" b="0" dirty="0">
                          <a:solidFill>
                            <a:schemeClr val="tx2"/>
                          </a:solidFill>
                        </a:rPr>
                        <a:t>G     81</a:t>
                      </a:r>
                    </a:p>
                    <a:p>
                      <a:r>
                        <a:rPr lang="en-AU" sz="700" b="0" dirty="0">
                          <a:solidFill>
                            <a:schemeClr val="tx2"/>
                          </a:solidFill>
                        </a:rPr>
                        <a:t>B</a:t>
                      </a:r>
                      <a:r>
                        <a:rPr lang="en-AU" sz="700" b="0" baseline="0" dirty="0">
                          <a:solidFill>
                            <a:schemeClr val="tx2"/>
                          </a:solidFill>
                        </a:rPr>
                        <a:t>     151</a:t>
                      </a:r>
                      <a:endParaRPr lang="en-AU" sz="700" b="0" dirty="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AU" sz="700" b="0" dirty="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005197"/>
                    </a:solidFill>
                  </a:tcPr>
                </a:tc>
                <a:extLst>
                  <a:ext uri="{0D108BD9-81ED-4DB2-BD59-A6C34878D82A}">
                    <a16:rowId xmlns:a16="http://schemas.microsoft.com/office/drawing/2014/main" val="10007"/>
                  </a:ext>
                </a:extLst>
              </a:tr>
              <a:tr h="559593">
                <a:tc>
                  <a:txBody>
                    <a:bodyPr/>
                    <a:lstStyle/>
                    <a:p>
                      <a:r>
                        <a:rPr lang="en-AU" sz="700" b="1" dirty="0">
                          <a:solidFill>
                            <a:schemeClr val="tx2"/>
                          </a:solidFill>
                        </a:rPr>
                        <a:t>Sky</a:t>
                      </a:r>
                      <a:r>
                        <a:rPr lang="en-AU" sz="700" b="1" baseline="0" dirty="0">
                          <a:solidFill>
                            <a:schemeClr val="tx2"/>
                          </a:solidFill>
                        </a:rPr>
                        <a:t> Blue</a:t>
                      </a:r>
                      <a:endParaRPr lang="en-AU" sz="700" b="1" dirty="0">
                        <a:solidFill>
                          <a:schemeClr val="tx2"/>
                        </a:solidFill>
                      </a:endParaRPr>
                    </a:p>
                    <a:p>
                      <a:r>
                        <a:rPr lang="en-AU" sz="700" b="0" dirty="0">
                          <a:solidFill>
                            <a:schemeClr val="tx2"/>
                          </a:solidFill>
                        </a:rPr>
                        <a:t>R     0</a:t>
                      </a:r>
                    </a:p>
                    <a:p>
                      <a:r>
                        <a:rPr lang="en-AU" sz="700" b="0" dirty="0">
                          <a:solidFill>
                            <a:schemeClr val="tx2"/>
                          </a:solidFill>
                        </a:rPr>
                        <a:t>G     174</a:t>
                      </a:r>
                    </a:p>
                    <a:p>
                      <a:r>
                        <a:rPr lang="en-AU" sz="700" b="0" dirty="0">
                          <a:solidFill>
                            <a:schemeClr val="tx2"/>
                          </a:solidFill>
                        </a:rPr>
                        <a:t>B</a:t>
                      </a:r>
                      <a:r>
                        <a:rPr lang="en-AU" sz="700" b="0" baseline="0" dirty="0">
                          <a:solidFill>
                            <a:schemeClr val="tx2"/>
                          </a:solidFill>
                        </a:rPr>
                        <a:t>     239</a:t>
                      </a:r>
                      <a:endParaRPr lang="en-AU" sz="700" b="0" dirty="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AU" sz="700" b="0" dirty="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00AEEF"/>
                    </a:solidFill>
                  </a:tcPr>
                </a:tc>
                <a:extLst>
                  <a:ext uri="{0D108BD9-81ED-4DB2-BD59-A6C34878D82A}">
                    <a16:rowId xmlns:a16="http://schemas.microsoft.com/office/drawing/2014/main" val="10008"/>
                  </a:ext>
                </a:extLst>
              </a:tr>
              <a:tr h="559593">
                <a:tc gridSpan="2">
                  <a:txBody>
                    <a:bodyPr/>
                    <a:lstStyle/>
                    <a:p>
                      <a:pPr algn="ctr"/>
                      <a:endParaRPr lang="en-AU" sz="700" b="0" dirty="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AU" sz="700" b="0" dirty="0">
                        <a:solidFill>
                          <a:schemeClr val="tx2"/>
                        </a:solidFill>
                      </a:endParaRPr>
                    </a:p>
                  </a:txBody>
                  <a:tcPr marL="33344" marR="33344" marT="32652" marB="32652">
                    <a:lnL w="12700" cmpd="sng">
                      <a:noFill/>
                    </a:lnL>
                    <a:lnR w="12700" cmpd="sng">
                      <a:noFill/>
                    </a:lnR>
                    <a:lnT w="6350" cap="flat" cmpd="sng" algn="ctr">
                      <a:solidFill>
                        <a:schemeClr val="tx1"/>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8425962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4" r:id="rId13"/>
    <p:sldLayoutId id="2147483675"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2.xml"/><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3.xml"/><Relationship Id="rId7" Type="http://schemas.openxmlformats.org/officeDocument/2006/relationships/image" Target="../media/image7.jpg"/><Relationship Id="rId2" Type="http://schemas.openxmlformats.org/officeDocument/2006/relationships/tags" Target="../tags/tag12.xml"/><Relationship Id="rId1" Type="http://schemas.openxmlformats.org/officeDocument/2006/relationships/vmlDrawing" Target="../drawings/vmlDrawing3.vml"/><Relationship Id="rId6" Type="http://schemas.openxmlformats.org/officeDocument/2006/relationships/image" Target="../media/image6.emf"/><Relationship Id="rId5" Type="http://schemas.openxmlformats.org/officeDocument/2006/relationships/oleObject" Target="../embeddings/oleObject3.bin"/><Relationship Id="rId4"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3.xml"/><Relationship Id="rId7" Type="http://schemas.openxmlformats.org/officeDocument/2006/relationships/image" Target="../media/image6.emf"/><Relationship Id="rId2" Type="http://schemas.openxmlformats.org/officeDocument/2006/relationships/tags" Target="../tags/tag13.xml"/><Relationship Id="rId1" Type="http://schemas.openxmlformats.org/officeDocument/2006/relationships/vmlDrawing" Target="../drawings/vmlDrawing4.vml"/><Relationship Id="rId6" Type="http://schemas.openxmlformats.org/officeDocument/2006/relationships/oleObject" Target="../embeddings/oleObject3.bin"/><Relationship Id="rId5" Type="http://schemas.openxmlformats.org/officeDocument/2006/relationships/image" Target="../media/image8.jpg"/><Relationship Id="rId4"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3.xml"/><Relationship Id="rId7" Type="http://schemas.openxmlformats.org/officeDocument/2006/relationships/image" Target="../media/image6.emf"/><Relationship Id="rId2" Type="http://schemas.openxmlformats.org/officeDocument/2006/relationships/tags" Target="../tags/tag14.xml"/><Relationship Id="rId1" Type="http://schemas.openxmlformats.org/officeDocument/2006/relationships/vmlDrawing" Target="../drawings/vmlDrawing5.vml"/><Relationship Id="rId6" Type="http://schemas.openxmlformats.org/officeDocument/2006/relationships/oleObject" Target="../embeddings/oleObject3.bin"/><Relationship Id="rId5" Type="http://schemas.openxmlformats.org/officeDocument/2006/relationships/image" Target="../media/image9.jpeg"/><Relationship Id="rId4"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5.xml"/><Relationship Id="rId1" Type="http://schemas.openxmlformats.org/officeDocument/2006/relationships/vmlDrawing" Target="../drawings/vmlDrawing6.vml"/><Relationship Id="rId6" Type="http://schemas.openxmlformats.org/officeDocument/2006/relationships/image" Target="../media/image6.emf"/><Relationship Id="rId5" Type="http://schemas.openxmlformats.org/officeDocument/2006/relationships/oleObject" Target="../embeddings/oleObject4.bin"/><Relationship Id="rId4"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hemeOverride" Target="../theme/themeOverride3.xml"/><Relationship Id="rId4" Type="http://schemas.openxmlformats.org/officeDocument/2006/relationships/image" Target="../media/image4.jp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hemeOverride" Target="../theme/themeOverride4.xml"/><Relationship Id="rId4" Type="http://schemas.openxmlformats.org/officeDocument/2006/relationships/image" Target="../media/image4.jp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6.xml"/><Relationship Id="rId1" Type="http://schemas.openxmlformats.org/officeDocument/2006/relationships/vmlDrawing" Target="../drawings/vmlDrawing7.vml"/><Relationship Id="rId6" Type="http://schemas.openxmlformats.org/officeDocument/2006/relationships/image" Target="../media/image6.emf"/><Relationship Id="rId5" Type="http://schemas.openxmlformats.org/officeDocument/2006/relationships/oleObject" Target="../embeddings/oleObject3.bin"/><Relationship Id="rId4"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7.xml"/><Relationship Id="rId1" Type="http://schemas.openxmlformats.org/officeDocument/2006/relationships/vmlDrawing" Target="../drawings/vmlDrawing8.vml"/><Relationship Id="rId6" Type="http://schemas.openxmlformats.org/officeDocument/2006/relationships/image" Target="../media/image6.emf"/><Relationship Id="rId5" Type="http://schemas.openxmlformats.org/officeDocument/2006/relationships/oleObject" Target="../embeddings/oleObject3.bin"/><Relationship Id="rId4"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8.xml"/><Relationship Id="rId1" Type="http://schemas.openxmlformats.org/officeDocument/2006/relationships/vmlDrawing" Target="../drawings/vmlDrawing9.vml"/><Relationship Id="rId6" Type="http://schemas.openxmlformats.org/officeDocument/2006/relationships/image" Target="../media/image6.emf"/><Relationship Id="rId5" Type="http://schemas.openxmlformats.org/officeDocument/2006/relationships/oleObject" Target="../embeddings/oleObject3.bin"/><Relationship Id="rId4"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slideLayout" Target="../slideLayouts/slideLayout13.xml"/><Relationship Id="rId7" Type="http://schemas.openxmlformats.org/officeDocument/2006/relationships/image" Target="../media/image10.png"/><Relationship Id="rId2" Type="http://schemas.openxmlformats.org/officeDocument/2006/relationships/tags" Target="../tags/tag19.xml"/><Relationship Id="rId1" Type="http://schemas.openxmlformats.org/officeDocument/2006/relationships/vmlDrawing" Target="../drawings/vmlDrawing10.vml"/><Relationship Id="rId6" Type="http://schemas.openxmlformats.org/officeDocument/2006/relationships/image" Target="../media/image6.emf"/><Relationship Id="rId5" Type="http://schemas.openxmlformats.org/officeDocument/2006/relationships/oleObject" Target="../embeddings/oleObject3.bin"/><Relationship Id="rId10" Type="http://schemas.openxmlformats.org/officeDocument/2006/relationships/image" Target="../media/image13.jpeg"/><Relationship Id="rId4" Type="http://schemas.openxmlformats.org/officeDocument/2006/relationships/notesSlide" Target="../notesSlides/notesSlide14.xml"/><Relationship Id="rId9"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4" name="Title Placeholder 7"/>
          <p:cNvSpPr txBox="1">
            <a:spLocks/>
          </p:cNvSpPr>
          <p:nvPr/>
        </p:nvSpPr>
        <p:spPr>
          <a:xfrm>
            <a:off x="673100" y="2240280"/>
            <a:ext cx="10515600" cy="2309386"/>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US" sz="4400" b="1" noProof="0" dirty="0" smtClean="0">
                <a:solidFill>
                  <a:prstClr val="white"/>
                </a:solidFill>
                <a:latin typeface="Calibri" charset="0"/>
                <a:ea typeface="Calibri" charset="0"/>
                <a:cs typeface="Calibri" charset="0"/>
              </a:rPr>
              <a:t>ARCHITECTURE</a:t>
            </a:r>
          </a:p>
          <a:p>
            <a:pPr>
              <a:defRPr/>
            </a:pPr>
            <a:r>
              <a:rPr kumimoji="0" lang="vi-VN" sz="4800" b="1" i="0" u="none" strike="noStrike" kern="1200" cap="none" spc="0" normalizeH="0" baseline="0" noProof="0" dirty="0">
                <a:ln>
                  <a:noFill/>
                </a:ln>
                <a:solidFill>
                  <a:prstClr val="white"/>
                </a:solidFill>
                <a:effectLst/>
                <a:uLnTx/>
                <a:uFillTx/>
                <a:latin typeface="Calibri" charset="0"/>
                <a:ea typeface="Calibri" charset="0"/>
                <a:cs typeface="Calibri" charset="0"/>
              </a:rPr>
              <a:t/>
            </a:r>
            <a:br>
              <a:rPr kumimoji="0" lang="vi-VN" sz="4800" b="1" i="0" u="none" strike="noStrike" kern="1200" cap="none" spc="0" normalizeH="0" baseline="0" noProof="0" dirty="0">
                <a:ln>
                  <a:noFill/>
                </a:ln>
                <a:solidFill>
                  <a:prstClr val="white"/>
                </a:solidFill>
                <a:effectLst/>
                <a:uLnTx/>
                <a:uFillTx/>
                <a:latin typeface="Calibri" charset="0"/>
                <a:ea typeface="Calibri" charset="0"/>
                <a:cs typeface="Calibri" charset="0"/>
              </a:rPr>
            </a:br>
            <a:r>
              <a:rPr kumimoji="0" lang="en-US" sz="4800" b="1" i="0" u="none" strike="noStrike" kern="1200" cap="none" spc="0" normalizeH="0" baseline="0" noProof="0" dirty="0" err="1" smtClean="0">
                <a:ln>
                  <a:noFill/>
                </a:ln>
                <a:solidFill>
                  <a:prstClr val="white"/>
                </a:solidFill>
                <a:effectLst/>
                <a:uLnTx/>
                <a:uFillTx/>
                <a:latin typeface="Calibri" charset="0"/>
                <a:ea typeface="Calibri" charset="0"/>
                <a:cs typeface="Calibri" charset="0"/>
              </a:rPr>
              <a:t>Tài</a:t>
            </a:r>
            <a:r>
              <a:rPr kumimoji="0" lang="en-US" sz="4800" b="1" i="0" u="none" strike="noStrike" kern="1200" cap="none" spc="0" normalizeH="0" noProof="0" dirty="0" smtClean="0">
                <a:ln>
                  <a:noFill/>
                </a:ln>
                <a:solidFill>
                  <a:prstClr val="white"/>
                </a:solidFill>
                <a:effectLst/>
                <a:uLnTx/>
                <a:uFillTx/>
                <a:latin typeface="Calibri" charset="0"/>
                <a:ea typeface="Calibri" charset="0"/>
                <a:cs typeface="Calibri" charset="0"/>
              </a:rPr>
              <a:t> </a:t>
            </a:r>
            <a:r>
              <a:rPr kumimoji="0" lang="en-US" sz="4800" b="1" i="0" u="none" strike="noStrike" kern="1200" cap="none" spc="0" normalizeH="0" noProof="0" dirty="0" err="1" smtClean="0">
                <a:ln>
                  <a:noFill/>
                </a:ln>
                <a:solidFill>
                  <a:prstClr val="white"/>
                </a:solidFill>
                <a:effectLst/>
                <a:uLnTx/>
                <a:uFillTx/>
                <a:latin typeface="Calibri" charset="0"/>
                <a:ea typeface="Calibri" charset="0"/>
                <a:cs typeface="Calibri" charset="0"/>
              </a:rPr>
              <a:t>liệu</a:t>
            </a:r>
            <a:r>
              <a:rPr kumimoji="0" lang="en-US" sz="4800" b="1" i="0" u="none" strike="noStrike" kern="1200" cap="none" spc="0" normalizeH="0" noProof="0" dirty="0" smtClean="0">
                <a:ln>
                  <a:noFill/>
                </a:ln>
                <a:solidFill>
                  <a:prstClr val="white"/>
                </a:solidFill>
                <a:effectLst/>
                <a:uLnTx/>
                <a:uFillTx/>
                <a:latin typeface="Calibri" charset="0"/>
                <a:ea typeface="Calibri" charset="0"/>
                <a:cs typeface="Calibri" charset="0"/>
              </a:rPr>
              <a:t> </a:t>
            </a:r>
            <a:r>
              <a:rPr kumimoji="0" lang="en-US" sz="4800" b="1" i="0" u="none" strike="noStrike" kern="1200" cap="none" spc="0" normalizeH="0" noProof="0" err="1" smtClean="0">
                <a:ln>
                  <a:noFill/>
                </a:ln>
                <a:solidFill>
                  <a:prstClr val="white"/>
                </a:solidFill>
                <a:effectLst/>
                <a:uLnTx/>
                <a:uFillTx/>
                <a:latin typeface="Calibri" charset="0"/>
                <a:ea typeface="Calibri" charset="0"/>
                <a:cs typeface="Calibri" charset="0"/>
              </a:rPr>
              <a:t>Kiến</a:t>
            </a:r>
            <a:r>
              <a:rPr kumimoji="0" lang="en-US" sz="4800" b="1" i="0" u="none" strike="noStrike" kern="1200" cap="none" spc="0" normalizeH="0" noProof="0" smtClean="0">
                <a:ln>
                  <a:noFill/>
                </a:ln>
                <a:solidFill>
                  <a:prstClr val="white"/>
                </a:solidFill>
                <a:effectLst/>
                <a:uLnTx/>
                <a:uFillTx/>
                <a:latin typeface="Calibri" charset="0"/>
                <a:ea typeface="Calibri" charset="0"/>
                <a:cs typeface="Calibri" charset="0"/>
              </a:rPr>
              <a:t> trúc </a:t>
            </a:r>
          </a:p>
          <a:p>
            <a:pPr>
              <a:defRPr/>
            </a:pPr>
            <a:r>
              <a:rPr lang="en-US" sz="4800" b="1" smtClean="0">
                <a:solidFill>
                  <a:prstClr val="white"/>
                </a:solidFill>
                <a:latin typeface="Calibri" charset="0"/>
                <a:ea typeface="Calibri" charset="0"/>
                <a:cs typeface="Calibri" charset="0"/>
              </a:rPr>
              <a:t>Hệ thống ký số điện tử - D-Signature</a:t>
            </a:r>
            <a:endParaRPr lang="en-US" sz="4800" b="1">
              <a:solidFill>
                <a:prstClr val="white"/>
              </a:solidFill>
              <a:latin typeface="Calibri" charset="0"/>
              <a:ea typeface="Calibri" charset="0"/>
              <a:cs typeface="Calibri" charset="0"/>
            </a:endParaRPr>
          </a:p>
        </p:txBody>
      </p:sp>
      <p:sp>
        <p:nvSpPr>
          <p:cNvPr id="6" name="Title Placeholder 7"/>
          <p:cNvSpPr txBox="1">
            <a:spLocks/>
          </p:cNvSpPr>
          <p:nvPr/>
        </p:nvSpPr>
        <p:spPr>
          <a:xfrm>
            <a:off x="673100" y="6219825"/>
            <a:ext cx="10515600" cy="3984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b="1" i="0" kern="1200">
                <a:solidFill>
                  <a:schemeClr val="bg1"/>
                </a:solidFill>
                <a:latin typeface="Calibri" charset="0"/>
                <a:ea typeface="Calibri" charset="0"/>
                <a:cs typeface="Calibri"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2000" b="1" i="0" u="none" strike="noStrike" kern="1200" cap="none" spc="0" normalizeH="0" baseline="0" noProof="0" dirty="0">
              <a:ln>
                <a:noFill/>
              </a:ln>
              <a:solidFill>
                <a:prstClr val="white"/>
              </a:solidFill>
              <a:effectLst/>
              <a:uLnTx/>
              <a:uFillTx/>
              <a:latin typeface="Calibri" charset="0"/>
              <a:cs typeface="Calibri" charset="0"/>
            </a:endParaRPr>
          </a:p>
        </p:txBody>
      </p:sp>
      <p:sp>
        <p:nvSpPr>
          <p:cNvPr id="8" name="Slide Number Placeholder 7"/>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5" name="Title Placeholder 7"/>
          <p:cNvSpPr txBox="1">
            <a:spLocks/>
          </p:cNvSpPr>
          <p:nvPr/>
        </p:nvSpPr>
        <p:spPr>
          <a:xfrm>
            <a:off x="508000" y="5413380"/>
            <a:ext cx="10515600" cy="1270142"/>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2400" b="1" smtClean="0">
                <a:solidFill>
                  <a:prstClr val="white"/>
                </a:solidFill>
                <a:latin typeface="Calibri" charset="0"/>
                <a:ea typeface="Calibri" charset="0"/>
                <a:cs typeface="Calibri" charset="0"/>
              </a:rPr>
              <a:t>Jul</a:t>
            </a:r>
            <a:r>
              <a:rPr kumimoji="0" lang="en-US" sz="2400" b="1" i="0" u="none" strike="noStrike" kern="1200" cap="none" spc="0" normalizeH="0" baseline="0" noProof="0" smtClean="0">
                <a:ln>
                  <a:noFill/>
                </a:ln>
                <a:solidFill>
                  <a:prstClr val="white"/>
                </a:solidFill>
                <a:effectLst/>
                <a:uLnTx/>
                <a:uFillTx/>
                <a:latin typeface="Calibri" charset="0"/>
                <a:ea typeface="Calibri" charset="0"/>
                <a:cs typeface="Calibri" charset="0"/>
              </a:rPr>
              <a:t> </a:t>
            </a:r>
            <a:r>
              <a:rPr kumimoji="0" lang="vi-VN" sz="2400" b="1" i="0" u="none" strike="noStrike" kern="1200" cap="none" spc="0" normalizeH="0" baseline="0" noProof="0" smtClean="0">
                <a:ln>
                  <a:noFill/>
                </a:ln>
                <a:solidFill>
                  <a:prstClr val="white"/>
                </a:solidFill>
                <a:effectLst/>
                <a:uLnTx/>
                <a:uFillTx/>
                <a:latin typeface="Calibri" charset="0"/>
                <a:ea typeface="Calibri" charset="0"/>
                <a:cs typeface="Calibri" charset="0"/>
              </a:rPr>
              <a:t>20</a:t>
            </a:r>
            <a:r>
              <a:rPr kumimoji="0" lang="en-US" sz="2400" b="1" i="0" u="none" strike="noStrike" kern="1200" cap="none" spc="0" normalizeH="0" baseline="0" noProof="0" smtClean="0">
                <a:ln>
                  <a:noFill/>
                </a:ln>
                <a:solidFill>
                  <a:prstClr val="white"/>
                </a:solidFill>
                <a:effectLst/>
                <a:uLnTx/>
                <a:uFillTx/>
                <a:latin typeface="Calibri" charset="0"/>
                <a:ea typeface="Calibri" charset="0"/>
                <a:cs typeface="Calibri" charset="0"/>
              </a:rPr>
              <a:t>25</a:t>
            </a:r>
            <a:endParaRPr kumimoji="0" lang="en-US" sz="2400" b="1" i="0" u="none" strike="noStrike" kern="1200" cap="none" spc="0" normalizeH="0" baseline="0" noProof="0" dirty="0">
              <a:ln>
                <a:noFill/>
              </a:ln>
              <a:solidFill>
                <a:prstClr val="white"/>
              </a:solidFill>
              <a:effectLst/>
              <a:uLnTx/>
              <a:uFillTx/>
              <a:latin typeface="Calibri" charset="0"/>
              <a:ea typeface="Calibri" charset="0"/>
              <a:cs typeface="Calibri" charset="0"/>
            </a:endParaRPr>
          </a:p>
        </p:txBody>
      </p:sp>
    </p:spTree>
    <p:extLst>
      <p:ext uri="{BB962C8B-B14F-4D97-AF65-F5344CB8AC3E}">
        <p14:creationId xmlns:p14="http://schemas.microsoft.com/office/powerpoint/2010/main" val="2507997171"/>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p:cNvSpPr/>
          <p:nvPr/>
        </p:nvSpPr>
        <p:spPr>
          <a:xfrm>
            <a:off x="0" y="0"/>
            <a:ext cx="4083269" cy="6858000"/>
          </a:xfrm>
          <a:prstGeom prst="rect">
            <a:avLst/>
          </a:prstGeom>
          <a:gradFill>
            <a:gsLst>
              <a:gs pos="9000">
                <a:srgbClr val="EB212E"/>
              </a:gs>
              <a:gs pos="91000">
                <a:srgbClr val="F17030"/>
              </a:gs>
            </a:gsLst>
            <a:lin ang="27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smtClean="0"/>
              <a:t>AGENDA</a:t>
            </a:r>
            <a:endParaRPr lang="en-US" sz="4400" b="1" dirty="0"/>
          </a:p>
        </p:txBody>
      </p:sp>
      <p:sp>
        <p:nvSpPr>
          <p:cNvPr id="4" name="Slide Number Placeholder 3"/>
          <p:cNvSpPr>
            <a:spLocks noGrp="1"/>
          </p:cNvSpPr>
          <p:nvPr>
            <p:ph type="sldNum" sz="quarter" idx="4294967295"/>
          </p:nvPr>
        </p:nvSpPr>
        <p:spPr>
          <a:xfrm>
            <a:off x="10155238" y="6607626"/>
            <a:ext cx="2036762" cy="152400"/>
          </a:xfrm>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EBD5762-3BDC-484D-9503-7EA6D5A9A8CE}" type="slidenum">
              <a:rPr kumimoji="0" lang="en-US" sz="10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0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cxnSp>
        <p:nvCxnSpPr>
          <p:cNvPr id="5" name="Straight Connector 4"/>
          <p:cNvCxnSpPr/>
          <p:nvPr/>
        </p:nvCxnSpPr>
        <p:spPr>
          <a:xfrm>
            <a:off x="538851" y="729685"/>
            <a:ext cx="3084394" cy="0"/>
          </a:xfrm>
          <a:prstGeom prst="line">
            <a:avLst/>
          </a:prstGeom>
          <a:ln w="165100" cap="rnd">
            <a:solidFill>
              <a:srgbClr val="FFB81C"/>
            </a:solidFill>
            <a:round/>
          </a:ln>
        </p:spPr>
        <p:style>
          <a:lnRef idx="1">
            <a:schemeClr val="accent1"/>
          </a:lnRef>
          <a:fillRef idx="0">
            <a:schemeClr val="accent1"/>
          </a:fillRef>
          <a:effectRef idx="0">
            <a:schemeClr val="accent1"/>
          </a:effectRef>
          <a:fontRef idx="minor">
            <a:schemeClr val="tx1"/>
          </a:fontRef>
        </p:style>
      </p:cxnSp>
      <p:sp>
        <p:nvSpPr>
          <p:cNvPr id="6" name="Title Placeholder 7"/>
          <p:cNvSpPr txBox="1">
            <a:spLocks/>
          </p:cNvSpPr>
          <p:nvPr/>
        </p:nvSpPr>
        <p:spPr>
          <a:xfrm>
            <a:off x="4499221" y="222987"/>
            <a:ext cx="3339341" cy="1385957"/>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800" b="1" i="0" kern="1200">
                <a:solidFill>
                  <a:schemeClr val="bg1"/>
                </a:solidFill>
                <a:latin typeface="Calibri" charset="0"/>
                <a:ea typeface="Calibri" charset="0"/>
                <a:cs typeface="Calibri" charset="0"/>
              </a:defRPr>
            </a:lvl1pPr>
          </a:lstStyle>
          <a:p>
            <a:r>
              <a:rPr lang="vi-VN" sz="3200" dirty="0">
                <a:solidFill>
                  <a:srgbClr val="F04E23"/>
                </a:solidFill>
              </a:rPr>
              <a:t>Contents</a:t>
            </a:r>
            <a:endParaRPr lang="en-US" sz="3200" dirty="0">
              <a:solidFill>
                <a:srgbClr val="F04E23"/>
              </a:solidFill>
            </a:endParaRPr>
          </a:p>
        </p:txBody>
      </p:sp>
      <p:sp>
        <p:nvSpPr>
          <p:cNvPr id="7" name="Title Placeholder 7"/>
          <p:cNvSpPr txBox="1">
            <a:spLocks/>
          </p:cNvSpPr>
          <p:nvPr/>
        </p:nvSpPr>
        <p:spPr>
          <a:xfrm>
            <a:off x="5824449" y="1533350"/>
            <a:ext cx="4567638" cy="733921"/>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800" b="1" i="0" kern="1200">
                <a:solidFill>
                  <a:schemeClr val="bg1"/>
                </a:solidFill>
                <a:latin typeface="Calibri" charset="0"/>
                <a:ea typeface="Calibri" charset="0"/>
                <a:cs typeface="Calibri" charset="0"/>
              </a:defRPr>
            </a:lvl1pPr>
          </a:lstStyle>
          <a:p>
            <a:r>
              <a:rPr lang="en-US" sz="2800" b="0" dirty="0" err="1" smtClean="0">
                <a:solidFill>
                  <a:schemeClr val="tx1"/>
                </a:solidFill>
              </a:rPr>
              <a:t>Tổng</a:t>
            </a:r>
            <a:r>
              <a:rPr lang="en-US" sz="2800" b="0" dirty="0" smtClean="0">
                <a:solidFill>
                  <a:schemeClr val="tx1"/>
                </a:solidFill>
              </a:rPr>
              <a:t> </a:t>
            </a:r>
            <a:r>
              <a:rPr lang="en-US" sz="2800" b="0" dirty="0" err="1" smtClean="0">
                <a:solidFill>
                  <a:schemeClr val="tx1"/>
                </a:solidFill>
              </a:rPr>
              <a:t>quan</a:t>
            </a:r>
            <a:r>
              <a:rPr lang="en-US" sz="2800" b="0" dirty="0" smtClean="0">
                <a:solidFill>
                  <a:schemeClr val="tx1"/>
                </a:solidFill>
              </a:rPr>
              <a:t> </a:t>
            </a:r>
            <a:r>
              <a:rPr lang="en-US" sz="2800" b="0" dirty="0" err="1" smtClean="0">
                <a:solidFill>
                  <a:schemeClr val="tx1"/>
                </a:solidFill>
              </a:rPr>
              <a:t>yêu</a:t>
            </a:r>
            <a:r>
              <a:rPr lang="en-US" sz="2800" b="0" dirty="0" smtClean="0">
                <a:solidFill>
                  <a:schemeClr val="tx1"/>
                </a:solidFill>
              </a:rPr>
              <a:t> </a:t>
            </a:r>
            <a:r>
              <a:rPr lang="en-US" sz="2800" b="0" dirty="0" err="1" smtClean="0">
                <a:solidFill>
                  <a:schemeClr val="tx1"/>
                </a:solidFill>
              </a:rPr>
              <a:t>cầu</a:t>
            </a:r>
            <a:r>
              <a:rPr lang="en-US" sz="2800" b="0" dirty="0" smtClean="0">
                <a:solidFill>
                  <a:schemeClr val="tx1"/>
                </a:solidFill>
              </a:rPr>
              <a:t> </a:t>
            </a:r>
            <a:endParaRPr lang="en-US" sz="1500" b="0" dirty="0">
              <a:solidFill>
                <a:schemeClr val="tx1"/>
              </a:solidFill>
            </a:endParaRPr>
          </a:p>
        </p:txBody>
      </p:sp>
      <p:sp>
        <p:nvSpPr>
          <p:cNvPr id="8" name="Title Placeholder 7"/>
          <p:cNvSpPr txBox="1">
            <a:spLocks/>
          </p:cNvSpPr>
          <p:nvPr/>
        </p:nvSpPr>
        <p:spPr>
          <a:xfrm>
            <a:off x="5824447" y="2592303"/>
            <a:ext cx="6527209" cy="733921"/>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800" b="1" i="0" kern="1200">
                <a:solidFill>
                  <a:schemeClr val="bg1"/>
                </a:solidFill>
                <a:latin typeface="Calibri" charset="0"/>
                <a:ea typeface="Calibri" charset="0"/>
                <a:cs typeface="Calibri" charset="0"/>
              </a:defRPr>
            </a:lvl1pPr>
          </a:lstStyle>
          <a:p>
            <a:r>
              <a:rPr lang="en-US" sz="2800" b="0" dirty="0" err="1">
                <a:solidFill>
                  <a:schemeClr val="tx1"/>
                </a:solidFill>
              </a:rPr>
              <a:t>Kiến</a:t>
            </a:r>
            <a:r>
              <a:rPr lang="en-US" sz="2800" b="0" dirty="0">
                <a:solidFill>
                  <a:schemeClr val="tx1"/>
                </a:solidFill>
              </a:rPr>
              <a:t> </a:t>
            </a:r>
            <a:r>
              <a:rPr lang="en-US" sz="2800" b="0" dirty="0" err="1">
                <a:solidFill>
                  <a:schemeClr val="tx1"/>
                </a:solidFill>
              </a:rPr>
              <a:t>trúc</a:t>
            </a:r>
            <a:r>
              <a:rPr lang="en-US" sz="2800" b="0" dirty="0">
                <a:solidFill>
                  <a:schemeClr val="tx1"/>
                </a:solidFill>
              </a:rPr>
              <a:t> </a:t>
            </a:r>
            <a:r>
              <a:rPr lang="en-US" sz="2800" b="0" dirty="0" err="1" smtClean="0">
                <a:solidFill>
                  <a:schemeClr val="tx1"/>
                </a:solidFill>
              </a:rPr>
              <a:t>hệ</a:t>
            </a:r>
            <a:r>
              <a:rPr lang="en-US" sz="2800" b="0" dirty="0" smtClean="0">
                <a:solidFill>
                  <a:schemeClr val="tx1"/>
                </a:solidFill>
              </a:rPr>
              <a:t> </a:t>
            </a:r>
            <a:r>
              <a:rPr lang="en-US" sz="2800" b="0" dirty="0" err="1" smtClean="0">
                <a:solidFill>
                  <a:schemeClr val="tx1"/>
                </a:solidFill>
              </a:rPr>
              <a:t>thống</a:t>
            </a:r>
            <a:r>
              <a:rPr lang="en-US" sz="2800" b="0" dirty="0" smtClean="0">
                <a:solidFill>
                  <a:schemeClr val="tx1"/>
                </a:solidFill>
              </a:rPr>
              <a:t> </a:t>
            </a:r>
            <a:endParaRPr lang="en-US" sz="1500" b="0" dirty="0">
              <a:solidFill>
                <a:schemeClr val="tx1"/>
              </a:solidFill>
            </a:endParaRPr>
          </a:p>
        </p:txBody>
      </p:sp>
      <p:sp>
        <p:nvSpPr>
          <p:cNvPr id="12" name="Title Placeholder 7"/>
          <p:cNvSpPr txBox="1">
            <a:spLocks/>
          </p:cNvSpPr>
          <p:nvPr/>
        </p:nvSpPr>
        <p:spPr>
          <a:xfrm>
            <a:off x="4819261" y="1564589"/>
            <a:ext cx="1160343" cy="755868"/>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800" b="1" i="0" kern="1200">
                <a:solidFill>
                  <a:schemeClr val="bg1"/>
                </a:solidFill>
                <a:latin typeface="Calibri" charset="0"/>
                <a:ea typeface="Calibri" charset="0"/>
                <a:cs typeface="Calibri" charset="0"/>
              </a:defRPr>
            </a:lvl1pPr>
          </a:lstStyle>
          <a:p>
            <a:r>
              <a:rPr lang="vi-VN" sz="5500" dirty="0">
                <a:solidFill>
                  <a:srgbClr val="F04E23"/>
                </a:solidFill>
              </a:rPr>
              <a:t>01</a:t>
            </a:r>
            <a:endParaRPr lang="en-US" sz="5500" dirty="0">
              <a:solidFill>
                <a:srgbClr val="F04E23"/>
              </a:solidFill>
            </a:endParaRPr>
          </a:p>
        </p:txBody>
      </p:sp>
      <p:sp>
        <p:nvSpPr>
          <p:cNvPr id="13" name="Title Placeholder 7"/>
          <p:cNvSpPr txBox="1">
            <a:spLocks/>
          </p:cNvSpPr>
          <p:nvPr/>
        </p:nvSpPr>
        <p:spPr>
          <a:xfrm>
            <a:off x="4819261" y="2617157"/>
            <a:ext cx="1160343" cy="755868"/>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800" b="1" i="0" kern="1200">
                <a:solidFill>
                  <a:schemeClr val="bg1"/>
                </a:solidFill>
                <a:latin typeface="Calibri" charset="0"/>
                <a:ea typeface="Calibri" charset="0"/>
                <a:cs typeface="Calibri" charset="0"/>
              </a:defRPr>
            </a:lvl1pPr>
          </a:lstStyle>
          <a:p>
            <a:r>
              <a:rPr lang="vi-VN" sz="5500" dirty="0">
                <a:solidFill>
                  <a:srgbClr val="F04E23"/>
                </a:solidFill>
              </a:rPr>
              <a:t>02</a:t>
            </a:r>
            <a:endParaRPr lang="en-US" sz="5500" dirty="0">
              <a:solidFill>
                <a:srgbClr val="F04E23"/>
              </a:solidFill>
            </a:endParaRPr>
          </a:p>
        </p:txBody>
      </p:sp>
    </p:spTree>
    <p:extLst>
      <p:ext uri="{BB962C8B-B14F-4D97-AF65-F5344CB8AC3E}">
        <p14:creationId xmlns:p14="http://schemas.microsoft.com/office/powerpoint/2010/main" val="205825850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r="8697"/>
          <a:stretch/>
        </p:blipFill>
        <p:spPr>
          <a:xfrm>
            <a:off x="0" y="1482480"/>
            <a:ext cx="12186745" cy="3131038"/>
          </a:xfrm>
          <a:prstGeom prst="rect">
            <a:avLst/>
          </a:prstGeom>
        </p:spPr>
      </p:pic>
      <p:sp>
        <p:nvSpPr>
          <p:cNvPr id="4" name="Title Placeholder 7"/>
          <p:cNvSpPr txBox="1">
            <a:spLocks/>
          </p:cNvSpPr>
          <p:nvPr/>
        </p:nvSpPr>
        <p:spPr>
          <a:xfrm>
            <a:off x="576577" y="1762538"/>
            <a:ext cx="4300223" cy="257092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b="1" i="0" kern="1200">
                <a:solidFill>
                  <a:schemeClr val="bg1"/>
                </a:solidFill>
                <a:latin typeface="Calibri" charset="0"/>
                <a:ea typeface="Calibri" charset="0"/>
                <a:cs typeface="Calibri"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vi-VN" sz="27000" b="0" i="0" u="none" strike="noStrike" kern="1200" cap="none" spc="0" normalizeH="0" baseline="0" noProof="0" dirty="0" smtClean="0">
                <a:ln>
                  <a:noFill/>
                </a:ln>
                <a:solidFill>
                  <a:prstClr val="white"/>
                </a:solidFill>
                <a:effectLst/>
                <a:uLnTx/>
                <a:uFillTx/>
                <a:latin typeface="Calibri" charset="0"/>
                <a:cs typeface="Calibri" charset="0"/>
              </a:rPr>
              <a:t>0</a:t>
            </a:r>
            <a:r>
              <a:rPr lang="en-US" sz="27000" b="0" dirty="0" smtClean="0">
                <a:solidFill>
                  <a:prstClr val="white"/>
                </a:solidFill>
              </a:rPr>
              <a:t>1</a:t>
            </a:r>
            <a:endParaRPr kumimoji="0" lang="en-US" sz="27000" b="0" i="0" u="none" strike="noStrike" kern="1200" cap="none" spc="0" normalizeH="0" baseline="0" noProof="0" dirty="0">
              <a:ln>
                <a:noFill/>
              </a:ln>
              <a:solidFill>
                <a:prstClr val="white"/>
              </a:solidFill>
              <a:effectLst/>
              <a:uLnTx/>
              <a:uFillTx/>
              <a:latin typeface="Calibri" charset="0"/>
              <a:cs typeface="Calibri" charset="0"/>
            </a:endParaRPr>
          </a:p>
        </p:txBody>
      </p:sp>
      <p:sp>
        <p:nvSpPr>
          <p:cNvPr id="5" name="Title Placeholder 7"/>
          <p:cNvSpPr txBox="1">
            <a:spLocks/>
          </p:cNvSpPr>
          <p:nvPr/>
        </p:nvSpPr>
        <p:spPr>
          <a:xfrm>
            <a:off x="4544391" y="2112579"/>
            <a:ext cx="7205649" cy="1240221"/>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4800" b="1" dirty="0" err="1" smtClean="0">
                <a:solidFill>
                  <a:prstClr val="white"/>
                </a:solidFill>
                <a:latin typeface="Calibri" charset="0"/>
                <a:ea typeface="Calibri" charset="0"/>
                <a:cs typeface="Calibri" charset="0"/>
              </a:rPr>
              <a:t>Tổng</a:t>
            </a:r>
            <a:r>
              <a:rPr lang="en-US" sz="4800" b="1" dirty="0" smtClean="0">
                <a:solidFill>
                  <a:prstClr val="white"/>
                </a:solidFill>
                <a:latin typeface="Calibri" charset="0"/>
                <a:ea typeface="Calibri" charset="0"/>
                <a:cs typeface="Calibri" charset="0"/>
              </a:rPr>
              <a:t> </a:t>
            </a:r>
            <a:r>
              <a:rPr lang="en-US" sz="4800" b="1" dirty="0" err="1" smtClean="0">
                <a:solidFill>
                  <a:prstClr val="white"/>
                </a:solidFill>
                <a:latin typeface="Calibri" charset="0"/>
                <a:ea typeface="Calibri" charset="0"/>
                <a:cs typeface="Calibri" charset="0"/>
              </a:rPr>
              <a:t>quan</a:t>
            </a:r>
            <a:r>
              <a:rPr lang="en-US" sz="4800" b="1" dirty="0" smtClean="0">
                <a:solidFill>
                  <a:prstClr val="white"/>
                </a:solidFill>
                <a:latin typeface="Calibri" charset="0"/>
                <a:ea typeface="Calibri" charset="0"/>
                <a:cs typeface="Calibri" charset="0"/>
              </a:rPr>
              <a:t> </a:t>
            </a:r>
            <a:r>
              <a:rPr lang="en-US" sz="4800" b="1" dirty="0" err="1" smtClean="0">
                <a:solidFill>
                  <a:prstClr val="white"/>
                </a:solidFill>
                <a:latin typeface="Calibri" charset="0"/>
                <a:ea typeface="Calibri" charset="0"/>
                <a:cs typeface="Calibri" charset="0"/>
              </a:rPr>
              <a:t>yêu</a:t>
            </a:r>
            <a:r>
              <a:rPr lang="en-US" sz="4800" b="1" dirty="0" smtClean="0">
                <a:solidFill>
                  <a:prstClr val="white"/>
                </a:solidFill>
                <a:latin typeface="Calibri" charset="0"/>
                <a:ea typeface="Calibri" charset="0"/>
                <a:cs typeface="Calibri" charset="0"/>
              </a:rPr>
              <a:t> </a:t>
            </a:r>
            <a:r>
              <a:rPr lang="en-US" sz="4800" b="1" dirty="0" err="1" smtClean="0">
                <a:solidFill>
                  <a:prstClr val="white"/>
                </a:solidFill>
                <a:latin typeface="Calibri" charset="0"/>
                <a:ea typeface="Calibri" charset="0"/>
                <a:cs typeface="Calibri" charset="0"/>
              </a:rPr>
              <a:t>cầu</a:t>
            </a:r>
            <a:endParaRPr kumimoji="0" lang="en-US" sz="4800" b="1" i="0" u="none" strike="noStrike" kern="1200" cap="none" spc="0" normalizeH="0" baseline="0" noProof="0" dirty="0">
              <a:ln>
                <a:noFill/>
              </a:ln>
              <a:solidFill>
                <a:prstClr val="white"/>
              </a:solidFill>
              <a:effectLst/>
              <a:uLnTx/>
              <a:uFillTx/>
              <a:latin typeface="Calibri" charset="0"/>
              <a:ea typeface="Calibri" charset="0"/>
              <a:cs typeface="Calibri" charset="0"/>
            </a:endParaRPr>
          </a:p>
        </p:txBody>
      </p:sp>
      <p:sp>
        <p:nvSpPr>
          <p:cNvPr id="6" name="Title Placeholder 7"/>
          <p:cNvSpPr txBox="1">
            <a:spLocks/>
          </p:cNvSpPr>
          <p:nvPr/>
        </p:nvSpPr>
        <p:spPr>
          <a:xfrm>
            <a:off x="4211783" y="3223743"/>
            <a:ext cx="7974962" cy="110971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b="1" i="0" kern="1200">
                <a:solidFill>
                  <a:schemeClr val="bg1"/>
                </a:solidFill>
                <a:latin typeface="Calibri" charset="0"/>
                <a:ea typeface="Calibri" charset="0"/>
                <a:cs typeface="Calibri" charset="0"/>
              </a:defRPr>
            </a:lvl1pPr>
          </a:lstStyle>
          <a:p>
            <a:pPr marL="342900" lvl="0" indent="-342900">
              <a:lnSpc>
                <a:spcPct val="120000"/>
              </a:lnSpc>
              <a:buFont typeface="Arial" panose="020B0604020202020204" pitchFamily="34" charset="0"/>
              <a:buChar char="•"/>
              <a:defRPr/>
            </a:pPr>
            <a:r>
              <a:rPr lang="en-US" sz="2300" smtClean="0">
                <a:solidFill>
                  <a:srgbClr val="FFB81C"/>
                </a:solidFill>
              </a:rPr>
              <a:t>Roadmap – Yêu cầu MVP3</a:t>
            </a:r>
          </a:p>
          <a:p>
            <a:pPr marL="342900" lvl="0" indent="-342900">
              <a:lnSpc>
                <a:spcPct val="120000"/>
              </a:lnSpc>
              <a:buFont typeface="Arial" panose="020B0604020202020204" pitchFamily="34" charset="0"/>
              <a:buChar char="•"/>
              <a:defRPr/>
            </a:pPr>
            <a:r>
              <a:rPr kumimoji="0" lang="en-US" sz="2300" b="1" i="0" u="none" strike="noStrike" kern="1200" cap="none" spc="0" normalizeH="0" noProof="0" smtClean="0">
                <a:ln>
                  <a:noFill/>
                </a:ln>
                <a:solidFill>
                  <a:srgbClr val="FFB81C"/>
                </a:solidFill>
                <a:effectLst/>
                <a:uLnTx/>
                <a:uFillTx/>
                <a:latin typeface="Calibri" charset="0"/>
                <a:cs typeface="Calibri" charset="0"/>
              </a:rPr>
              <a:t>Biz Cap</a:t>
            </a:r>
            <a:endParaRPr kumimoji="0" lang="en-US" sz="2300" b="1" i="0" u="none" strike="noStrike" kern="1200" cap="none" spc="0" normalizeH="0" noProof="0" dirty="0" smtClean="0">
              <a:ln>
                <a:noFill/>
              </a:ln>
              <a:solidFill>
                <a:srgbClr val="FFB81C"/>
              </a:solidFill>
              <a:effectLst/>
              <a:uLnTx/>
              <a:uFillTx/>
              <a:latin typeface="Calibri" charset="0"/>
              <a:cs typeface="Calibri" charset="0"/>
            </a:endParaRPr>
          </a:p>
        </p:txBody>
      </p:sp>
      <p:cxnSp>
        <p:nvCxnSpPr>
          <p:cNvPr id="15" name="Straight Connector 14"/>
          <p:cNvCxnSpPr/>
          <p:nvPr/>
        </p:nvCxnSpPr>
        <p:spPr>
          <a:xfrm>
            <a:off x="914400" y="682388"/>
            <a:ext cx="3084394" cy="0"/>
          </a:xfrm>
          <a:prstGeom prst="line">
            <a:avLst/>
          </a:prstGeom>
          <a:ln w="165100" cap="rnd">
            <a:solidFill>
              <a:srgbClr val="FFB81C"/>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069012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62870" y="3320158"/>
            <a:ext cx="11466576" cy="3333332"/>
            <a:chOff x="378370" y="3623450"/>
            <a:chExt cx="11466576" cy="2929997"/>
          </a:xfrm>
        </p:grpSpPr>
        <p:sp>
          <p:nvSpPr>
            <p:cNvPr id="162" name="Rectangle 161"/>
            <p:cNvSpPr>
              <a:spLocks/>
            </p:cNvSpPr>
            <p:nvPr/>
          </p:nvSpPr>
          <p:spPr>
            <a:xfrm>
              <a:off x="378370" y="3888156"/>
              <a:ext cx="11451075" cy="2665291"/>
            </a:xfrm>
            <a:prstGeom prst="rect">
              <a:avLst/>
            </a:prstGeom>
            <a:solidFill>
              <a:schemeClr val="bg1"/>
            </a:solidFill>
            <a:ln w="19050" cmpd="sng">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endParaRPr>
            </a:p>
          </p:txBody>
        </p:sp>
        <p:sp>
          <p:nvSpPr>
            <p:cNvPr id="165" name="TextBox 164"/>
            <p:cNvSpPr txBox="1">
              <a:spLocks/>
            </p:cNvSpPr>
            <p:nvPr/>
          </p:nvSpPr>
          <p:spPr>
            <a:xfrm>
              <a:off x="378370" y="3623450"/>
              <a:ext cx="11466576" cy="264704"/>
            </a:xfrm>
            <a:prstGeom prst="rect">
              <a:avLst/>
            </a:prstGeom>
            <a:solidFill>
              <a:srgbClr val="FF6600"/>
            </a:solid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3472" tIns="73472" rIns="73472" bIns="73472" numCol="1" anchor="ctr" anchorCtr="0" compatLnSpc="1">
              <a:prstTxWarp prst="textNoShape">
                <a:avLst/>
              </a:prstTxWarp>
              <a:noAutofit/>
            </a:bodyPr>
            <a:lstStyle>
              <a:defPPr>
                <a:defRPr lang="en-US"/>
              </a:defPPr>
              <a:lvl1pPr marR="0" lvl="0" indent="0" defTabSz="895255" fontAlgn="base">
                <a:lnSpc>
                  <a:spcPct val="100000"/>
                </a:lnSpc>
                <a:spcBef>
                  <a:spcPct val="0"/>
                </a:spcBef>
                <a:spcAft>
                  <a:spcPct val="0"/>
                </a:spcAft>
                <a:buClr>
                  <a:srgbClr val="DA251C"/>
                </a:buClr>
                <a:buSzTx/>
                <a:buFontTx/>
                <a:buNone/>
                <a:tabLst/>
                <a:defRPr kumimoji="0" sz="1400" b="1" i="0" u="none" strike="noStrike" cap="none" spc="0" normalizeH="0" baseline="0">
                  <a:ln>
                    <a:noFill/>
                  </a:ln>
                  <a:effectLst/>
                  <a:uLnTx/>
                  <a:uFillTx/>
                  <a:latin typeface="Times New Roman" panose="02020603050405020304" pitchFamily="18" charset="0"/>
                  <a:cs typeface="Times New Roman" panose="02020603050405020304" pitchFamily="18" charset="0"/>
                </a:defRPr>
              </a:lvl1pPr>
              <a:lvl2pPr marL="193655" indent="-192067" defTabSz="895255" fontAlgn="base">
                <a:spcBef>
                  <a:spcPct val="0"/>
                </a:spcBef>
                <a:spcAft>
                  <a:spcPct val="0"/>
                </a:spcAft>
                <a:buClr>
                  <a:schemeClr val="tx2"/>
                </a:buClr>
                <a:buSzPct val="125000"/>
                <a:buFont typeface="Arial" charset="0"/>
                <a:buChar char="▪"/>
                <a:defRPr sz="1600" baseline="0"/>
              </a:lvl2pPr>
              <a:lvl3pPr marL="457151" indent="-261910" defTabSz="895255" fontAlgn="base">
                <a:spcBef>
                  <a:spcPct val="0"/>
                </a:spcBef>
                <a:spcAft>
                  <a:spcPct val="0"/>
                </a:spcAft>
                <a:buClr>
                  <a:schemeClr val="tx2"/>
                </a:buClr>
                <a:buSzPct val="120000"/>
                <a:buFont typeface="Arial" charset="0"/>
                <a:buChar char="–"/>
                <a:defRPr sz="1600" baseline="0"/>
              </a:lvl3pPr>
              <a:lvl4pPr marL="614298" indent="-155558" defTabSz="895255" fontAlgn="base">
                <a:spcBef>
                  <a:spcPct val="0"/>
                </a:spcBef>
                <a:spcAft>
                  <a:spcPct val="0"/>
                </a:spcAft>
                <a:buClr>
                  <a:schemeClr val="tx2"/>
                </a:buClr>
                <a:buSzPct val="120000"/>
                <a:buFont typeface="Arial" charset="0"/>
                <a:buChar char="▫"/>
                <a:defRPr sz="1600" baseline="0"/>
              </a:lvl4pPr>
              <a:lvl5pPr marL="749728" indent="-130162" defTabSz="895255" fontAlgn="base">
                <a:spcBef>
                  <a:spcPct val="0"/>
                </a:spcBef>
                <a:spcAft>
                  <a:spcPct val="0"/>
                </a:spcAft>
                <a:buClr>
                  <a:schemeClr val="tx2"/>
                </a:buClr>
                <a:buSzPct val="89000"/>
                <a:buFont typeface="Arial" charset="0"/>
                <a:buChar char="-"/>
                <a:defRPr sz="1600" baseline="0"/>
              </a:lvl5pPr>
              <a:lvl6pPr marL="749728" indent="-130162" defTabSz="895255" fontAlgn="base">
                <a:spcBef>
                  <a:spcPct val="0"/>
                </a:spcBef>
                <a:spcAft>
                  <a:spcPct val="0"/>
                </a:spcAft>
                <a:buClr>
                  <a:schemeClr val="tx2"/>
                </a:buClr>
                <a:buSzPct val="89000"/>
                <a:buFont typeface="Arial" charset="0"/>
                <a:buChar char="-"/>
                <a:defRPr sz="1600" baseline="0"/>
              </a:lvl6pPr>
              <a:lvl7pPr marL="749728" indent="-130162" defTabSz="895255" fontAlgn="base">
                <a:spcBef>
                  <a:spcPct val="0"/>
                </a:spcBef>
                <a:spcAft>
                  <a:spcPct val="0"/>
                </a:spcAft>
                <a:buClr>
                  <a:schemeClr val="tx2"/>
                </a:buClr>
                <a:buSzPct val="89000"/>
                <a:buFont typeface="Arial" charset="0"/>
                <a:buChar char="-"/>
                <a:defRPr sz="1600" baseline="0"/>
              </a:lvl7pPr>
              <a:lvl8pPr marL="749728" indent="-130162" defTabSz="895255" fontAlgn="base">
                <a:spcBef>
                  <a:spcPct val="0"/>
                </a:spcBef>
                <a:spcAft>
                  <a:spcPct val="0"/>
                </a:spcAft>
                <a:buClr>
                  <a:schemeClr val="tx2"/>
                </a:buClr>
                <a:buSzPct val="89000"/>
                <a:buFont typeface="Arial" charset="0"/>
                <a:buChar char="-"/>
                <a:defRPr sz="1600" baseline="0"/>
              </a:lvl8pPr>
              <a:lvl9pPr marL="749728" indent="-130162" defTabSz="895255" fontAlgn="base">
                <a:spcBef>
                  <a:spcPct val="0"/>
                </a:spcBef>
                <a:spcAft>
                  <a:spcPct val="0"/>
                </a:spcAft>
                <a:buClr>
                  <a:schemeClr val="tx2"/>
                </a:buClr>
                <a:buSzPct val="89000"/>
                <a:buFont typeface="Arial" charset="0"/>
                <a:buChar char="-"/>
                <a:defRPr sz="1600" baseline="0"/>
              </a:lvl9pPr>
            </a:lstStyle>
            <a:p>
              <a:r>
                <a:rPr lang="en-US" smtClean="0">
                  <a:solidFill>
                    <a:schemeClr val="bg1"/>
                  </a:solidFill>
                  <a:latin typeface="Arial" panose="020B0604020202020204" pitchFamily="34" charset="0"/>
                  <a:cs typeface="Arial" panose="020B0604020202020204" pitchFamily="34" charset="0"/>
                </a:rPr>
                <a:t>MVP3 – Nâng cấp các tính năng của D-Signature</a:t>
              </a:r>
              <a:endParaRPr lang="en-US" dirty="0">
                <a:solidFill>
                  <a:schemeClr val="bg1"/>
                </a:solidFill>
                <a:latin typeface="Arial" panose="020B0604020202020204" pitchFamily="34" charset="0"/>
                <a:cs typeface="Arial" panose="020B0604020202020204" pitchFamily="34" charset="0"/>
              </a:endParaRPr>
            </a:p>
          </p:txBody>
        </p:sp>
      </p:grpSp>
      <p:sp>
        <p:nvSpPr>
          <p:cNvPr id="127" name="Google Shape;1405;p48">
            <a:extLst>
              <a:ext uri="{FF2B5EF4-FFF2-40B4-BE49-F238E27FC236}">
                <a16:creationId xmlns:a16="http://schemas.microsoft.com/office/drawing/2014/main" id="{095AB5BF-5089-854A-A575-89811E501E2D}"/>
              </a:ext>
            </a:extLst>
          </p:cNvPr>
          <p:cNvSpPr/>
          <p:nvPr/>
        </p:nvSpPr>
        <p:spPr>
          <a:xfrm rot="10800000">
            <a:off x="298043" y="9334"/>
            <a:ext cx="297504" cy="617816"/>
          </a:xfrm>
          <a:custGeom>
            <a:avLst/>
            <a:gdLst/>
            <a:ahLst/>
            <a:cxnLst/>
            <a:rect l="l" t="t" r="r" b="b"/>
            <a:pathLst>
              <a:path w="288" h="868" extrusionOk="0">
                <a:moveTo>
                  <a:pt x="144" y="0"/>
                </a:moveTo>
                <a:cubicBezTo>
                  <a:pt x="64" y="0"/>
                  <a:pt x="0" y="64"/>
                  <a:pt x="0" y="144"/>
                </a:cubicBezTo>
                <a:cubicBezTo>
                  <a:pt x="0" y="868"/>
                  <a:pt x="0" y="868"/>
                  <a:pt x="0" y="868"/>
                </a:cubicBezTo>
                <a:cubicBezTo>
                  <a:pt x="288" y="868"/>
                  <a:pt x="288" y="868"/>
                  <a:pt x="288" y="868"/>
                </a:cubicBezTo>
                <a:cubicBezTo>
                  <a:pt x="288" y="144"/>
                  <a:pt x="288" y="144"/>
                  <a:pt x="288" y="144"/>
                </a:cubicBezTo>
                <a:cubicBezTo>
                  <a:pt x="288" y="64"/>
                  <a:pt x="223" y="0"/>
                  <a:pt x="144" y="0"/>
                </a:cubicBezTo>
                <a:close/>
              </a:path>
            </a:pathLst>
          </a:custGeom>
          <a:gradFill flip="none" rotWithShape="1">
            <a:gsLst>
              <a:gs pos="0">
                <a:srgbClr val="FD4D00">
                  <a:shade val="30000"/>
                  <a:satMod val="115000"/>
                </a:srgbClr>
              </a:gs>
              <a:gs pos="44000">
                <a:srgbClr val="FD4D00">
                  <a:shade val="67500"/>
                  <a:satMod val="115000"/>
                </a:srgbClr>
              </a:gs>
              <a:gs pos="100000">
                <a:srgbClr val="FD9E00"/>
              </a:gs>
            </a:gsLst>
            <a:lin ang="16200000" scaled="1"/>
            <a:tileRect/>
          </a:gradFill>
          <a:ln>
            <a:noFill/>
          </a:ln>
        </p:spPr>
        <p:txBody>
          <a:bodyPr spcFirstLastPara="1" wrap="square" lIns="68575" tIns="34275" rIns="68575" bIns="3427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300" b="1"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sym typeface="Calibri"/>
            </a:endParaRPr>
          </a:p>
        </p:txBody>
      </p:sp>
      <p:sp>
        <p:nvSpPr>
          <p:cNvPr id="130" name="Title 2">
            <a:extLst>
              <a:ext uri="{FF2B5EF4-FFF2-40B4-BE49-F238E27FC236}">
                <a16:creationId xmlns:a16="http://schemas.microsoft.com/office/drawing/2014/main" id="{7E83E73A-45A5-49A4-2999-3F1BAC0ADBDD}"/>
              </a:ext>
            </a:extLst>
          </p:cNvPr>
          <p:cNvSpPr txBox="1">
            <a:spLocks/>
          </p:cNvSpPr>
          <p:nvPr/>
        </p:nvSpPr>
        <p:spPr>
          <a:xfrm>
            <a:off x="772415" y="29875"/>
            <a:ext cx="8121414" cy="596161"/>
          </a:xfrm>
          <a:prstGeom prst="rect">
            <a:avLst/>
          </a:prstGeom>
        </p:spPr>
        <p:txBody>
          <a:bodyPr vert="horz" lIns="91440" tIns="45720" rIns="91440" bIns="45720" rtlCol="0" anchor="ctr">
            <a:normAutofit/>
          </a:bodyPr>
          <a:lstStyle>
            <a:defPPr>
              <a:defRPr lang="en-US"/>
            </a:defPPr>
            <a:lvl1pPr lvl="0">
              <a:defRPr sz="3200" b="1">
                <a:solidFill>
                  <a:srgbClr val="E67014"/>
                </a:solidFill>
              </a:defRPr>
            </a:lvl1pPr>
          </a:lstStyle>
          <a:p>
            <a:r>
              <a:rPr lang="en-US" smtClean="0"/>
              <a:t>Tổng quan dự án</a:t>
            </a:r>
            <a:endParaRPr lang="en-US" dirty="0">
              <a:sym typeface="Trebuchet MS" panose="020B0603020202020204" pitchFamily="34" charset="0"/>
            </a:endParaRPr>
          </a:p>
        </p:txBody>
      </p:sp>
      <p:grpSp>
        <p:nvGrpSpPr>
          <p:cNvPr id="155" name="Group 154"/>
          <p:cNvGrpSpPr/>
          <p:nvPr/>
        </p:nvGrpSpPr>
        <p:grpSpPr>
          <a:xfrm>
            <a:off x="378370" y="703741"/>
            <a:ext cx="11451076" cy="2700229"/>
            <a:chOff x="-201160" y="1951667"/>
            <a:chExt cx="5441522" cy="2730181"/>
          </a:xfrm>
        </p:grpSpPr>
        <p:sp>
          <p:nvSpPr>
            <p:cNvPr id="156" name="Rectangle 155"/>
            <p:cNvSpPr>
              <a:spLocks/>
            </p:cNvSpPr>
            <p:nvPr/>
          </p:nvSpPr>
          <p:spPr>
            <a:xfrm>
              <a:off x="-201159" y="1951668"/>
              <a:ext cx="5441521" cy="2568145"/>
            </a:xfrm>
            <a:prstGeom prst="rect">
              <a:avLst/>
            </a:prstGeom>
            <a:solidFill>
              <a:schemeClr val="bg1"/>
            </a:solidFill>
            <a:ln w="19050" cmpd="sng">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err="1">
                <a:ln>
                  <a:noFill/>
                </a:ln>
                <a:solidFill>
                  <a:srgbClr val="000000"/>
                </a:solidFill>
                <a:effectLst/>
                <a:uLnTx/>
                <a:uFillTx/>
                <a:latin typeface="Arial" panose="020B0604020202020204" pitchFamily="34" charset="0"/>
                <a:cs typeface="Arial" panose="020B0604020202020204" pitchFamily="34" charset="0"/>
              </a:endParaRPr>
            </a:p>
          </p:txBody>
        </p:sp>
        <p:sp>
          <p:nvSpPr>
            <p:cNvPr id="157" name="TextBox 156"/>
            <p:cNvSpPr txBox="1">
              <a:spLocks/>
            </p:cNvSpPr>
            <p:nvPr/>
          </p:nvSpPr>
          <p:spPr>
            <a:xfrm>
              <a:off x="-201160" y="1951667"/>
              <a:ext cx="5441522" cy="342299"/>
            </a:xfrm>
            <a:prstGeom prst="rect">
              <a:avLst/>
            </a:prstGeom>
            <a:solidFill>
              <a:srgbClr val="FF6600"/>
            </a:solid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3472" tIns="73472" rIns="73472" bIns="73472" numCol="1" anchor="ctr" anchorCtr="0" compatLnSpc="1">
              <a:prstTxWarp prst="textNoShape">
                <a:avLst/>
              </a:prstTxWarp>
              <a:noAutofit/>
            </a:bodyPr>
            <a:lstStyle>
              <a:defPPr>
                <a:defRPr lang="en-US"/>
              </a:defPPr>
              <a:lvl1pPr marR="0" lvl="0" indent="0" defTabSz="895255" fontAlgn="base">
                <a:lnSpc>
                  <a:spcPct val="100000"/>
                </a:lnSpc>
                <a:spcBef>
                  <a:spcPct val="0"/>
                </a:spcBef>
                <a:spcAft>
                  <a:spcPct val="0"/>
                </a:spcAft>
                <a:buClr>
                  <a:srgbClr val="DA251C"/>
                </a:buClr>
                <a:buSzTx/>
                <a:buFontTx/>
                <a:buNone/>
                <a:tabLst/>
                <a:defRPr kumimoji="0" sz="1400" b="1" i="0" u="none" strike="noStrike" cap="none" spc="0" normalizeH="0" baseline="0">
                  <a:ln>
                    <a:noFill/>
                  </a:ln>
                  <a:effectLst/>
                  <a:uLnTx/>
                  <a:uFillTx/>
                  <a:latin typeface="Times New Roman" panose="02020603050405020304" pitchFamily="18" charset="0"/>
                  <a:cs typeface="Times New Roman" panose="02020603050405020304" pitchFamily="18" charset="0"/>
                </a:defRPr>
              </a:lvl1pPr>
              <a:lvl2pPr marL="193655" indent="-192067" defTabSz="895255" fontAlgn="base">
                <a:spcBef>
                  <a:spcPct val="0"/>
                </a:spcBef>
                <a:spcAft>
                  <a:spcPct val="0"/>
                </a:spcAft>
                <a:buClr>
                  <a:schemeClr val="tx2"/>
                </a:buClr>
                <a:buSzPct val="125000"/>
                <a:buFont typeface="Arial" charset="0"/>
                <a:buChar char="▪"/>
                <a:defRPr sz="1600" baseline="0"/>
              </a:lvl2pPr>
              <a:lvl3pPr marL="457151" indent="-261910" defTabSz="895255" fontAlgn="base">
                <a:spcBef>
                  <a:spcPct val="0"/>
                </a:spcBef>
                <a:spcAft>
                  <a:spcPct val="0"/>
                </a:spcAft>
                <a:buClr>
                  <a:schemeClr val="tx2"/>
                </a:buClr>
                <a:buSzPct val="120000"/>
                <a:buFont typeface="Arial" charset="0"/>
                <a:buChar char="–"/>
                <a:defRPr sz="1600" baseline="0"/>
              </a:lvl3pPr>
              <a:lvl4pPr marL="614298" indent="-155558" defTabSz="895255" fontAlgn="base">
                <a:spcBef>
                  <a:spcPct val="0"/>
                </a:spcBef>
                <a:spcAft>
                  <a:spcPct val="0"/>
                </a:spcAft>
                <a:buClr>
                  <a:schemeClr val="tx2"/>
                </a:buClr>
                <a:buSzPct val="120000"/>
                <a:buFont typeface="Arial" charset="0"/>
                <a:buChar char="▫"/>
                <a:defRPr sz="1600" baseline="0"/>
              </a:lvl4pPr>
              <a:lvl5pPr marL="749728" indent="-130162" defTabSz="895255" fontAlgn="base">
                <a:spcBef>
                  <a:spcPct val="0"/>
                </a:spcBef>
                <a:spcAft>
                  <a:spcPct val="0"/>
                </a:spcAft>
                <a:buClr>
                  <a:schemeClr val="tx2"/>
                </a:buClr>
                <a:buSzPct val="89000"/>
                <a:buFont typeface="Arial" charset="0"/>
                <a:buChar char="-"/>
                <a:defRPr sz="1600" baseline="0"/>
              </a:lvl5pPr>
              <a:lvl6pPr marL="749728" indent="-130162" defTabSz="895255" fontAlgn="base">
                <a:spcBef>
                  <a:spcPct val="0"/>
                </a:spcBef>
                <a:spcAft>
                  <a:spcPct val="0"/>
                </a:spcAft>
                <a:buClr>
                  <a:schemeClr val="tx2"/>
                </a:buClr>
                <a:buSzPct val="89000"/>
                <a:buFont typeface="Arial" charset="0"/>
                <a:buChar char="-"/>
                <a:defRPr sz="1600" baseline="0"/>
              </a:lvl6pPr>
              <a:lvl7pPr marL="749728" indent="-130162" defTabSz="895255" fontAlgn="base">
                <a:spcBef>
                  <a:spcPct val="0"/>
                </a:spcBef>
                <a:spcAft>
                  <a:spcPct val="0"/>
                </a:spcAft>
                <a:buClr>
                  <a:schemeClr val="tx2"/>
                </a:buClr>
                <a:buSzPct val="89000"/>
                <a:buFont typeface="Arial" charset="0"/>
                <a:buChar char="-"/>
                <a:defRPr sz="1600" baseline="0"/>
              </a:lvl7pPr>
              <a:lvl8pPr marL="749728" indent="-130162" defTabSz="895255" fontAlgn="base">
                <a:spcBef>
                  <a:spcPct val="0"/>
                </a:spcBef>
                <a:spcAft>
                  <a:spcPct val="0"/>
                </a:spcAft>
                <a:buClr>
                  <a:schemeClr val="tx2"/>
                </a:buClr>
                <a:buSzPct val="89000"/>
                <a:buFont typeface="Arial" charset="0"/>
                <a:buChar char="-"/>
                <a:defRPr sz="1600" baseline="0"/>
              </a:lvl8pPr>
              <a:lvl9pPr marL="749728" indent="-130162" defTabSz="895255" fontAlgn="base">
                <a:spcBef>
                  <a:spcPct val="0"/>
                </a:spcBef>
                <a:spcAft>
                  <a:spcPct val="0"/>
                </a:spcAft>
                <a:buClr>
                  <a:schemeClr val="tx2"/>
                </a:buClr>
                <a:buSzPct val="89000"/>
                <a:buFont typeface="Arial" charset="0"/>
                <a:buChar char="-"/>
                <a:defRPr sz="1600" baseline="0"/>
              </a:lvl9pPr>
            </a:lstStyle>
            <a:p>
              <a:r>
                <a:rPr lang="en-US" smtClean="0">
                  <a:solidFill>
                    <a:schemeClr val="bg1"/>
                  </a:solidFill>
                  <a:latin typeface="Arial" panose="020B0604020202020204" pitchFamily="34" charset="0"/>
                  <a:cs typeface="Arial" panose="020B0604020202020204" pitchFamily="34" charset="0"/>
                </a:rPr>
                <a:t>MVP1, MVP2 – Đã hoàn thành</a:t>
              </a:r>
              <a:endParaRPr lang="en-US" dirty="0">
                <a:solidFill>
                  <a:schemeClr val="bg1"/>
                </a:solidFill>
                <a:latin typeface="Arial" panose="020B0604020202020204" pitchFamily="34" charset="0"/>
                <a:cs typeface="Arial" panose="020B0604020202020204" pitchFamily="34" charset="0"/>
              </a:endParaRPr>
            </a:p>
          </p:txBody>
        </p:sp>
        <p:sp>
          <p:nvSpPr>
            <p:cNvPr id="158" name="TextBox 157"/>
            <p:cNvSpPr txBox="1"/>
            <p:nvPr/>
          </p:nvSpPr>
          <p:spPr>
            <a:xfrm>
              <a:off x="-96194" y="2371258"/>
              <a:ext cx="5266646" cy="231059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lvl="0" indent="0" defTabSz="895255" fontAlgn="base">
                <a:spcBef>
                  <a:spcPct val="0"/>
                </a:spcBef>
                <a:spcAft>
                  <a:spcPct val="0"/>
                </a:spcAft>
                <a:buClr>
                  <a:schemeClr val="tx2"/>
                </a:buClr>
                <a:defRPr sz="1600" baseline="0"/>
              </a:lvl1pPr>
              <a:lvl2pPr marL="193655" indent="-192067" defTabSz="895255" fontAlgn="base">
                <a:spcBef>
                  <a:spcPct val="0"/>
                </a:spcBef>
                <a:spcAft>
                  <a:spcPct val="0"/>
                </a:spcAft>
                <a:buClr>
                  <a:schemeClr val="tx2"/>
                </a:buClr>
                <a:buSzPct val="125000"/>
                <a:buFont typeface="Arial" charset="0"/>
                <a:buChar char="▪"/>
                <a:defRPr sz="1600" baseline="0"/>
              </a:lvl2pPr>
              <a:lvl3pPr marL="457151" indent="-261910" defTabSz="895255" fontAlgn="base">
                <a:spcBef>
                  <a:spcPct val="0"/>
                </a:spcBef>
                <a:spcAft>
                  <a:spcPct val="0"/>
                </a:spcAft>
                <a:buClr>
                  <a:schemeClr val="tx2"/>
                </a:buClr>
                <a:buSzPct val="120000"/>
                <a:buFont typeface="Arial" charset="0"/>
                <a:buChar char="–"/>
                <a:defRPr sz="1600" baseline="0"/>
              </a:lvl3pPr>
              <a:lvl4pPr marL="614298" indent="-155558" defTabSz="895255" fontAlgn="base">
                <a:spcBef>
                  <a:spcPct val="0"/>
                </a:spcBef>
                <a:spcAft>
                  <a:spcPct val="0"/>
                </a:spcAft>
                <a:buClr>
                  <a:schemeClr val="tx2"/>
                </a:buClr>
                <a:buSzPct val="120000"/>
                <a:buFont typeface="Arial" charset="0"/>
                <a:buChar char="▫"/>
                <a:defRPr sz="1600" baseline="0"/>
              </a:lvl4pPr>
              <a:lvl5pPr marL="749728" indent="-130162" defTabSz="895255" fontAlgn="base">
                <a:spcBef>
                  <a:spcPct val="0"/>
                </a:spcBef>
                <a:spcAft>
                  <a:spcPct val="0"/>
                </a:spcAft>
                <a:buClr>
                  <a:schemeClr val="tx2"/>
                </a:buClr>
                <a:buSzPct val="89000"/>
                <a:buFont typeface="Arial" charset="0"/>
                <a:buChar char="-"/>
                <a:defRPr sz="1600" baseline="0"/>
              </a:lvl5pPr>
              <a:lvl6pPr marL="749728" indent="-130162" defTabSz="895255" fontAlgn="base">
                <a:spcBef>
                  <a:spcPct val="0"/>
                </a:spcBef>
                <a:spcAft>
                  <a:spcPct val="0"/>
                </a:spcAft>
                <a:buClr>
                  <a:schemeClr val="tx2"/>
                </a:buClr>
                <a:buSzPct val="89000"/>
                <a:buFont typeface="Arial" charset="0"/>
                <a:buChar char="-"/>
                <a:defRPr sz="1600" baseline="0"/>
              </a:lvl6pPr>
              <a:lvl7pPr marL="749728" indent="-130162" defTabSz="895255" fontAlgn="base">
                <a:spcBef>
                  <a:spcPct val="0"/>
                </a:spcBef>
                <a:spcAft>
                  <a:spcPct val="0"/>
                </a:spcAft>
                <a:buClr>
                  <a:schemeClr val="tx2"/>
                </a:buClr>
                <a:buSzPct val="89000"/>
                <a:buFont typeface="Arial" charset="0"/>
                <a:buChar char="-"/>
                <a:defRPr sz="1600" baseline="0"/>
              </a:lvl7pPr>
              <a:lvl8pPr marL="749728" indent="-130162" defTabSz="895255" fontAlgn="base">
                <a:spcBef>
                  <a:spcPct val="0"/>
                </a:spcBef>
                <a:spcAft>
                  <a:spcPct val="0"/>
                </a:spcAft>
                <a:buClr>
                  <a:schemeClr val="tx2"/>
                </a:buClr>
                <a:buSzPct val="89000"/>
                <a:buFont typeface="Arial" charset="0"/>
                <a:buChar char="-"/>
                <a:defRPr sz="1600" baseline="0"/>
              </a:lvl8pPr>
              <a:lvl9pPr marL="749728" indent="-130162" defTabSz="895255" fontAlgn="base">
                <a:spcBef>
                  <a:spcPct val="0"/>
                </a:spcBef>
                <a:spcAft>
                  <a:spcPct val="0"/>
                </a:spcAft>
                <a:buClr>
                  <a:schemeClr val="tx2"/>
                </a:buClr>
                <a:buSzPct val="89000"/>
                <a:buFont typeface="Arial" charset="0"/>
                <a:buChar char="-"/>
                <a:defRPr sz="1600" baseline="0"/>
              </a:lvl9pPr>
            </a:lstStyle>
            <a:p>
              <a:pPr marL="63500" lvl="0" indent="-292100" defTabSz="914400" fontAlgn="auto">
                <a:lnSpc>
                  <a:spcPct val="150000"/>
                </a:lnSpc>
                <a:spcBef>
                  <a:spcPts val="0"/>
                </a:spcBef>
                <a:spcAft>
                  <a:spcPts val="0"/>
                </a:spcAft>
                <a:buClrTx/>
                <a:buFont typeface="Wingdings" panose="05000000000000000000" pitchFamily="2" charset="2"/>
                <a:buChar char="ü"/>
              </a:pPr>
              <a:r>
                <a:rPr lang="en-US" sz="1100" smtClean="0">
                  <a:solidFill>
                    <a:prstClr val="black"/>
                  </a:solidFill>
                  <a:latin typeface="Arial" panose="020B0604020202020204" pitchFamily="34" charset="0"/>
                  <a:cs typeface="Arial" panose="020B0604020202020204" pitchFamily="34" charset="0"/>
                  <a:sym typeface="Wingdings" panose="05000000000000000000" pitchFamily="2" charset="2"/>
                </a:rPr>
                <a:t>Hoàn thành tích hợp hành trình</a:t>
              </a:r>
              <a:r>
                <a:rPr lang="vi-VN" sz="1100" smtClean="0">
                  <a:solidFill>
                    <a:prstClr val="black"/>
                  </a:solidFill>
                  <a:latin typeface="Arial" panose="020B0604020202020204" pitchFamily="34" charset="0"/>
                  <a:cs typeface="Arial" panose="020B0604020202020204" pitchFamily="34" charset="0"/>
                  <a:sym typeface="Wingdings" panose="05000000000000000000" pitchFamily="2" charset="2"/>
                </a:rPr>
                <a:t> </a:t>
              </a:r>
              <a:r>
                <a:rPr lang="en-US" sz="1100" smtClean="0">
                  <a:solidFill>
                    <a:prstClr val="black"/>
                  </a:solidFill>
                  <a:latin typeface="Arial" panose="020B0604020202020204" pitchFamily="34" charset="0"/>
                  <a:cs typeface="Arial" panose="020B0604020202020204" pitchFamily="34" charset="0"/>
                  <a:sym typeface="Wingdings" panose="05000000000000000000" pitchFamily="2" charset="2"/>
                </a:rPr>
                <a:t>Mở tài khoản cho KHDN online (DC EB cũ)</a:t>
              </a:r>
            </a:p>
            <a:p>
              <a:pPr marL="63500" lvl="0" indent="-292100" defTabSz="914400" fontAlgn="auto">
                <a:lnSpc>
                  <a:spcPct val="150000"/>
                </a:lnSpc>
                <a:spcBef>
                  <a:spcPts val="0"/>
                </a:spcBef>
                <a:spcAft>
                  <a:spcPts val="0"/>
                </a:spcAft>
                <a:buClrTx/>
                <a:buFont typeface="Wingdings" panose="05000000000000000000" pitchFamily="2" charset="2"/>
                <a:buChar char="ü"/>
              </a:pPr>
              <a:r>
                <a:rPr lang="en-US" sz="1100" smtClean="0">
                  <a:solidFill>
                    <a:prstClr val="black"/>
                  </a:solidFill>
                  <a:latin typeface="Arial" panose="020B0604020202020204" pitchFamily="34" charset="0"/>
                  <a:cs typeface="Arial" panose="020B0604020202020204" pitchFamily="34" charset="0"/>
                  <a:sym typeface="Wingdings" panose="05000000000000000000" pitchFamily="2" charset="2"/>
                </a:rPr>
                <a:t>Hoàn thành tích hợp hành trình ký hợp đồng với CTV RB trên hệ thống Sale App</a:t>
              </a:r>
            </a:p>
            <a:p>
              <a:pPr marL="63500" lvl="0" indent="-292100" defTabSz="914400" fontAlgn="auto">
                <a:lnSpc>
                  <a:spcPct val="150000"/>
                </a:lnSpc>
                <a:spcBef>
                  <a:spcPts val="0"/>
                </a:spcBef>
                <a:spcAft>
                  <a:spcPts val="0"/>
                </a:spcAft>
                <a:buClrTx/>
                <a:buFont typeface="Wingdings" panose="05000000000000000000" pitchFamily="2" charset="2"/>
                <a:buChar char="ü"/>
              </a:pPr>
              <a:r>
                <a:rPr lang="en-US" sz="1100" smtClean="0">
                  <a:solidFill>
                    <a:prstClr val="black"/>
                  </a:solidFill>
                  <a:latin typeface="Arial" panose="020B0604020202020204" pitchFamily="34" charset="0"/>
                  <a:cs typeface="Arial" panose="020B0604020202020204" pitchFamily="34" charset="0"/>
                  <a:sym typeface="Wingdings" panose="05000000000000000000" pitchFamily="2" charset="2"/>
                </a:rPr>
                <a:t>Cá </a:t>
              </a:r>
              <a:r>
                <a:rPr lang="en-US" sz="1100">
                  <a:solidFill>
                    <a:prstClr val="black"/>
                  </a:solidFill>
                  <a:latin typeface="Arial" panose="020B0604020202020204" pitchFamily="34" charset="0"/>
                  <a:cs typeface="Arial" panose="020B0604020202020204" pitchFamily="34" charset="0"/>
                  <a:sym typeface="Wingdings" panose="05000000000000000000" pitchFamily="2" charset="2"/>
                </a:rPr>
                <a:t>nhân đại diện </a:t>
              </a:r>
              <a:r>
                <a:rPr lang="en-US" sz="1100" smtClean="0">
                  <a:solidFill>
                    <a:prstClr val="black"/>
                  </a:solidFill>
                  <a:latin typeface="Arial" panose="020B0604020202020204" pitchFamily="34" charset="0"/>
                  <a:cs typeface="Arial" panose="020B0604020202020204" pitchFamily="34" charset="0"/>
                  <a:sym typeface="Wingdings" panose="05000000000000000000" pitchFamily="2" charset="2"/>
                </a:rPr>
                <a:t>MSB thực hiện ký </a:t>
              </a:r>
              <a:r>
                <a:rPr lang="en-US" sz="1100">
                  <a:solidFill>
                    <a:prstClr val="black"/>
                  </a:solidFill>
                  <a:latin typeface="Arial" panose="020B0604020202020204" pitchFamily="34" charset="0"/>
                  <a:cs typeface="Arial" panose="020B0604020202020204" pitchFamily="34" charset="0"/>
                  <a:sym typeface="Wingdings" panose="05000000000000000000" pitchFamily="2" charset="2"/>
                </a:rPr>
                <a:t>số </a:t>
              </a:r>
              <a:r>
                <a:rPr lang="en-US" sz="1100" smtClean="0">
                  <a:solidFill>
                    <a:prstClr val="black"/>
                  </a:solidFill>
                  <a:latin typeface="Arial" panose="020B0604020202020204" pitchFamily="34" charset="0"/>
                  <a:cs typeface="Arial" panose="020B0604020202020204" pitchFamily="34" charset="0"/>
                  <a:sym typeface="Wingdings" panose="05000000000000000000" pitchFamily="2" charset="2"/>
                </a:rPr>
                <a:t>trên Web </a:t>
              </a:r>
              <a:r>
                <a:rPr lang="en-US" sz="1100">
                  <a:solidFill>
                    <a:prstClr val="black"/>
                  </a:solidFill>
                  <a:latin typeface="Arial" panose="020B0604020202020204" pitchFamily="34" charset="0"/>
                  <a:cs typeface="Arial" panose="020B0604020202020204" pitchFamily="34" charset="0"/>
                  <a:sym typeface="Wingdings" panose="05000000000000000000" pitchFamily="2" charset="2"/>
                </a:rPr>
                <a:t>(Mở tài khoản cho KHDN </a:t>
              </a:r>
              <a:r>
                <a:rPr lang="en-US" sz="1100" smtClean="0">
                  <a:solidFill>
                    <a:prstClr val="black"/>
                  </a:solidFill>
                  <a:latin typeface="Arial" panose="020B0604020202020204" pitchFamily="34" charset="0"/>
                  <a:cs typeface="Arial" panose="020B0604020202020204" pitchFamily="34" charset="0"/>
                  <a:sym typeface="Wingdings" panose="05000000000000000000" pitchFamily="2" charset="2"/>
                </a:rPr>
                <a:t>online,</a:t>
              </a:r>
              <a:r>
                <a:rPr lang="en-US" sz="1100" smtClean="0">
                  <a:latin typeface="Arial (Body)"/>
                  <a:cs typeface="Times New Roman" panose="02020603050405020304" pitchFamily="18" charset="0"/>
                </a:rPr>
                <a:t> </a:t>
              </a:r>
              <a:r>
                <a:rPr lang="en-US" sz="1100">
                  <a:latin typeface="Arial (Body)"/>
                  <a:cs typeface="Times New Roman" panose="02020603050405020304" pitchFamily="18" charset="0"/>
                </a:rPr>
                <a:t>CTV RB trên hệ thống Sale App</a:t>
              </a:r>
              <a:r>
                <a:rPr lang="en-US" sz="1100" smtClean="0">
                  <a:solidFill>
                    <a:prstClr val="black"/>
                  </a:solidFill>
                  <a:latin typeface="Arial" panose="020B0604020202020204" pitchFamily="34" charset="0"/>
                  <a:cs typeface="Arial" panose="020B0604020202020204" pitchFamily="34" charset="0"/>
                  <a:sym typeface="Wingdings" panose="05000000000000000000" pitchFamily="2" charset="2"/>
                </a:rPr>
                <a:t>)</a:t>
              </a:r>
              <a:endParaRPr lang="en-US" sz="1100">
                <a:solidFill>
                  <a:prstClr val="black"/>
                </a:solidFill>
                <a:latin typeface="Arial" panose="020B0604020202020204" pitchFamily="34" charset="0"/>
                <a:cs typeface="Arial" panose="020B0604020202020204" pitchFamily="34" charset="0"/>
                <a:sym typeface="Wingdings" panose="05000000000000000000" pitchFamily="2" charset="2"/>
              </a:endParaRPr>
            </a:p>
            <a:p>
              <a:pPr marL="63500" lvl="0" indent="-292100" defTabSz="914400" fontAlgn="auto">
                <a:lnSpc>
                  <a:spcPct val="150000"/>
                </a:lnSpc>
                <a:spcBef>
                  <a:spcPts val="0"/>
                </a:spcBef>
                <a:spcAft>
                  <a:spcPts val="0"/>
                </a:spcAft>
                <a:buClrTx/>
                <a:buFont typeface="Wingdings" panose="05000000000000000000" pitchFamily="2" charset="2"/>
                <a:buChar char="ü"/>
              </a:pPr>
              <a:r>
                <a:rPr lang="en-US" sz="1100" smtClean="0">
                  <a:solidFill>
                    <a:prstClr val="black"/>
                  </a:solidFill>
                  <a:latin typeface="Arial" panose="020B0604020202020204" pitchFamily="34" charset="0"/>
                  <a:cs typeface="Arial" panose="020B0604020202020204" pitchFamily="34" charset="0"/>
                  <a:sym typeface="Wingdings" panose="05000000000000000000" pitchFamily="2" charset="2"/>
                </a:rPr>
                <a:t>Xây dựng Hệ thống ký số tập trung theo Phương án Quickwin trên hệ thống New OTP</a:t>
              </a:r>
            </a:p>
            <a:p>
              <a:pPr marL="285750" lvl="0" indent="-285750" defTabSz="914400" fontAlgn="auto">
                <a:lnSpc>
                  <a:spcPct val="150000"/>
                </a:lnSpc>
                <a:spcBef>
                  <a:spcPts val="0"/>
                </a:spcBef>
                <a:spcAft>
                  <a:spcPts val="0"/>
                </a:spcAft>
                <a:buClrTx/>
                <a:buFont typeface="Wingdings" panose="05000000000000000000" pitchFamily="2" charset="2"/>
                <a:buChar char="ü"/>
              </a:pPr>
              <a:r>
                <a:rPr lang="en-US" sz="1100">
                  <a:solidFill>
                    <a:prstClr val="black"/>
                  </a:solidFill>
                  <a:latin typeface="Arial" panose="020B0604020202020204" pitchFamily="34" charset="0"/>
                  <a:cs typeface="Arial" panose="020B0604020202020204" pitchFamily="34" charset="0"/>
                  <a:sym typeface="Wingdings" panose="05000000000000000000" pitchFamily="2" charset="2"/>
                </a:rPr>
                <a:t>Tích hợp hành trình Mở tài khoản cho KHDN online (DC EB mới)</a:t>
              </a:r>
            </a:p>
            <a:p>
              <a:pPr marL="285750" lvl="0" indent="-285750" defTabSz="914400" fontAlgn="auto">
                <a:lnSpc>
                  <a:spcPct val="150000"/>
                </a:lnSpc>
                <a:spcBef>
                  <a:spcPts val="0"/>
                </a:spcBef>
                <a:spcAft>
                  <a:spcPts val="0"/>
                </a:spcAft>
                <a:buClrTx/>
                <a:buFont typeface="Wingdings" panose="05000000000000000000" pitchFamily="2" charset="2"/>
                <a:buChar char="ü"/>
              </a:pPr>
              <a:r>
                <a:rPr lang="en-US" sz="1100">
                  <a:solidFill>
                    <a:prstClr val="black"/>
                  </a:solidFill>
                  <a:latin typeface="Arial" panose="020B0604020202020204" pitchFamily="34" charset="0"/>
                  <a:cs typeface="Arial" panose="020B0604020202020204" pitchFamily="34" charset="0"/>
                  <a:sym typeface="Wingdings" panose="05000000000000000000" pitchFamily="2" charset="2"/>
                </a:rPr>
                <a:t>Tích hợp hành trình Tải số phụ (DC EB mới), thực hiện ký số pháp nhân MSB</a:t>
              </a:r>
            </a:p>
            <a:p>
              <a:pPr marL="285750" lvl="0" indent="-285750" defTabSz="914400" fontAlgn="auto">
                <a:lnSpc>
                  <a:spcPct val="150000"/>
                </a:lnSpc>
                <a:spcBef>
                  <a:spcPts val="0"/>
                </a:spcBef>
                <a:spcAft>
                  <a:spcPts val="0"/>
                </a:spcAft>
                <a:buClrTx/>
                <a:buFont typeface="Wingdings" panose="05000000000000000000" pitchFamily="2" charset="2"/>
                <a:buChar char="ü"/>
              </a:pPr>
              <a:r>
                <a:rPr lang="en-US" sz="1100">
                  <a:solidFill>
                    <a:prstClr val="black"/>
                  </a:solidFill>
                  <a:latin typeface="Arial" panose="020B0604020202020204" pitchFamily="34" charset="0"/>
                  <a:cs typeface="Arial" panose="020B0604020202020204" pitchFamily="34" charset="0"/>
                  <a:sym typeface="Wingdings" panose="05000000000000000000" pitchFamily="2" charset="2"/>
                </a:rPr>
                <a:t>Cá nhân đại diện MSB thực hiện ký số trên mobile app (MConnect) (hành trình mở tài khoản cho KHDN online)</a:t>
              </a:r>
            </a:p>
            <a:p>
              <a:pPr marL="285750" lvl="0" indent="-285750" defTabSz="914400" fontAlgn="auto">
                <a:lnSpc>
                  <a:spcPct val="150000"/>
                </a:lnSpc>
                <a:spcBef>
                  <a:spcPts val="0"/>
                </a:spcBef>
                <a:spcAft>
                  <a:spcPts val="0"/>
                </a:spcAft>
                <a:buClrTx/>
                <a:buFont typeface="Wingdings" panose="05000000000000000000" pitchFamily="2" charset="2"/>
                <a:buChar char="ü"/>
              </a:pPr>
              <a:r>
                <a:rPr lang="en-US" sz="1100">
                  <a:solidFill>
                    <a:prstClr val="black"/>
                  </a:solidFill>
                  <a:latin typeface="Arial" panose="020B0604020202020204" pitchFamily="34" charset="0"/>
                  <a:cs typeface="Arial" panose="020B0604020202020204" pitchFamily="34" charset="0"/>
                  <a:sym typeface="Wingdings" panose="05000000000000000000" pitchFamily="2" charset="2"/>
                </a:rPr>
                <a:t>Nâng cấp hệ thống ký số tập trung từ phương án quickwin trên New OTP lên nền tảng ký số tập trung (D-Signature), với các năng lực lõi (</a:t>
              </a:r>
              <a:r>
                <a:rPr lang="en-US" sz="1100" b="1" i="1">
                  <a:solidFill>
                    <a:prstClr val="black"/>
                  </a:solidFill>
                  <a:latin typeface="Arial" panose="020B0604020202020204" pitchFamily="34" charset="0"/>
                  <a:cs typeface="Arial" panose="020B0604020202020204" pitchFamily="34" charset="0"/>
                  <a:sym typeface="Wingdings" panose="05000000000000000000" pitchFamily="2" charset="2"/>
                </a:rPr>
                <a:t>Đã phê duyệt chủ trương từ CIO</a:t>
              </a:r>
              <a:r>
                <a:rPr lang="en-US" sz="1100">
                  <a:solidFill>
                    <a:prstClr val="black"/>
                  </a:solidFill>
                  <a:latin typeface="Arial" panose="020B0604020202020204" pitchFamily="34" charset="0"/>
                  <a:cs typeface="Arial" panose="020B0604020202020204" pitchFamily="34" charset="0"/>
                  <a:sym typeface="Wingdings" panose="05000000000000000000" pitchFamily="2" charset="2"/>
                </a:rPr>
                <a:t>)</a:t>
              </a:r>
            </a:p>
            <a:p>
              <a:pPr marL="63500" lvl="0" indent="-292100" defTabSz="914400" fontAlgn="auto">
                <a:lnSpc>
                  <a:spcPct val="150000"/>
                </a:lnSpc>
                <a:spcBef>
                  <a:spcPts val="0"/>
                </a:spcBef>
                <a:spcAft>
                  <a:spcPts val="0"/>
                </a:spcAft>
                <a:buClrTx/>
                <a:buFont typeface="Wingdings" panose="05000000000000000000" pitchFamily="2" charset="2"/>
                <a:buChar char="ü"/>
              </a:pPr>
              <a:endParaRPr lang="en-US" sz="1100" smtClean="0">
                <a:solidFill>
                  <a:prstClr val="black"/>
                </a:solidFill>
                <a:latin typeface="Arial" panose="020B0604020202020204" pitchFamily="34" charset="0"/>
                <a:cs typeface="Arial" panose="020B0604020202020204" pitchFamily="34" charset="0"/>
                <a:sym typeface="Wingdings" panose="05000000000000000000" pitchFamily="2" charset="2"/>
              </a:endParaRPr>
            </a:p>
          </p:txBody>
        </p:sp>
      </p:grpSp>
      <p:sp>
        <p:nvSpPr>
          <p:cNvPr id="166" name="TextBox 165"/>
          <p:cNvSpPr txBox="1">
            <a:spLocks/>
          </p:cNvSpPr>
          <p:nvPr/>
        </p:nvSpPr>
        <p:spPr>
          <a:xfrm>
            <a:off x="597402" y="3697745"/>
            <a:ext cx="11086781" cy="250780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lvl="0" indent="0" defTabSz="895255" fontAlgn="base">
              <a:spcBef>
                <a:spcPct val="0"/>
              </a:spcBef>
              <a:spcAft>
                <a:spcPct val="0"/>
              </a:spcAft>
              <a:buClr>
                <a:schemeClr val="tx2"/>
              </a:buClr>
              <a:defRPr sz="1600" baseline="0"/>
            </a:lvl1pPr>
            <a:lvl2pPr marL="193655" indent="-192067" defTabSz="895255" fontAlgn="base">
              <a:spcBef>
                <a:spcPct val="0"/>
              </a:spcBef>
              <a:spcAft>
                <a:spcPct val="0"/>
              </a:spcAft>
              <a:buClr>
                <a:schemeClr val="tx2"/>
              </a:buClr>
              <a:buSzPct val="125000"/>
              <a:buFont typeface="Arial" charset="0"/>
              <a:buChar char="▪"/>
              <a:defRPr sz="1600" baseline="0"/>
            </a:lvl2pPr>
            <a:lvl3pPr marL="457151" indent="-261910" defTabSz="895255" fontAlgn="base">
              <a:spcBef>
                <a:spcPct val="0"/>
              </a:spcBef>
              <a:spcAft>
                <a:spcPct val="0"/>
              </a:spcAft>
              <a:buClr>
                <a:schemeClr val="tx2"/>
              </a:buClr>
              <a:buSzPct val="120000"/>
              <a:buFont typeface="Arial" charset="0"/>
              <a:buChar char="–"/>
              <a:defRPr sz="1600" baseline="0"/>
            </a:lvl3pPr>
            <a:lvl4pPr marL="614298" indent="-155558" defTabSz="895255" fontAlgn="base">
              <a:spcBef>
                <a:spcPct val="0"/>
              </a:spcBef>
              <a:spcAft>
                <a:spcPct val="0"/>
              </a:spcAft>
              <a:buClr>
                <a:schemeClr val="tx2"/>
              </a:buClr>
              <a:buSzPct val="120000"/>
              <a:buFont typeface="Arial" charset="0"/>
              <a:buChar char="▫"/>
              <a:defRPr sz="1600" baseline="0"/>
            </a:lvl4pPr>
            <a:lvl5pPr marL="749728" indent="-130162" defTabSz="895255" fontAlgn="base">
              <a:spcBef>
                <a:spcPct val="0"/>
              </a:spcBef>
              <a:spcAft>
                <a:spcPct val="0"/>
              </a:spcAft>
              <a:buClr>
                <a:schemeClr val="tx2"/>
              </a:buClr>
              <a:buSzPct val="89000"/>
              <a:buFont typeface="Arial" charset="0"/>
              <a:buChar char="-"/>
              <a:defRPr sz="1600" baseline="0"/>
            </a:lvl5pPr>
            <a:lvl6pPr marL="749728" indent="-130162" defTabSz="895255" fontAlgn="base">
              <a:spcBef>
                <a:spcPct val="0"/>
              </a:spcBef>
              <a:spcAft>
                <a:spcPct val="0"/>
              </a:spcAft>
              <a:buClr>
                <a:schemeClr val="tx2"/>
              </a:buClr>
              <a:buSzPct val="89000"/>
              <a:buFont typeface="Arial" charset="0"/>
              <a:buChar char="-"/>
              <a:defRPr sz="1600" baseline="0"/>
            </a:lvl6pPr>
            <a:lvl7pPr marL="749728" indent="-130162" defTabSz="895255" fontAlgn="base">
              <a:spcBef>
                <a:spcPct val="0"/>
              </a:spcBef>
              <a:spcAft>
                <a:spcPct val="0"/>
              </a:spcAft>
              <a:buClr>
                <a:schemeClr val="tx2"/>
              </a:buClr>
              <a:buSzPct val="89000"/>
              <a:buFont typeface="Arial" charset="0"/>
              <a:buChar char="-"/>
              <a:defRPr sz="1600" baseline="0"/>
            </a:lvl7pPr>
            <a:lvl8pPr marL="749728" indent="-130162" defTabSz="895255" fontAlgn="base">
              <a:spcBef>
                <a:spcPct val="0"/>
              </a:spcBef>
              <a:spcAft>
                <a:spcPct val="0"/>
              </a:spcAft>
              <a:buClr>
                <a:schemeClr val="tx2"/>
              </a:buClr>
              <a:buSzPct val="89000"/>
              <a:buFont typeface="Arial" charset="0"/>
              <a:buChar char="-"/>
              <a:defRPr sz="1600" baseline="0"/>
            </a:lvl8pPr>
            <a:lvl9pPr marL="749728" indent="-130162" defTabSz="895255" fontAlgn="base">
              <a:spcBef>
                <a:spcPct val="0"/>
              </a:spcBef>
              <a:spcAft>
                <a:spcPct val="0"/>
              </a:spcAft>
              <a:buClr>
                <a:schemeClr val="tx2"/>
              </a:buClr>
              <a:buSzPct val="89000"/>
              <a:buFont typeface="Arial" charset="0"/>
              <a:buChar char="-"/>
              <a:defRPr sz="1600" baseline="0"/>
            </a:lvl9pPr>
          </a:lstStyle>
          <a:p>
            <a:pPr marL="171450" indent="-171450">
              <a:lnSpc>
                <a:spcPct val="150000"/>
              </a:lnSpc>
              <a:buFont typeface="Wingdings" panose="05000000000000000000" pitchFamily="2" charset="2"/>
              <a:buChar char="Ø"/>
            </a:pPr>
            <a:r>
              <a:rPr lang="vi-VN" sz="1100"/>
              <a:t>DS phân quyền: Người dùng, hệ thống sử dụng dịch vụ CKS</a:t>
            </a:r>
          </a:p>
          <a:p>
            <a:pPr marL="171450" indent="-171450">
              <a:lnSpc>
                <a:spcPct val="150000"/>
              </a:lnSpc>
              <a:buFont typeface="Wingdings" panose="05000000000000000000" pitchFamily="2" charset="2"/>
              <a:buChar char="Ø"/>
            </a:pPr>
            <a:r>
              <a:rPr lang="vi-VN" sz="1100"/>
              <a:t>Quản trị dịch vụ CKS : CTS người dùng, client</a:t>
            </a:r>
          </a:p>
          <a:p>
            <a:pPr marL="171450" indent="-171450">
              <a:lnSpc>
                <a:spcPct val="150000"/>
              </a:lnSpc>
              <a:buFont typeface="Wingdings" panose="05000000000000000000" pitchFamily="2" charset="2"/>
              <a:buChar char="Ø"/>
            </a:pPr>
            <a:r>
              <a:rPr lang="vi-VN" sz="1100"/>
              <a:t>Quản trị dịch vụ CKS : Quản trị lịch sử, NCC CKS</a:t>
            </a:r>
          </a:p>
          <a:p>
            <a:pPr marL="171450" indent="-171450">
              <a:lnSpc>
                <a:spcPct val="150000"/>
              </a:lnSpc>
              <a:buFont typeface="Wingdings" panose="05000000000000000000" pitchFamily="2" charset="2"/>
              <a:buChar char="Ø"/>
            </a:pPr>
            <a:r>
              <a:rPr lang="vi-VN" sz="1100"/>
              <a:t>DS Web Portal Dashboard thống kê</a:t>
            </a:r>
          </a:p>
          <a:p>
            <a:pPr marL="171450" indent="-171450">
              <a:lnSpc>
                <a:spcPct val="150000"/>
              </a:lnSpc>
              <a:buFont typeface="Wingdings" panose="05000000000000000000" pitchFamily="2" charset="2"/>
              <a:buChar char="Ø"/>
            </a:pPr>
            <a:r>
              <a:rPr lang="vi-VN" sz="1100"/>
              <a:t>Web Portal - Ký file đơn lẻ, theo lô</a:t>
            </a:r>
          </a:p>
          <a:p>
            <a:pPr marL="171450" indent="-171450">
              <a:lnSpc>
                <a:spcPct val="150000"/>
              </a:lnSpc>
              <a:buFont typeface="Wingdings" panose="05000000000000000000" pitchFamily="2" charset="2"/>
              <a:buChar char="Ø"/>
            </a:pPr>
            <a:r>
              <a:rPr lang="vi-VN" sz="1100"/>
              <a:t>Quản lý chất lượng - Monitoring dịch vụ NCC CKS</a:t>
            </a:r>
          </a:p>
          <a:p>
            <a:pPr marL="171450" indent="-171450">
              <a:lnSpc>
                <a:spcPct val="150000"/>
              </a:lnSpc>
              <a:buFont typeface="Wingdings" panose="05000000000000000000" pitchFamily="2" charset="2"/>
              <a:buChar char="Ø"/>
            </a:pPr>
            <a:r>
              <a:rPr lang="vi-VN" sz="1100"/>
              <a:t>KHDN ký CKS có sẵn của VNPT</a:t>
            </a:r>
          </a:p>
          <a:p>
            <a:pPr marL="171450" indent="-171450">
              <a:lnSpc>
                <a:spcPct val="150000"/>
              </a:lnSpc>
              <a:buFont typeface="Wingdings" panose="05000000000000000000" pitchFamily="2" charset="2"/>
              <a:buChar char="Ø"/>
            </a:pPr>
            <a:r>
              <a:rPr lang="vi-VN" sz="1100"/>
              <a:t>Web Portal - Chọn vị trí ký khi ký đơn lẻ, theo lô</a:t>
            </a:r>
          </a:p>
          <a:p>
            <a:pPr marL="171450" indent="-171450">
              <a:lnSpc>
                <a:spcPct val="150000"/>
              </a:lnSpc>
              <a:buFont typeface="Wingdings" panose="05000000000000000000" pitchFamily="2" charset="2"/>
              <a:buChar char="Ø"/>
            </a:pPr>
            <a:r>
              <a:rPr lang="vi-VN" sz="1100"/>
              <a:t>Web Portal - Verify chữ ký số</a:t>
            </a:r>
          </a:p>
          <a:p>
            <a:pPr marL="171450" indent="-171450">
              <a:lnSpc>
                <a:spcPct val="150000"/>
              </a:lnSpc>
              <a:buFont typeface="Wingdings" panose="05000000000000000000" pitchFamily="2" charset="2"/>
              <a:buChar char="Ø"/>
            </a:pPr>
            <a:r>
              <a:rPr lang="vi-VN" sz="1100"/>
              <a:t>Phản hồi kết quả ký số cho HTVT qua Kafka</a:t>
            </a:r>
          </a:p>
        </p:txBody>
      </p:sp>
    </p:spTree>
    <p:extLst>
      <p:ext uri="{BB962C8B-B14F-4D97-AF65-F5344CB8AC3E}">
        <p14:creationId xmlns:p14="http://schemas.microsoft.com/office/powerpoint/2010/main" val="42761188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Google Shape;1405;p48">
            <a:extLst>
              <a:ext uri="{FF2B5EF4-FFF2-40B4-BE49-F238E27FC236}">
                <a16:creationId xmlns:a16="http://schemas.microsoft.com/office/drawing/2014/main" id="{095AB5BF-5089-854A-A575-89811E501E2D}"/>
              </a:ext>
            </a:extLst>
          </p:cNvPr>
          <p:cNvSpPr/>
          <p:nvPr/>
        </p:nvSpPr>
        <p:spPr>
          <a:xfrm rot="10800000">
            <a:off x="298043" y="9334"/>
            <a:ext cx="297504" cy="617816"/>
          </a:xfrm>
          <a:custGeom>
            <a:avLst/>
            <a:gdLst/>
            <a:ahLst/>
            <a:cxnLst/>
            <a:rect l="l" t="t" r="r" b="b"/>
            <a:pathLst>
              <a:path w="288" h="868" extrusionOk="0">
                <a:moveTo>
                  <a:pt x="144" y="0"/>
                </a:moveTo>
                <a:cubicBezTo>
                  <a:pt x="64" y="0"/>
                  <a:pt x="0" y="64"/>
                  <a:pt x="0" y="144"/>
                </a:cubicBezTo>
                <a:cubicBezTo>
                  <a:pt x="0" y="868"/>
                  <a:pt x="0" y="868"/>
                  <a:pt x="0" y="868"/>
                </a:cubicBezTo>
                <a:cubicBezTo>
                  <a:pt x="288" y="868"/>
                  <a:pt x="288" y="868"/>
                  <a:pt x="288" y="868"/>
                </a:cubicBezTo>
                <a:cubicBezTo>
                  <a:pt x="288" y="144"/>
                  <a:pt x="288" y="144"/>
                  <a:pt x="288" y="144"/>
                </a:cubicBezTo>
                <a:cubicBezTo>
                  <a:pt x="288" y="64"/>
                  <a:pt x="223" y="0"/>
                  <a:pt x="144" y="0"/>
                </a:cubicBezTo>
                <a:close/>
              </a:path>
            </a:pathLst>
          </a:custGeom>
          <a:gradFill flip="none" rotWithShape="1">
            <a:gsLst>
              <a:gs pos="0">
                <a:srgbClr val="FD4D00">
                  <a:shade val="30000"/>
                  <a:satMod val="115000"/>
                </a:srgbClr>
              </a:gs>
              <a:gs pos="44000">
                <a:srgbClr val="FD4D00">
                  <a:shade val="67500"/>
                  <a:satMod val="115000"/>
                </a:srgbClr>
              </a:gs>
              <a:gs pos="100000">
                <a:srgbClr val="FD9E00"/>
              </a:gs>
            </a:gsLst>
            <a:lin ang="16200000" scaled="1"/>
            <a:tileRect/>
          </a:gradFill>
          <a:ln>
            <a:noFill/>
          </a:ln>
        </p:spPr>
        <p:txBody>
          <a:bodyPr spcFirstLastPara="1" wrap="square" lIns="68575" tIns="34275" rIns="68575" bIns="3427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300" b="1"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sym typeface="Calibri"/>
            </a:endParaRPr>
          </a:p>
        </p:txBody>
      </p:sp>
      <p:sp>
        <p:nvSpPr>
          <p:cNvPr id="130" name="Title 2">
            <a:extLst>
              <a:ext uri="{FF2B5EF4-FFF2-40B4-BE49-F238E27FC236}">
                <a16:creationId xmlns:a16="http://schemas.microsoft.com/office/drawing/2014/main" id="{7E83E73A-45A5-49A4-2999-3F1BAC0ADBDD}"/>
              </a:ext>
            </a:extLst>
          </p:cNvPr>
          <p:cNvSpPr txBox="1">
            <a:spLocks/>
          </p:cNvSpPr>
          <p:nvPr/>
        </p:nvSpPr>
        <p:spPr>
          <a:xfrm>
            <a:off x="772415" y="29875"/>
            <a:ext cx="8121414" cy="596161"/>
          </a:xfrm>
          <a:prstGeom prst="rect">
            <a:avLst/>
          </a:prstGeom>
        </p:spPr>
        <p:txBody>
          <a:bodyPr vert="horz" lIns="91440" tIns="45720" rIns="91440" bIns="45720" rtlCol="0" anchor="ctr">
            <a:normAutofit/>
          </a:bodyPr>
          <a:lstStyle>
            <a:defPPr>
              <a:defRPr lang="en-US"/>
            </a:defPPr>
            <a:lvl1pPr lvl="0">
              <a:defRPr sz="3200" b="1">
                <a:solidFill>
                  <a:srgbClr val="E67014"/>
                </a:solidFill>
              </a:defRPr>
            </a:lvl1pPr>
          </a:lstStyle>
          <a:p>
            <a:r>
              <a:rPr lang="en-US" smtClean="0">
                <a:sym typeface="Trebuchet MS" panose="020B0603020202020204" pitchFamily="34" charset="0"/>
              </a:rPr>
              <a:t>Chức năng thay đổi</a:t>
            </a:r>
            <a:endParaRPr lang="en-US" dirty="0">
              <a:sym typeface="Trebuchet MS" panose="020B0603020202020204" pitchFamily="34" charset="0"/>
            </a:endParaRPr>
          </a:p>
        </p:txBody>
      </p:sp>
      <p:graphicFrame>
        <p:nvGraphicFramePr>
          <p:cNvPr id="12" name="Table 11"/>
          <p:cNvGraphicFramePr>
            <a:graphicFrameLocks noGrp="1"/>
          </p:cNvGraphicFramePr>
          <p:nvPr>
            <p:extLst>
              <p:ext uri="{D42A27DB-BD31-4B8C-83A1-F6EECF244321}">
                <p14:modId xmlns:p14="http://schemas.microsoft.com/office/powerpoint/2010/main" val="227941873"/>
              </p:ext>
            </p:extLst>
          </p:nvPr>
        </p:nvGraphicFramePr>
        <p:xfrm>
          <a:off x="298042" y="700819"/>
          <a:ext cx="11223398" cy="5943600"/>
        </p:xfrm>
        <a:graphic>
          <a:graphicData uri="http://schemas.openxmlformats.org/drawingml/2006/table">
            <a:tbl>
              <a:tblPr firstRow="1" bandRow="1">
                <a:tableStyleId>{5C22544A-7EE6-4342-B048-85BDC9FD1C3A}</a:tableStyleId>
              </a:tblPr>
              <a:tblGrid>
                <a:gridCol w="421270">
                  <a:extLst>
                    <a:ext uri="{9D8B030D-6E8A-4147-A177-3AD203B41FA5}">
                      <a16:colId xmlns:a16="http://schemas.microsoft.com/office/drawing/2014/main" val="1984670817"/>
                    </a:ext>
                  </a:extLst>
                </a:gridCol>
                <a:gridCol w="2821654">
                  <a:extLst>
                    <a:ext uri="{9D8B030D-6E8A-4147-A177-3AD203B41FA5}">
                      <a16:colId xmlns:a16="http://schemas.microsoft.com/office/drawing/2014/main" val="3303426964"/>
                    </a:ext>
                  </a:extLst>
                </a:gridCol>
                <a:gridCol w="3998508">
                  <a:extLst>
                    <a:ext uri="{9D8B030D-6E8A-4147-A177-3AD203B41FA5}">
                      <a16:colId xmlns:a16="http://schemas.microsoft.com/office/drawing/2014/main" val="857592515"/>
                    </a:ext>
                  </a:extLst>
                </a:gridCol>
                <a:gridCol w="3981966">
                  <a:extLst>
                    <a:ext uri="{9D8B030D-6E8A-4147-A177-3AD203B41FA5}">
                      <a16:colId xmlns:a16="http://schemas.microsoft.com/office/drawing/2014/main" val="3219222278"/>
                    </a:ext>
                  </a:extLst>
                </a:gridCol>
              </a:tblGrid>
              <a:tr h="30522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600" smtClean="0">
                          <a:latin typeface="Arial (Body)"/>
                        </a:rPr>
                        <a:t>#</a:t>
                      </a:r>
                      <a:endParaRPr lang="en-US" sz="1600" dirty="0">
                        <a:latin typeface="Arial (Body)"/>
                      </a:endParaRPr>
                    </a:p>
                  </a:txBody>
                  <a:tcPr anchor="ct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600" smtClean="0">
                          <a:latin typeface="Arial (Body)"/>
                        </a:rPr>
                        <a:t>Yêu</a:t>
                      </a:r>
                      <a:r>
                        <a:rPr lang="en-US" sz="1600" baseline="0" smtClean="0">
                          <a:latin typeface="Arial (Body)"/>
                        </a:rPr>
                        <a:t> cầu</a:t>
                      </a:r>
                      <a:endParaRPr lang="en-US" sz="1600" dirty="0">
                        <a:latin typeface="Arial (Body)"/>
                      </a:endParaRPr>
                    </a:p>
                  </a:txBody>
                  <a:tcPr anchor="ct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600" smtClean="0">
                          <a:latin typeface="Arial (Body)"/>
                        </a:rPr>
                        <a:t>Hiện</a:t>
                      </a:r>
                      <a:r>
                        <a:rPr lang="en-US" sz="1600" baseline="0" smtClean="0">
                          <a:latin typeface="Arial (Body)"/>
                        </a:rPr>
                        <a:t> trạng</a:t>
                      </a:r>
                      <a:endParaRPr lang="en-US" sz="1600" dirty="0">
                        <a:latin typeface="Arial (Body)"/>
                      </a:endParaRPr>
                    </a:p>
                  </a:txBody>
                  <a:tcPr anchor="ct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600" smtClean="0">
                          <a:latin typeface="Arial (Body)"/>
                        </a:rPr>
                        <a:t>Điều</a:t>
                      </a:r>
                      <a:r>
                        <a:rPr lang="en-US" sz="1600" baseline="0" smtClean="0">
                          <a:latin typeface="Arial (Body)"/>
                        </a:rPr>
                        <a:t> chỉnh</a:t>
                      </a:r>
                      <a:endParaRPr lang="en-US" sz="1600" dirty="0">
                        <a:latin typeface="Arial (Body)"/>
                      </a:endParaRPr>
                    </a:p>
                  </a:txBody>
                  <a:tcPr anchor="ctr"/>
                </a:tc>
                <a:extLst>
                  <a:ext uri="{0D108BD9-81ED-4DB2-BD59-A6C34878D82A}">
                    <a16:rowId xmlns:a16="http://schemas.microsoft.com/office/drawing/2014/main" val="3531428717"/>
                  </a:ext>
                </a:extLst>
              </a:tr>
              <a:tr h="305228">
                <a:tc>
                  <a:txBody>
                    <a:bodyPr/>
                    <a:lstStyle/>
                    <a:p>
                      <a:pPr marL="0" marR="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u="none" strike="noStrike" kern="1200" cap="none" normalizeH="0" baseline="0" smtClean="0">
                          <a:ln>
                            <a:noFill/>
                          </a:ln>
                          <a:effectLst/>
                          <a:latin typeface="Arial (Body)"/>
                        </a:rPr>
                        <a:t>1</a:t>
                      </a:r>
                      <a:endParaRPr kumimoji="0" lang="en-US" sz="1400" u="none" strike="noStrike" kern="1200" cap="none" normalizeH="0" baseline="0" dirty="0">
                        <a:ln>
                          <a:noFill/>
                        </a:ln>
                        <a:solidFill>
                          <a:schemeClr val="dk1"/>
                        </a:solidFill>
                        <a:effectLst/>
                        <a:latin typeface="Arial (Body)"/>
                        <a:ea typeface="Arial Unicode MS"/>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1400" i="0" u="none" strike="noStrike" kern="1200" cap="none" normalizeH="0" baseline="0" smtClean="0">
                          <a:ln>
                            <a:noFill/>
                          </a:ln>
                          <a:solidFill>
                            <a:schemeClr val="tx1">
                              <a:lumMod val="95000"/>
                              <a:lumOff val="5000"/>
                            </a:schemeClr>
                          </a:solidFill>
                          <a:effectLst/>
                          <a:latin typeface="Arial (Body)"/>
                          <a:ea typeface="Arial Unicode MS"/>
                          <a:cs typeface="Arial" panose="020B0604020202020204" pitchFamily="34" charset="0"/>
                        </a:rPr>
                        <a:t>DS phân quyền: Người dùng, hệ thống sử dụng dịch vụ CKS</a:t>
                      </a:r>
                      <a:endParaRPr kumimoji="0" lang="en-US" sz="1400" i="0" u="none" strike="noStrike" kern="1200" cap="none" normalizeH="0" baseline="0" smtClean="0">
                        <a:ln>
                          <a:noFill/>
                        </a:ln>
                        <a:solidFill>
                          <a:schemeClr val="tx1">
                            <a:lumMod val="95000"/>
                            <a:lumOff val="5000"/>
                          </a:schemeClr>
                        </a:solidFill>
                        <a:effectLst/>
                        <a:latin typeface="Arial (Body)"/>
                        <a:ea typeface="Arial Unicode MS"/>
                        <a:cs typeface="Arial" panose="020B0604020202020204" pitchFamily="34" charset="0"/>
                      </a:endParaRPr>
                    </a:p>
                  </a:txBody>
                  <a:tcPr anchor="ctr"/>
                </a:tc>
                <a:tc>
                  <a:txBody>
                    <a:bodyPr/>
                    <a:lstStyle/>
                    <a:p>
                      <a:pPr algn="just"/>
                      <a:r>
                        <a:rPr lang="en-US" sz="1400" i="0" smtClean="0">
                          <a:latin typeface="Arial (Body)"/>
                          <a:cs typeface="Arial" panose="020B0604020202020204" pitchFamily="34" charset="0"/>
                        </a:rPr>
                        <a:t>Chưa</a:t>
                      </a:r>
                      <a:r>
                        <a:rPr lang="en-US" sz="1400" i="0" baseline="0" smtClean="0">
                          <a:latin typeface="Arial (Body)"/>
                          <a:cs typeface="Arial" panose="020B0604020202020204" pitchFamily="34" charset="0"/>
                        </a:rPr>
                        <a:t> có hệ thống quản trị, đang thực hiện cấu hình trực tiếp trong db</a:t>
                      </a:r>
                      <a:endParaRPr lang="en-US" sz="1400" i="0" dirty="0">
                        <a:latin typeface="Arial (Body)"/>
                        <a:cs typeface="Arial" panose="020B0604020202020204" pitchFamily="34" charset="0"/>
                      </a:endParaRPr>
                    </a:p>
                  </a:txBody>
                  <a:tcPr anchor="ctr"/>
                </a:tc>
                <a:tc>
                  <a:txBody>
                    <a:bodyPr/>
                    <a:lstStyle/>
                    <a:p>
                      <a:pPr algn="just"/>
                      <a:r>
                        <a:rPr lang="en-US" sz="1400" i="0" smtClean="0">
                          <a:latin typeface="Arial (Body)"/>
                          <a:cs typeface="Arial" panose="020B0604020202020204" pitchFamily="34" charset="0"/>
                        </a:rPr>
                        <a:t>Xây</a:t>
                      </a:r>
                      <a:r>
                        <a:rPr lang="en-US" sz="1400" i="0" baseline="0" smtClean="0">
                          <a:latin typeface="Arial (Body)"/>
                          <a:cs typeface="Arial" panose="020B0604020202020204" pitchFamily="34" charset="0"/>
                        </a:rPr>
                        <a:t> dựng giao diện quản trị cho Admin để cấu hình phân quyền cho người dùng, HTVT</a:t>
                      </a:r>
                      <a:endParaRPr lang="en-US" sz="1400" i="0">
                        <a:latin typeface="Arial (Body)"/>
                        <a:cs typeface="Arial" panose="020B0604020202020204" pitchFamily="34" charset="0"/>
                      </a:endParaRPr>
                    </a:p>
                  </a:txBody>
                  <a:tcPr anchor="ctr"/>
                </a:tc>
                <a:extLst>
                  <a:ext uri="{0D108BD9-81ED-4DB2-BD59-A6C34878D82A}">
                    <a16:rowId xmlns:a16="http://schemas.microsoft.com/office/drawing/2014/main" val="83204792"/>
                  </a:ext>
                </a:extLst>
              </a:tr>
              <a:tr h="30522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u="none" strike="noStrike" kern="1200" cap="none" normalizeH="0" baseline="0" smtClean="0">
                          <a:ln>
                            <a:noFill/>
                          </a:ln>
                          <a:effectLst/>
                          <a:latin typeface="Arial (Body)"/>
                        </a:rPr>
                        <a:t>2</a:t>
                      </a:r>
                      <a:endParaRPr kumimoji="0" lang="en-US" sz="1400" u="none" strike="noStrike" kern="1200" cap="none" normalizeH="0" baseline="0" dirty="0">
                        <a:ln>
                          <a:noFill/>
                        </a:ln>
                        <a:solidFill>
                          <a:schemeClr val="tx1">
                            <a:lumMod val="95000"/>
                            <a:lumOff val="5000"/>
                          </a:schemeClr>
                        </a:solidFill>
                        <a:effectLst/>
                        <a:latin typeface="Arial (Body)"/>
                        <a:ea typeface="Arial Unicode MS"/>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1400" i="0" u="none" strike="noStrike" kern="1200" cap="none" normalizeH="0" baseline="0" smtClean="0">
                          <a:ln>
                            <a:noFill/>
                          </a:ln>
                          <a:solidFill>
                            <a:schemeClr val="tx1">
                              <a:lumMod val="95000"/>
                              <a:lumOff val="5000"/>
                            </a:schemeClr>
                          </a:solidFill>
                          <a:effectLst/>
                          <a:latin typeface="Arial (Body)"/>
                          <a:ea typeface="Arial Unicode MS"/>
                          <a:cs typeface="Arial" panose="020B0604020202020204" pitchFamily="34" charset="0"/>
                        </a:rPr>
                        <a:t>Quản trị dịch vụ CKS</a:t>
                      </a:r>
                      <a:r>
                        <a:rPr kumimoji="0" lang="en-US" sz="1400" i="0" u="none" strike="noStrike" kern="1200" cap="none" normalizeH="0" baseline="0" smtClean="0">
                          <a:ln>
                            <a:noFill/>
                          </a:ln>
                          <a:solidFill>
                            <a:schemeClr val="tx1">
                              <a:lumMod val="95000"/>
                              <a:lumOff val="5000"/>
                            </a:schemeClr>
                          </a:solidFill>
                          <a:effectLst/>
                          <a:latin typeface="Arial (Body)"/>
                          <a:ea typeface="Arial Unicode MS"/>
                          <a:cs typeface="Arial" panose="020B0604020202020204" pitchFamily="34" charset="0"/>
                        </a:rPr>
                        <a:t>:</a:t>
                      </a:r>
                      <a:r>
                        <a:rPr kumimoji="0" lang="vi-VN" sz="1400" i="0" u="none" strike="noStrike" kern="1200" cap="none" normalizeH="0" baseline="0" smtClean="0">
                          <a:ln>
                            <a:noFill/>
                          </a:ln>
                          <a:solidFill>
                            <a:schemeClr val="tx1">
                              <a:lumMod val="95000"/>
                              <a:lumOff val="5000"/>
                            </a:schemeClr>
                          </a:solidFill>
                          <a:effectLst/>
                          <a:latin typeface="Arial (Body)"/>
                          <a:ea typeface="Arial Unicode MS"/>
                          <a:cs typeface="Arial" panose="020B0604020202020204" pitchFamily="34" charset="0"/>
                        </a:rPr>
                        <a:t> CTS người dùng, client</a:t>
                      </a:r>
                      <a:endParaRPr kumimoji="0" lang="en-US" sz="1400" i="0" u="none" strike="noStrike" kern="1200" cap="none" normalizeH="0" baseline="0" smtClean="0">
                        <a:ln>
                          <a:noFill/>
                        </a:ln>
                        <a:solidFill>
                          <a:schemeClr val="tx1">
                            <a:lumMod val="95000"/>
                            <a:lumOff val="5000"/>
                          </a:schemeClr>
                        </a:solidFill>
                        <a:effectLst/>
                        <a:latin typeface="Arial (Body)"/>
                        <a:ea typeface="Arial Unicode MS"/>
                        <a:cs typeface="Arial" panose="020B0604020202020204" pitchFamily="34" charset="0"/>
                      </a:endParaRPr>
                    </a:p>
                  </a:txBody>
                  <a:tcPr anchor="ctr"/>
                </a:tc>
                <a:tc>
                  <a:txBody>
                    <a:bodyPr/>
                    <a:lstStyle/>
                    <a:p>
                      <a:pPr algn="just"/>
                      <a:r>
                        <a:rPr lang="en-US" sz="1400" i="0" smtClean="0">
                          <a:latin typeface="Arial (Body)"/>
                          <a:cs typeface="Arial" panose="020B0604020202020204" pitchFamily="34" charset="0"/>
                        </a:rPr>
                        <a:t>Chưa</a:t>
                      </a:r>
                      <a:r>
                        <a:rPr lang="en-US" sz="1400" i="0" baseline="0" smtClean="0">
                          <a:latin typeface="Arial (Body)"/>
                          <a:cs typeface="Arial" panose="020B0604020202020204" pitchFamily="34" charset="0"/>
                        </a:rPr>
                        <a:t> có hệ thống quản trị, đang thực hiện cấu hình trực tiếp trong db</a:t>
                      </a:r>
                      <a:endParaRPr lang="en-US" sz="1400" i="0" dirty="0">
                        <a:latin typeface="Arial (Body)"/>
                        <a:cs typeface="Arial" panose="020B0604020202020204" pitchFamily="34" charset="0"/>
                      </a:endParaRPr>
                    </a:p>
                  </a:txBody>
                  <a:tcPr anchor="ctr"/>
                </a:tc>
                <a:tc>
                  <a:txBody>
                    <a:bodyPr/>
                    <a:lstStyle/>
                    <a:p>
                      <a:pPr algn="just"/>
                      <a:r>
                        <a:rPr lang="en-US" sz="1400" i="0" smtClean="0">
                          <a:latin typeface="Arial (Body)"/>
                          <a:cs typeface="Arial" panose="020B0604020202020204" pitchFamily="34" charset="0"/>
                        </a:rPr>
                        <a:t>Xây</a:t>
                      </a:r>
                      <a:r>
                        <a:rPr lang="en-US" sz="1400" i="0" baseline="0" smtClean="0">
                          <a:latin typeface="Arial (Body)"/>
                          <a:cs typeface="Arial" panose="020B0604020202020204" pitchFamily="34" charset="0"/>
                        </a:rPr>
                        <a:t> dựng giao diện quản trị cho Admin để cấu hình CTS cho người dùng, HTVT</a:t>
                      </a:r>
                      <a:endParaRPr lang="en-US" sz="1400" i="0">
                        <a:latin typeface="Arial (Body)"/>
                        <a:cs typeface="Arial" panose="020B0604020202020204" pitchFamily="34" charset="0"/>
                      </a:endParaRPr>
                    </a:p>
                  </a:txBody>
                  <a:tcPr anchor="ctr"/>
                </a:tc>
                <a:extLst>
                  <a:ext uri="{0D108BD9-81ED-4DB2-BD59-A6C34878D82A}">
                    <a16:rowId xmlns:a16="http://schemas.microsoft.com/office/drawing/2014/main" val="4181638331"/>
                  </a:ext>
                </a:extLst>
              </a:tr>
              <a:tr h="30522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u="none" strike="noStrike" kern="1200" cap="none" normalizeH="0" baseline="0" smtClean="0">
                          <a:ln>
                            <a:noFill/>
                          </a:ln>
                          <a:effectLst/>
                          <a:latin typeface="Arial (Body)"/>
                        </a:rPr>
                        <a:t>3</a:t>
                      </a:r>
                      <a:endParaRPr kumimoji="0" lang="en-US" sz="1400" u="none" strike="noStrike" kern="1200" cap="none" normalizeH="0" baseline="0" dirty="0">
                        <a:ln>
                          <a:noFill/>
                        </a:ln>
                        <a:solidFill>
                          <a:schemeClr val="tx1">
                            <a:lumMod val="95000"/>
                            <a:lumOff val="5000"/>
                          </a:schemeClr>
                        </a:solidFill>
                        <a:effectLst/>
                        <a:latin typeface="Arial (Body)"/>
                        <a:ea typeface="Arial Unicode MS"/>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i="0" u="none" strike="noStrike" kern="1200" cap="none" normalizeH="0" baseline="0" smtClean="0">
                          <a:ln>
                            <a:noFill/>
                          </a:ln>
                          <a:solidFill>
                            <a:schemeClr val="tx1">
                              <a:lumMod val="95000"/>
                              <a:lumOff val="5000"/>
                            </a:schemeClr>
                          </a:solidFill>
                          <a:effectLst/>
                          <a:latin typeface="Arial (Body)"/>
                          <a:ea typeface="Arial Unicode MS"/>
                          <a:cs typeface="Arial" panose="020B0604020202020204" pitchFamily="34" charset="0"/>
                        </a:rPr>
                        <a:t>Quản trị dịch vụ CKS : Quản trị lịch sử, NCC CKS</a:t>
                      </a:r>
                    </a:p>
                  </a:txBody>
                  <a:tcPr anchor="ctr"/>
                </a:tc>
                <a:tc>
                  <a:txBody>
                    <a:bodyPr/>
                    <a:lstStyle/>
                    <a:p>
                      <a:pPr algn="just"/>
                      <a:r>
                        <a:rPr lang="en-US" sz="1400" i="0" smtClean="0">
                          <a:latin typeface="Arial (Body)"/>
                          <a:cs typeface="Arial" panose="020B0604020202020204" pitchFamily="34" charset="0"/>
                        </a:rPr>
                        <a:t>Chưa</a:t>
                      </a:r>
                      <a:r>
                        <a:rPr lang="en-US" sz="1400" i="0" baseline="0" smtClean="0">
                          <a:latin typeface="Arial (Body)"/>
                          <a:cs typeface="Arial" panose="020B0604020202020204" pitchFamily="34" charset="0"/>
                        </a:rPr>
                        <a:t> có hệ thống quản trị, đang thực hiện cấu hình trực tiếp trong db</a:t>
                      </a:r>
                      <a:endParaRPr lang="en-US" sz="1400" i="0" dirty="0">
                        <a:latin typeface="Arial (Body)"/>
                        <a:cs typeface="Arial" panose="020B0604020202020204" pitchFamily="34" charset="0"/>
                      </a:endParaRPr>
                    </a:p>
                  </a:txBody>
                  <a:tcPr anchor="ctr"/>
                </a:tc>
                <a:tc>
                  <a:txBody>
                    <a:bodyPr/>
                    <a:lstStyle/>
                    <a:p>
                      <a:pPr algn="just"/>
                      <a:r>
                        <a:rPr lang="en-US" sz="1400" i="0" smtClean="0">
                          <a:latin typeface="Arial (Body)"/>
                          <a:cs typeface="Arial" panose="020B0604020202020204" pitchFamily="34" charset="0"/>
                        </a:rPr>
                        <a:t>Xây</a:t>
                      </a:r>
                      <a:r>
                        <a:rPr lang="en-US" sz="1400" i="0" baseline="0" smtClean="0">
                          <a:latin typeface="Arial (Body)"/>
                          <a:cs typeface="Arial" panose="020B0604020202020204" pitchFamily="34" charset="0"/>
                        </a:rPr>
                        <a:t> dựng giao diện quản trị cho Admin để xem lịch sử NCC (VNPT, MISA)</a:t>
                      </a:r>
                      <a:endParaRPr lang="en-US" sz="1400" i="0">
                        <a:latin typeface="Arial (Body)"/>
                        <a:cs typeface="Arial" panose="020B0604020202020204" pitchFamily="34" charset="0"/>
                      </a:endParaRPr>
                    </a:p>
                  </a:txBody>
                  <a:tcPr anchor="ctr"/>
                </a:tc>
                <a:extLst>
                  <a:ext uri="{0D108BD9-81ED-4DB2-BD59-A6C34878D82A}">
                    <a16:rowId xmlns:a16="http://schemas.microsoft.com/office/drawing/2014/main" val="198879950"/>
                  </a:ext>
                </a:extLst>
              </a:tr>
              <a:tr h="30522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u="none" strike="noStrike" kern="1200" cap="none" normalizeH="0" baseline="0" smtClean="0">
                          <a:ln>
                            <a:noFill/>
                          </a:ln>
                          <a:effectLst/>
                          <a:latin typeface="Arial (Body)"/>
                        </a:rPr>
                        <a:t>4</a:t>
                      </a:r>
                      <a:endParaRPr kumimoji="0" lang="en-US" sz="1400" u="none" strike="noStrike" kern="1200" cap="none" normalizeH="0" baseline="0" dirty="0">
                        <a:ln>
                          <a:noFill/>
                        </a:ln>
                        <a:solidFill>
                          <a:schemeClr val="tx1">
                            <a:lumMod val="95000"/>
                            <a:lumOff val="5000"/>
                          </a:schemeClr>
                        </a:solidFill>
                        <a:effectLst/>
                        <a:latin typeface="Arial (Body)"/>
                        <a:ea typeface="Arial Unicode MS"/>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i="0" u="none" strike="noStrike" kern="1200" cap="none" normalizeH="0" baseline="0" smtClean="0">
                          <a:ln>
                            <a:noFill/>
                          </a:ln>
                          <a:solidFill>
                            <a:schemeClr val="tx1">
                              <a:lumMod val="95000"/>
                              <a:lumOff val="5000"/>
                            </a:schemeClr>
                          </a:solidFill>
                          <a:effectLst/>
                          <a:latin typeface="Arial (Body)"/>
                          <a:ea typeface="Arial Unicode MS"/>
                          <a:cs typeface="Arial" panose="020B0604020202020204" pitchFamily="34" charset="0"/>
                        </a:rPr>
                        <a:t>DS Web Portal Dashboard thống kê</a:t>
                      </a:r>
                    </a:p>
                  </a:txBody>
                  <a:tcPr anchor="ctr"/>
                </a:tc>
                <a:tc>
                  <a:txBody>
                    <a:bodyPr/>
                    <a:lstStyle/>
                    <a:p>
                      <a:pPr algn="just"/>
                      <a:r>
                        <a:rPr lang="en-US" sz="1400" i="0" smtClean="0">
                          <a:latin typeface="Arial (Body)"/>
                          <a:cs typeface="Arial" panose="020B0604020202020204" pitchFamily="34" charset="0"/>
                        </a:rPr>
                        <a:t>Chưa</a:t>
                      </a:r>
                      <a:r>
                        <a:rPr lang="en-US" sz="1400" i="0" baseline="0" smtClean="0">
                          <a:latin typeface="Arial (Body)"/>
                          <a:cs typeface="Arial" panose="020B0604020202020204" pitchFamily="34" charset="0"/>
                        </a:rPr>
                        <a:t> có trang thống kê, đang thực hiện lấy dữ liệu trực tiếp từ db</a:t>
                      </a:r>
                      <a:endParaRPr lang="en-US" sz="1400" i="0" dirty="0">
                        <a:latin typeface="Arial (Body)"/>
                        <a:cs typeface="Arial" panose="020B0604020202020204" pitchFamily="34" charset="0"/>
                      </a:endParaRPr>
                    </a:p>
                  </a:txBody>
                  <a:tcPr anchor="ctr"/>
                </a:tc>
                <a:tc>
                  <a:txBody>
                    <a:bodyPr/>
                    <a:lstStyle/>
                    <a:p>
                      <a:pPr algn="just"/>
                      <a:r>
                        <a:rPr lang="en-US" sz="1400" i="0" smtClean="0">
                          <a:latin typeface="Arial (Body)"/>
                          <a:cs typeface="Arial" panose="020B0604020202020204" pitchFamily="34" charset="0"/>
                        </a:rPr>
                        <a:t>Xây</a:t>
                      </a:r>
                      <a:r>
                        <a:rPr lang="en-US" sz="1400" i="0" baseline="0" smtClean="0">
                          <a:latin typeface="Arial (Body)"/>
                          <a:cs typeface="Arial" panose="020B0604020202020204" pitchFamily="34" charset="0"/>
                        </a:rPr>
                        <a:t> dựng giao diện thống kê, dashboard cho người dùng</a:t>
                      </a:r>
                      <a:endParaRPr lang="en-US" sz="1400" i="0">
                        <a:latin typeface="Arial (Body)"/>
                        <a:cs typeface="Arial" panose="020B0604020202020204" pitchFamily="34" charset="0"/>
                      </a:endParaRPr>
                    </a:p>
                  </a:txBody>
                  <a:tcPr anchor="ctr"/>
                </a:tc>
                <a:extLst>
                  <a:ext uri="{0D108BD9-81ED-4DB2-BD59-A6C34878D82A}">
                    <a16:rowId xmlns:a16="http://schemas.microsoft.com/office/drawing/2014/main" val="505038864"/>
                  </a:ext>
                </a:extLst>
              </a:tr>
              <a:tr h="30522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u="none" strike="noStrike" kern="1200" cap="none" normalizeH="0" baseline="0" smtClean="0">
                          <a:ln>
                            <a:noFill/>
                          </a:ln>
                          <a:solidFill>
                            <a:schemeClr val="tx1">
                              <a:lumMod val="95000"/>
                              <a:lumOff val="5000"/>
                            </a:schemeClr>
                          </a:solidFill>
                          <a:effectLst/>
                          <a:latin typeface="Arial (Body)"/>
                          <a:ea typeface="Arial Unicode MS"/>
                          <a:cs typeface="Arial" panose="020B0604020202020204" pitchFamily="34" charset="0"/>
                        </a:rPr>
                        <a:t>5</a:t>
                      </a:r>
                      <a:endParaRPr kumimoji="0" lang="en-US" sz="1400" u="none" strike="noStrike" kern="1200" cap="none" normalizeH="0" baseline="0" dirty="0">
                        <a:ln>
                          <a:noFill/>
                        </a:ln>
                        <a:solidFill>
                          <a:schemeClr val="tx1">
                            <a:lumMod val="95000"/>
                            <a:lumOff val="5000"/>
                          </a:schemeClr>
                        </a:solidFill>
                        <a:effectLst/>
                        <a:latin typeface="Arial (Body)"/>
                        <a:ea typeface="Arial Unicode MS"/>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1400" i="0" u="none" strike="noStrike" kern="1200" cap="none" normalizeH="0" baseline="0" smtClean="0">
                          <a:ln>
                            <a:noFill/>
                          </a:ln>
                          <a:solidFill>
                            <a:schemeClr val="tx1">
                              <a:lumMod val="95000"/>
                              <a:lumOff val="5000"/>
                            </a:schemeClr>
                          </a:solidFill>
                          <a:effectLst/>
                          <a:latin typeface="Arial (Body)"/>
                          <a:ea typeface="Arial Unicode MS"/>
                          <a:cs typeface="Arial" panose="020B0604020202020204" pitchFamily="34" charset="0"/>
                        </a:rPr>
                        <a:t>Web Portal - Ký file đơn lẻ, theo lô</a:t>
                      </a:r>
                      <a:endParaRPr kumimoji="0" lang="en-US" sz="1400" i="0" u="none" strike="noStrike" kern="1200" cap="none" normalizeH="0" baseline="0" smtClean="0">
                        <a:ln>
                          <a:noFill/>
                        </a:ln>
                        <a:solidFill>
                          <a:schemeClr val="tx1">
                            <a:lumMod val="95000"/>
                            <a:lumOff val="5000"/>
                          </a:schemeClr>
                        </a:solidFill>
                        <a:effectLst/>
                        <a:latin typeface="Arial (Body)"/>
                        <a:ea typeface="Arial Unicode MS"/>
                        <a:cs typeface="Arial" panose="020B0604020202020204" pitchFamily="34" charset="0"/>
                      </a:endParaRPr>
                    </a:p>
                  </a:txBody>
                  <a:tcPr anchor="ctr"/>
                </a:tc>
                <a:tc>
                  <a:txBody>
                    <a:bodyPr/>
                    <a:lstStyle/>
                    <a:p>
                      <a:pPr algn="just"/>
                      <a:r>
                        <a:rPr lang="en-US" sz="1400" i="0" smtClean="0">
                          <a:latin typeface="Arial (Body)"/>
                          <a:cs typeface="Arial" panose="020B0604020202020204" pitchFamily="34" charset="0"/>
                        </a:rPr>
                        <a:t>Chưa</a:t>
                      </a:r>
                      <a:r>
                        <a:rPr lang="en-US" sz="1400" i="0" baseline="0" smtClean="0">
                          <a:latin typeface="Arial (Body)"/>
                          <a:cs typeface="Arial" panose="020B0604020202020204" pitchFamily="34" charset="0"/>
                        </a:rPr>
                        <a:t> cho phép người dùng upload file cần ký lên Portal để thực hiện ký duyệt</a:t>
                      </a:r>
                      <a:endParaRPr lang="en-US" sz="1400" i="0" dirty="0">
                        <a:latin typeface="Arial (Body)"/>
                        <a:cs typeface="Arial" panose="020B0604020202020204" pitchFamily="34" charset="0"/>
                      </a:endParaRPr>
                    </a:p>
                  </a:txBody>
                  <a:tcPr anchor="ctr"/>
                </a:tc>
                <a:tc>
                  <a:txBody>
                    <a:bodyPr/>
                    <a:lstStyle/>
                    <a:p>
                      <a:pPr algn="just"/>
                      <a:r>
                        <a:rPr lang="en-US" sz="1400" i="0" smtClean="0">
                          <a:latin typeface="Arial (Body)"/>
                          <a:cs typeface="Arial" panose="020B0604020202020204" pitchFamily="34" charset="0"/>
                        </a:rPr>
                        <a:t>Bổ</a:t>
                      </a:r>
                      <a:r>
                        <a:rPr lang="en-US" sz="1400" i="0" baseline="0" smtClean="0">
                          <a:latin typeface="Arial (Body)"/>
                          <a:cs typeface="Arial" panose="020B0604020202020204" pitchFamily="34" charset="0"/>
                        </a:rPr>
                        <a:t> sung chức năng upload file cần ký (maker) và thực hiện ký duyệt (checker) trên Portal.</a:t>
                      </a:r>
                      <a:endParaRPr lang="en-US" sz="1400" i="0">
                        <a:latin typeface="Arial (Body)"/>
                        <a:cs typeface="Arial" panose="020B0604020202020204" pitchFamily="34" charset="0"/>
                      </a:endParaRPr>
                    </a:p>
                  </a:txBody>
                  <a:tcPr anchor="ctr"/>
                </a:tc>
                <a:extLst>
                  <a:ext uri="{0D108BD9-81ED-4DB2-BD59-A6C34878D82A}">
                    <a16:rowId xmlns:a16="http://schemas.microsoft.com/office/drawing/2014/main" val="3624990319"/>
                  </a:ext>
                </a:extLst>
              </a:tr>
              <a:tr h="30522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u="none" strike="noStrike" kern="1200" cap="none" normalizeH="0" baseline="0" smtClean="0">
                          <a:ln>
                            <a:noFill/>
                          </a:ln>
                          <a:solidFill>
                            <a:schemeClr val="tx1">
                              <a:lumMod val="95000"/>
                              <a:lumOff val="5000"/>
                            </a:schemeClr>
                          </a:solidFill>
                          <a:effectLst/>
                          <a:latin typeface="Arial (Body)"/>
                          <a:ea typeface="Arial Unicode MS"/>
                          <a:cs typeface="Arial" panose="020B0604020202020204" pitchFamily="34" charset="0"/>
                        </a:rPr>
                        <a:t>6</a:t>
                      </a:r>
                      <a:endParaRPr kumimoji="0" lang="en-US" sz="1400" u="none" strike="noStrike" kern="1200" cap="none" normalizeH="0" baseline="0" dirty="0">
                        <a:ln>
                          <a:noFill/>
                        </a:ln>
                        <a:solidFill>
                          <a:schemeClr val="tx1">
                            <a:lumMod val="95000"/>
                            <a:lumOff val="5000"/>
                          </a:schemeClr>
                        </a:solidFill>
                        <a:effectLst/>
                        <a:latin typeface="Arial (Body)"/>
                        <a:ea typeface="Arial Unicode MS"/>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1400" i="0" u="none" strike="noStrike" kern="1200" cap="none" normalizeH="0" baseline="0" smtClean="0">
                          <a:ln>
                            <a:noFill/>
                          </a:ln>
                          <a:solidFill>
                            <a:schemeClr val="tx1">
                              <a:lumMod val="95000"/>
                              <a:lumOff val="5000"/>
                            </a:schemeClr>
                          </a:solidFill>
                          <a:effectLst/>
                          <a:latin typeface="Arial (Body)"/>
                          <a:ea typeface="Arial Unicode MS"/>
                          <a:cs typeface="Arial" panose="020B0604020202020204" pitchFamily="34" charset="0"/>
                        </a:rPr>
                        <a:t>Quản lý chất lượng - Monitoring dịch vụ NCC CKS</a:t>
                      </a:r>
                      <a:endParaRPr kumimoji="0" lang="en-US" sz="1400" i="0" u="none" strike="noStrike" kern="1200" cap="none" normalizeH="0" baseline="0" smtClean="0">
                        <a:ln>
                          <a:noFill/>
                        </a:ln>
                        <a:solidFill>
                          <a:schemeClr val="tx1">
                            <a:lumMod val="95000"/>
                            <a:lumOff val="5000"/>
                          </a:schemeClr>
                        </a:solidFill>
                        <a:effectLst/>
                        <a:latin typeface="Arial (Body)"/>
                        <a:ea typeface="Arial Unicode MS"/>
                        <a:cs typeface="Arial" panose="020B0604020202020204" pitchFamily="34" charset="0"/>
                      </a:endParaRPr>
                    </a:p>
                  </a:txBody>
                  <a:tcPr anchor="ctr"/>
                </a:tc>
                <a:tc>
                  <a:txBody>
                    <a:bodyPr/>
                    <a:lstStyle/>
                    <a:p>
                      <a:pPr algn="just"/>
                      <a:r>
                        <a:rPr lang="en-US" sz="1400" i="0" smtClean="0">
                          <a:latin typeface="Arial (Body)"/>
                          <a:cs typeface="Arial" panose="020B0604020202020204" pitchFamily="34" charset="0"/>
                        </a:rPr>
                        <a:t>Chưa</a:t>
                      </a:r>
                      <a:r>
                        <a:rPr lang="en-US" sz="1400" i="0" baseline="0" smtClean="0">
                          <a:latin typeface="Arial (Body)"/>
                          <a:cs typeface="Arial" panose="020B0604020202020204" pitchFamily="34" charset="0"/>
                        </a:rPr>
                        <a:t> có theo dõi chất lượng dịch vụ, đang thực hiện truy vấn trực tiếp từ log, db</a:t>
                      </a:r>
                      <a:endParaRPr lang="en-US" sz="1400" i="0" dirty="0">
                        <a:latin typeface="Arial (Body)"/>
                        <a:cs typeface="Arial" panose="020B0604020202020204" pitchFamily="34" charset="0"/>
                      </a:endParaRPr>
                    </a:p>
                  </a:txBody>
                  <a:tcPr anchor="ctr"/>
                </a:tc>
                <a:tc>
                  <a:txBody>
                    <a:bodyPr/>
                    <a:lstStyle/>
                    <a:p>
                      <a:pPr algn="just"/>
                      <a:r>
                        <a:rPr lang="en-US" sz="1400" i="0" smtClean="0">
                          <a:latin typeface="Arial (Body)"/>
                          <a:cs typeface="Arial" panose="020B0604020202020204" pitchFamily="34" charset="0"/>
                        </a:rPr>
                        <a:t>Xây</a:t>
                      </a:r>
                      <a:r>
                        <a:rPr lang="en-US" sz="1400" i="0" baseline="0" smtClean="0">
                          <a:latin typeface="Arial (Body)"/>
                          <a:cs typeface="Arial" panose="020B0604020202020204" pitchFamily="34" charset="0"/>
                        </a:rPr>
                        <a:t> dựng giao diện Monitoring cho Admin</a:t>
                      </a:r>
                      <a:endParaRPr lang="en-US" sz="1400" i="0">
                        <a:latin typeface="Arial (Body)"/>
                        <a:cs typeface="Arial" panose="020B0604020202020204" pitchFamily="34" charset="0"/>
                      </a:endParaRPr>
                    </a:p>
                  </a:txBody>
                  <a:tcPr anchor="ctr"/>
                </a:tc>
                <a:extLst>
                  <a:ext uri="{0D108BD9-81ED-4DB2-BD59-A6C34878D82A}">
                    <a16:rowId xmlns:a16="http://schemas.microsoft.com/office/drawing/2014/main" val="3358751518"/>
                  </a:ext>
                </a:extLst>
              </a:tr>
              <a:tr h="30522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u="none" strike="noStrike" kern="1200" cap="none" normalizeH="0" baseline="0" smtClean="0">
                          <a:ln>
                            <a:noFill/>
                          </a:ln>
                          <a:solidFill>
                            <a:schemeClr val="tx1">
                              <a:lumMod val="95000"/>
                              <a:lumOff val="5000"/>
                            </a:schemeClr>
                          </a:solidFill>
                          <a:effectLst/>
                          <a:latin typeface="Arial (Body)"/>
                          <a:ea typeface="Arial Unicode MS"/>
                          <a:cs typeface="Arial" panose="020B0604020202020204" pitchFamily="34" charset="0"/>
                        </a:rPr>
                        <a:t>7</a:t>
                      </a:r>
                      <a:endParaRPr kumimoji="0" lang="en-US" sz="1400" u="none" strike="noStrike" kern="1200" cap="none" normalizeH="0" baseline="0" dirty="0">
                        <a:ln>
                          <a:noFill/>
                        </a:ln>
                        <a:solidFill>
                          <a:schemeClr val="tx1">
                            <a:lumMod val="95000"/>
                            <a:lumOff val="5000"/>
                          </a:schemeClr>
                        </a:solidFill>
                        <a:effectLst/>
                        <a:latin typeface="Arial (Body)"/>
                        <a:ea typeface="Arial Unicode MS"/>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i="0" u="none" strike="noStrike" kern="1200" cap="none" normalizeH="0" baseline="0" smtClean="0">
                          <a:ln>
                            <a:noFill/>
                          </a:ln>
                          <a:solidFill>
                            <a:schemeClr val="tx1">
                              <a:lumMod val="95000"/>
                              <a:lumOff val="5000"/>
                            </a:schemeClr>
                          </a:solidFill>
                          <a:effectLst/>
                          <a:latin typeface="Arial (Body)"/>
                          <a:ea typeface="Arial Unicode MS"/>
                          <a:cs typeface="Arial" panose="020B0604020202020204" pitchFamily="34" charset="0"/>
                        </a:rPr>
                        <a:t>KHDN ký CKS có sẵn của VNPT</a:t>
                      </a:r>
                    </a:p>
                  </a:txBody>
                  <a:tcPr anchor="ctr"/>
                </a:tc>
                <a:tc>
                  <a:txBody>
                    <a:bodyPr/>
                    <a:lstStyle/>
                    <a:p>
                      <a:pPr algn="just"/>
                      <a:r>
                        <a:rPr lang="en-US" sz="1400" i="0" smtClean="0">
                          <a:latin typeface="Arial (Body)"/>
                          <a:cs typeface="Arial" panose="020B0604020202020204" pitchFamily="34" charset="0"/>
                        </a:rPr>
                        <a:t>Chưa</a:t>
                      </a:r>
                      <a:r>
                        <a:rPr lang="en-US" sz="1400" i="0" baseline="0" smtClean="0">
                          <a:latin typeface="Arial (Body)"/>
                          <a:cs typeface="Arial" panose="020B0604020202020204" pitchFamily="34" charset="0"/>
                        </a:rPr>
                        <a:t> tích hợp với CTS của sẵn của VNPT</a:t>
                      </a:r>
                      <a:endParaRPr lang="en-US" sz="1400" i="0" dirty="0">
                        <a:latin typeface="Arial (Body)"/>
                        <a:cs typeface="Arial" panose="020B0604020202020204" pitchFamily="34" charset="0"/>
                      </a:endParaRPr>
                    </a:p>
                  </a:txBody>
                  <a:tcPr anchor="ctr"/>
                </a:tc>
                <a:tc>
                  <a:txBody>
                    <a:bodyPr/>
                    <a:lstStyle/>
                    <a:p>
                      <a:pPr algn="just"/>
                      <a:r>
                        <a:rPr lang="en-US" sz="1400" i="0" smtClean="0">
                          <a:latin typeface="Arial (Body)"/>
                          <a:cs typeface="Arial" panose="020B0604020202020204" pitchFamily="34" charset="0"/>
                        </a:rPr>
                        <a:t>Bổ</a:t>
                      </a:r>
                      <a:r>
                        <a:rPr lang="en-US" sz="1400" i="0" baseline="0" smtClean="0">
                          <a:latin typeface="Arial (Body)"/>
                          <a:cs typeface="Arial" panose="020B0604020202020204" pitchFamily="34" charset="0"/>
                        </a:rPr>
                        <a:t> sung lấy thông tin CTS của sẵn của KHDN đã đăng ký với VNPT để thực hiện ký số</a:t>
                      </a:r>
                      <a:endParaRPr lang="en-US" sz="1400" i="0">
                        <a:latin typeface="Arial (Body)"/>
                        <a:cs typeface="Arial" panose="020B0604020202020204" pitchFamily="34" charset="0"/>
                      </a:endParaRPr>
                    </a:p>
                  </a:txBody>
                  <a:tcPr anchor="ctr"/>
                </a:tc>
                <a:extLst>
                  <a:ext uri="{0D108BD9-81ED-4DB2-BD59-A6C34878D82A}">
                    <a16:rowId xmlns:a16="http://schemas.microsoft.com/office/drawing/2014/main" val="3832582880"/>
                  </a:ext>
                </a:extLst>
              </a:tr>
              <a:tr h="30522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u="none" strike="noStrike" kern="1200" cap="none" normalizeH="0" baseline="0" smtClean="0">
                          <a:ln>
                            <a:noFill/>
                          </a:ln>
                          <a:solidFill>
                            <a:schemeClr val="tx1">
                              <a:lumMod val="95000"/>
                              <a:lumOff val="5000"/>
                            </a:schemeClr>
                          </a:solidFill>
                          <a:effectLst/>
                          <a:latin typeface="Arial (Body)"/>
                          <a:ea typeface="Arial Unicode MS"/>
                          <a:cs typeface="Arial" panose="020B0604020202020204" pitchFamily="34" charset="0"/>
                        </a:rPr>
                        <a:t>8</a:t>
                      </a:r>
                      <a:endParaRPr kumimoji="0" lang="en-US" sz="1400" u="none" strike="noStrike" kern="1200" cap="none" normalizeH="0" baseline="0" dirty="0">
                        <a:ln>
                          <a:noFill/>
                        </a:ln>
                        <a:solidFill>
                          <a:schemeClr val="tx1">
                            <a:lumMod val="95000"/>
                            <a:lumOff val="5000"/>
                          </a:schemeClr>
                        </a:solidFill>
                        <a:effectLst/>
                        <a:latin typeface="Arial (Body)"/>
                        <a:ea typeface="Arial Unicode MS"/>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1400" i="0" u="none" strike="noStrike" kern="1200" cap="none" normalizeH="0" baseline="0" smtClean="0">
                          <a:ln>
                            <a:noFill/>
                          </a:ln>
                          <a:solidFill>
                            <a:schemeClr val="tx1">
                              <a:lumMod val="95000"/>
                              <a:lumOff val="5000"/>
                            </a:schemeClr>
                          </a:solidFill>
                          <a:effectLst/>
                          <a:latin typeface="Arial (Body)"/>
                          <a:ea typeface="Arial Unicode MS"/>
                          <a:cs typeface="Arial" panose="020B0604020202020204" pitchFamily="34" charset="0"/>
                        </a:rPr>
                        <a:t>Web Portal - Chọn vị trí ký khi ký đơn lẻ, theo lô</a:t>
                      </a:r>
                      <a:endParaRPr kumimoji="0" lang="en-US" sz="1400" i="0" u="none" strike="noStrike" kern="1200" cap="none" normalizeH="0" baseline="0" smtClean="0">
                        <a:ln>
                          <a:noFill/>
                        </a:ln>
                        <a:solidFill>
                          <a:schemeClr val="tx1">
                            <a:lumMod val="95000"/>
                            <a:lumOff val="5000"/>
                          </a:schemeClr>
                        </a:solidFill>
                        <a:effectLst/>
                        <a:latin typeface="Arial (Body)"/>
                        <a:ea typeface="Arial Unicode MS"/>
                        <a:cs typeface="Arial" panose="020B0604020202020204" pitchFamily="34" charset="0"/>
                      </a:endParaRPr>
                    </a:p>
                  </a:txBody>
                  <a:tcPr anchor="ctr"/>
                </a:tc>
                <a:tc>
                  <a:txBody>
                    <a:bodyPr/>
                    <a:lstStyle/>
                    <a:p>
                      <a:pPr algn="just"/>
                      <a:r>
                        <a:rPr lang="en-US" sz="1400" i="0" smtClean="0">
                          <a:latin typeface="Arial (Body)"/>
                          <a:cs typeface="Arial" panose="020B0604020202020204" pitchFamily="34" charset="0"/>
                        </a:rPr>
                        <a:t>Chưa</a:t>
                      </a:r>
                      <a:r>
                        <a:rPr lang="en-US" sz="1400" i="0" baseline="0" smtClean="0">
                          <a:latin typeface="Arial (Body)"/>
                          <a:cs typeface="Arial" panose="020B0604020202020204" pitchFamily="34" charset="0"/>
                        </a:rPr>
                        <a:t> cho chọn vị trí chèn chữ ký trong file, đang chọn mặc định 1 vị trí nên khi ký nhiều chữ ký sẽ bị trùng hoặc không đúng vị trí cần ký trong file.</a:t>
                      </a:r>
                      <a:endParaRPr lang="en-US" sz="1400" i="0" dirty="0">
                        <a:latin typeface="Arial (Body)"/>
                        <a:cs typeface="Arial" panose="020B0604020202020204" pitchFamily="34" charset="0"/>
                      </a:endParaRPr>
                    </a:p>
                  </a:txBody>
                  <a:tcPr anchor="ctr"/>
                </a:tc>
                <a:tc>
                  <a:txBody>
                    <a:bodyPr/>
                    <a:lstStyle/>
                    <a:p>
                      <a:pPr algn="just"/>
                      <a:r>
                        <a:rPr lang="en-US" sz="1400" i="0" smtClean="0">
                          <a:latin typeface="Arial (Body)"/>
                          <a:cs typeface="Arial" panose="020B0604020202020204" pitchFamily="34" charset="0"/>
                        </a:rPr>
                        <a:t>Bổ</a:t>
                      </a:r>
                      <a:r>
                        <a:rPr lang="en-US" sz="1400" i="0" baseline="0" smtClean="0">
                          <a:latin typeface="Arial (Body)"/>
                          <a:cs typeface="Arial" panose="020B0604020202020204" pitchFamily="34" charset="0"/>
                        </a:rPr>
                        <a:t> sung chức năng chọn vị trí chèn chữ ký trên Portal cho người dùng chọn trước khi ký.</a:t>
                      </a:r>
                      <a:endParaRPr lang="en-US" sz="1400" i="0">
                        <a:latin typeface="Arial (Body)"/>
                        <a:cs typeface="Arial" panose="020B0604020202020204" pitchFamily="34" charset="0"/>
                      </a:endParaRPr>
                    </a:p>
                  </a:txBody>
                  <a:tcPr anchor="ctr"/>
                </a:tc>
                <a:extLst>
                  <a:ext uri="{0D108BD9-81ED-4DB2-BD59-A6C34878D82A}">
                    <a16:rowId xmlns:a16="http://schemas.microsoft.com/office/drawing/2014/main" val="2896179278"/>
                  </a:ext>
                </a:extLst>
              </a:tr>
              <a:tr h="30522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u="none" strike="noStrike" kern="1200" cap="none" normalizeH="0" baseline="0" smtClean="0">
                          <a:ln>
                            <a:noFill/>
                          </a:ln>
                          <a:solidFill>
                            <a:schemeClr val="tx1">
                              <a:lumMod val="95000"/>
                              <a:lumOff val="5000"/>
                            </a:schemeClr>
                          </a:solidFill>
                          <a:effectLst/>
                          <a:latin typeface="Arial (Body)"/>
                          <a:ea typeface="Arial Unicode MS"/>
                          <a:cs typeface="Arial" panose="020B0604020202020204" pitchFamily="34" charset="0"/>
                        </a:rPr>
                        <a:t>9</a:t>
                      </a:r>
                      <a:endParaRPr kumimoji="0" lang="en-US" sz="1400" u="none" strike="noStrike" kern="1200" cap="none" normalizeH="0" baseline="0" dirty="0">
                        <a:ln>
                          <a:noFill/>
                        </a:ln>
                        <a:solidFill>
                          <a:schemeClr val="tx1">
                            <a:lumMod val="95000"/>
                            <a:lumOff val="5000"/>
                          </a:schemeClr>
                        </a:solidFill>
                        <a:effectLst/>
                        <a:latin typeface="Arial (Body)"/>
                        <a:ea typeface="Arial Unicode MS"/>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i="0" u="none" strike="noStrike" kern="1200" cap="none" normalizeH="0" baseline="0" smtClean="0">
                          <a:ln>
                            <a:noFill/>
                          </a:ln>
                          <a:solidFill>
                            <a:schemeClr val="tx1">
                              <a:lumMod val="95000"/>
                              <a:lumOff val="5000"/>
                            </a:schemeClr>
                          </a:solidFill>
                          <a:effectLst/>
                          <a:latin typeface="Arial (Body)"/>
                          <a:ea typeface="Arial Unicode MS"/>
                          <a:cs typeface="Arial" panose="020B0604020202020204" pitchFamily="34" charset="0"/>
                        </a:rPr>
                        <a:t>Web Portal - Verify chữ ký số</a:t>
                      </a:r>
                    </a:p>
                  </a:txBody>
                  <a:tcPr anchor="ctr"/>
                </a:tc>
                <a:tc>
                  <a:txBody>
                    <a:bodyPr/>
                    <a:lstStyle/>
                    <a:p>
                      <a:pPr algn="just"/>
                      <a:r>
                        <a:rPr lang="en-US" sz="1400" i="0" smtClean="0">
                          <a:latin typeface="Arial (Body)"/>
                          <a:cs typeface="Arial" panose="020B0604020202020204" pitchFamily="34" charset="0"/>
                        </a:rPr>
                        <a:t>Chỉ</a:t>
                      </a:r>
                      <a:r>
                        <a:rPr lang="en-US" sz="1400" i="0" baseline="0" smtClean="0">
                          <a:latin typeface="Arial (Body)"/>
                          <a:cs typeface="Arial" panose="020B0604020202020204" pitchFamily="34" charset="0"/>
                        </a:rPr>
                        <a:t> verify tổng thể toàn bộ tất cả CKS, chưa bóc tách thông tin từng CKS trong file.</a:t>
                      </a:r>
                      <a:endParaRPr lang="en-US" sz="1400" i="0" dirty="0">
                        <a:latin typeface="Arial (Body)"/>
                        <a:cs typeface="Arial" panose="020B0604020202020204" pitchFamily="34" charset="0"/>
                      </a:endParaRPr>
                    </a:p>
                  </a:txBody>
                  <a:tcPr anchor="ctr"/>
                </a:tc>
                <a:tc>
                  <a:txBody>
                    <a:bodyPr/>
                    <a:lstStyle/>
                    <a:p>
                      <a:pPr algn="just"/>
                      <a:r>
                        <a:rPr lang="en-US" sz="1400" i="0" smtClean="0">
                          <a:latin typeface="Arial (Body)"/>
                          <a:cs typeface="Arial" panose="020B0604020202020204" pitchFamily="34" charset="0"/>
                        </a:rPr>
                        <a:t>Bổ</a:t>
                      </a:r>
                      <a:r>
                        <a:rPr lang="en-US" sz="1400" i="0" baseline="0" smtClean="0">
                          <a:latin typeface="Arial (Body)"/>
                          <a:cs typeface="Arial" panose="020B0604020202020204" pitchFamily="34" charset="0"/>
                        </a:rPr>
                        <a:t> sung thông tin bóc tách từng CKS trong file để người dùng có đầy đủ thông tin</a:t>
                      </a:r>
                      <a:endParaRPr lang="en-US" sz="1400" i="0">
                        <a:latin typeface="Arial (Body)"/>
                        <a:cs typeface="Arial" panose="020B0604020202020204" pitchFamily="34" charset="0"/>
                      </a:endParaRPr>
                    </a:p>
                  </a:txBody>
                  <a:tcPr anchor="ctr"/>
                </a:tc>
                <a:extLst>
                  <a:ext uri="{0D108BD9-81ED-4DB2-BD59-A6C34878D82A}">
                    <a16:rowId xmlns:a16="http://schemas.microsoft.com/office/drawing/2014/main" val="4116251116"/>
                  </a:ext>
                </a:extLst>
              </a:tr>
              <a:tr h="30522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u="none" strike="noStrike" kern="1200" cap="none" normalizeH="0" baseline="0" smtClean="0">
                          <a:ln>
                            <a:noFill/>
                          </a:ln>
                          <a:solidFill>
                            <a:schemeClr val="tx1">
                              <a:lumMod val="95000"/>
                              <a:lumOff val="5000"/>
                            </a:schemeClr>
                          </a:solidFill>
                          <a:effectLst/>
                          <a:latin typeface="Arial (Body)"/>
                          <a:ea typeface="Arial Unicode MS"/>
                          <a:cs typeface="Arial" panose="020B0604020202020204" pitchFamily="34" charset="0"/>
                        </a:rPr>
                        <a:t>10</a:t>
                      </a:r>
                      <a:endParaRPr kumimoji="0" lang="en-US" sz="1400" u="none" strike="noStrike" kern="1200" cap="none" normalizeH="0" baseline="0" dirty="0">
                        <a:ln>
                          <a:noFill/>
                        </a:ln>
                        <a:solidFill>
                          <a:schemeClr val="tx1">
                            <a:lumMod val="95000"/>
                            <a:lumOff val="5000"/>
                          </a:schemeClr>
                        </a:solidFill>
                        <a:effectLst/>
                        <a:latin typeface="Arial (Body)"/>
                        <a:ea typeface="Arial Unicode MS"/>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i="0" u="none" strike="noStrike" kern="1200" cap="none" normalizeH="0" baseline="0" smtClean="0">
                          <a:ln>
                            <a:noFill/>
                          </a:ln>
                          <a:solidFill>
                            <a:schemeClr val="tx1">
                              <a:lumMod val="95000"/>
                              <a:lumOff val="5000"/>
                            </a:schemeClr>
                          </a:solidFill>
                          <a:effectLst/>
                          <a:latin typeface="Arial (Body)"/>
                          <a:ea typeface="Arial Unicode MS"/>
                          <a:cs typeface="Arial" panose="020B0604020202020204" pitchFamily="34" charset="0"/>
                        </a:rPr>
                        <a:t>Phản hồi kết quả ký số cho HTVT qua Kafka</a:t>
                      </a:r>
                    </a:p>
                  </a:txBody>
                  <a:tcPr anchor="ctr"/>
                </a:tc>
                <a:tc>
                  <a:txBody>
                    <a:bodyPr/>
                    <a:lstStyle/>
                    <a:p>
                      <a:pPr algn="just"/>
                      <a:r>
                        <a:rPr lang="en-US" sz="1400" i="0" smtClean="0">
                          <a:latin typeface="Arial (Body)"/>
                          <a:cs typeface="Arial" panose="020B0604020202020204" pitchFamily="34" charset="0"/>
                        </a:rPr>
                        <a:t>Đang</a:t>
                      </a:r>
                      <a:r>
                        <a:rPr lang="en-US" sz="1400" i="0" baseline="0" smtClean="0">
                          <a:latin typeface="Arial (Body)"/>
                          <a:cs typeface="Arial" panose="020B0604020202020204" pitchFamily="34" charset="0"/>
                        </a:rPr>
                        <a:t> phản hồi kết quả ký cho HTVT qua API</a:t>
                      </a:r>
                      <a:endParaRPr lang="en-US" sz="1400" i="0" dirty="0">
                        <a:latin typeface="Arial (Body)"/>
                        <a:cs typeface="Arial" panose="020B0604020202020204" pitchFamily="34" charset="0"/>
                      </a:endParaRPr>
                    </a:p>
                  </a:txBody>
                  <a:tcPr anchor="ctr"/>
                </a:tc>
                <a:tc>
                  <a:txBody>
                    <a:bodyPr/>
                    <a:lstStyle/>
                    <a:p>
                      <a:pPr algn="just"/>
                      <a:r>
                        <a:rPr lang="en-US" sz="1400" i="0" smtClean="0">
                          <a:latin typeface="Arial (Body)"/>
                          <a:cs typeface="Arial" panose="020B0604020202020204" pitchFamily="34" charset="0"/>
                        </a:rPr>
                        <a:t>Bổ</a:t>
                      </a:r>
                      <a:r>
                        <a:rPr lang="en-US" sz="1400" i="0" baseline="0" smtClean="0">
                          <a:latin typeface="Arial (Body)"/>
                          <a:cs typeface="Arial" panose="020B0604020202020204" pitchFamily="34" charset="0"/>
                        </a:rPr>
                        <a:t> sung thêm kênh phản hồi kết quả cho HTVT qua Kafka, topic do HTVT cung cấp</a:t>
                      </a:r>
                      <a:endParaRPr lang="en-US" sz="1400" i="0">
                        <a:latin typeface="Arial (Body)"/>
                        <a:cs typeface="Arial" panose="020B0604020202020204" pitchFamily="34" charset="0"/>
                      </a:endParaRPr>
                    </a:p>
                  </a:txBody>
                  <a:tcPr anchor="ctr"/>
                </a:tc>
                <a:extLst>
                  <a:ext uri="{0D108BD9-81ED-4DB2-BD59-A6C34878D82A}">
                    <a16:rowId xmlns:a16="http://schemas.microsoft.com/office/drawing/2014/main" val="2702076535"/>
                  </a:ext>
                </a:extLst>
              </a:tr>
            </a:tbl>
          </a:graphicData>
        </a:graphic>
      </p:graphicFrame>
    </p:spTree>
    <p:extLst>
      <p:ext uri="{BB962C8B-B14F-4D97-AF65-F5344CB8AC3E}">
        <p14:creationId xmlns:p14="http://schemas.microsoft.com/office/powerpoint/2010/main" val="28087647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r="8697"/>
          <a:stretch/>
        </p:blipFill>
        <p:spPr>
          <a:xfrm>
            <a:off x="0" y="1482480"/>
            <a:ext cx="12186745" cy="3131038"/>
          </a:xfrm>
          <a:prstGeom prst="rect">
            <a:avLst/>
          </a:prstGeom>
        </p:spPr>
      </p:pic>
      <p:sp>
        <p:nvSpPr>
          <p:cNvPr id="4" name="Title Placeholder 7"/>
          <p:cNvSpPr txBox="1">
            <a:spLocks/>
          </p:cNvSpPr>
          <p:nvPr/>
        </p:nvSpPr>
        <p:spPr>
          <a:xfrm>
            <a:off x="576577" y="1762538"/>
            <a:ext cx="4300223" cy="257092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b="1" i="0" kern="1200">
                <a:solidFill>
                  <a:schemeClr val="bg1"/>
                </a:solidFill>
                <a:latin typeface="Calibri" charset="0"/>
                <a:ea typeface="Calibri" charset="0"/>
                <a:cs typeface="Calibri"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vi-VN" sz="27000" b="0" i="0" u="none" strike="noStrike" kern="1200" cap="none" spc="0" normalizeH="0" baseline="0" noProof="0" dirty="0" smtClean="0">
                <a:ln>
                  <a:noFill/>
                </a:ln>
                <a:solidFill>
                  <a:prstClr val="white"/>
                </a:solidFill>
                <a:effectLst/>
                <a:uLnTx/>
                <a:uFillTx/>
                <a:latin typeface="Calibri" charset="0"/>
                <a:cs typeface="Calibri" charset="0"/>
              </a:rPr>
              <a:t>0</a:t>
            </a:r>
            <a:r>
              <a:rPr lang="en-US" sz="27000" b="0" dirty="0">
                <a:solidFill>
                  <a:prstClr val="white"/>
                </a:solidFill>
              </a:rPr>
              <a:t>2</a:t>
            </a:r>
            <a:endParaRPr kumimoji="0" lang="en-US" sz="27000" b="0" i="0" u="none" strike="noStrike" kern="1200" cap="none" spc="0" normalizeH="0" baseline="0" noProof="0" dirty="0">
              <a:ln>
                <a:noFill/>
              </a:ln>
              <a:solidFill>
                <a:prstClr val="white"/>
              </a:solidFill>
              <a:effectLst/>
              <a:uLnTx/>
              <a:uFillTx/>
              <a:latin typeface="Calibri" charset="0"/>
              <a:cs typeface="Calibri" charset="0"/>
            </a:endParaRPr>
          </a:p>
        </p:txBody>
      </p:sp>
      <p:sp>
        <p:nvSpPr>
          <p:cNvPr id="5" name="Title Placeholder 7"/>
          <p:cNvSpPr txBox="1">
            <a:spLocks/>
          </p:cNvSpPr>
          <p:nvPr/>
        </p:nvSpPr>
        <p:spPr>
          <a:xfrm>
            <a:off x="4544391" y="2112579"/>
            <a:ext cx="7205649" cy="1240221"/>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4800" b="1" dirty="0" err="1" smtClean="0">
                <a:solidFill>
                  <a:prstClr val="white"/>
                </a:solidFill>
                <a:latin typeface="Calibri" charset="0"/>
                <a:ea typeface="Calibri" charset="0"/>
                <a:cs typeface="Calibri" charset="0"/>
              </a:rPr>
              <a:t>Kiến</a:t>
            </a:r>
            <a:r>
              <a:rPr lang="en-US" sz="4800" b="1" dirty="0" smtClean="0">
                <a:solidFill>
                  <a:prstClr val="white"/>
                </a:solidFill>
                <a:latin typeface="Calibri" charset="0"/>
                <a:ea typeface="Calibri" charset="0"/>
                <a:cs typeface="Calibri" charset="0"/>
              </a:rPr>
              <a:t> </a:t>
            </a:r>
            <a:r>
              <a:rPr lang="en-US" sz="4800" b="1" dirty="0" err="1" smtClean="0">
                <a:solidFill>
                  <a:prstClr val="white"/>
                </a:solidFill>
                <a:latin typeface="Calibri" charset="0"/>
                <a:ea typeface="Calibri" charset="0"/>
                <a:cs typeface="Calibri" charset="0"/>
              </a:rPr>
              <a:t>trúc</a:t>
            </a:r>
            <a:r>
              <a:rPr lang="en-US" sz="4800" b="1" dirty="0" smtClean="0">
                <a:solidFill>
                  <a:prstClr val="white"/>
                </a:solidFill>
                <a:latin typeface="Calibri" charset="0"/>
                <a:ea typeface="Calibri" charset="0"/>
                <a:cs typeface="Calibri" charset="0"/>
              </a:rPr>
              <a:t> </a:t>
            </a:r>
            <a:r>
              <a:rPr lang="en-US" sz="4800" b="1" dirty="0" err="1" smtClean="0">
                <a:solidFill>
                  <a:prstClr val="white"/>
                </a:solidFill>
                <a:latin typeface="Calibri" charset="0"/>
                <a:ea typeface="Calibri" charset="0"/>
                <a:cs typeface="Calibri" charset="0"/>
              </a:rPr>
              <a:t>hệ</a:t>
            </a:r>
            <a:r>
              <a:rPr lang="en-US" sz="4800" b="1" dirty="0" smtClean="0">
                <a:solidFill>
                  <a:prstClr val="white"/>
                </a:solidFill>
                <a:latin typeface="Calibri" charset="0"/>
                <a:ea typeface="Calibri" charset="0"/>
                <a:cs typeface="Calibri" charset="0"/>
              </a:rPr>
              <a:t> </a:t>
            </a:r>
            <a:r>
              <a:rPr lang="en-US" sz="4800" b="1" dirty="0" err="1" smtClean="0">
                <a:solidFill>
                  <a:prstClr val="white"/>
                </a:solidFill>
                <a:latin typeface="Calibri" charset="0"/>
                <a:ea typeface="Calibri" charset="0"/>
                <a:cs typeface="Calibri" charset="0"/>
              </a:rPr>
              <a:t>thống</a:t>
            </a:r>
            <a:endParaRPr kumimoji="0" lang="en-US" sz="4800" b="1" i="0" u="none" strike="noStrike" kern="1200" cap="none" spc="0" normalizeH="0" baseline="0" noProof="0" dirty="0">
              <a:ln>
                <a:noFill/>
              </a:ln>
              <a:solidFill>
                <a:prstClr val="white"/>
              </a:solidFill>
              <a:effectLst/>
              <a:uLnTx/>
              <a:uFillTx/>
              <a:latin typeface="Calibri" charset="0"/>
              <a:ea typeface="Calibri" charset="0"/>
              <a:cs typeface="Calibri" charset="0"/>
            </a:endParaRPr>
          </a:p>
        </p:txBody>
      </p:sp>
      <p:sp>
        <p:nvSpPr>
          <p:cNvPr id="6" name="Title Placeholder 7"/>
          <p:cNvSpPr txBox="1">
            <a:spLocks/>
          </p:cNvSpPr>
          <p:nvPr/>
        </p:nvSpPr>
        <p:spPr>
          <a:xfrm>
            <a:off x="4544391" y="3137836"/>
            <a:ext cx="6977049" cy="13956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b="1" i="0" kern="1200">
                <a:solidFill>
                  <a:schemeClr val="bg1"/>
                </a:solidFill>
                <a:latin typeface="Calibri" charset="0"/>
                <a:ea typeface="Calibri" charset="0"/>
                <a:cs typeface="Calibri" charset="0"/>
              </a:defRPr>
            </a:lvl1pPr>
          </a:lstStyle>
          <a:p>
            <a:pPr marL="342900" marR="0" lvl="0" indent="-342900" algn="l" defTabSz="914400" rtl="0" eaLnBrk="1" fontAlgn="auto" latinLnBrk="0" hangingPunct="1">
              <a:lnSpc>
                <a:spcPct val="120000"/>
              </a:lnSpc>
              <a:spcBef>
                <a:spcPct val="0"/>
              </a:spcBef>
              <a:spcAft>
                <a:spcPts val="0"/>
              </a:spcAft>
              <a:buClrTx/>
              <a:buSzTx/>
              <a:buFont typeface="Arial" panose="020B0604020202020204" pitchFamily="34" charset="0"/>
              <a:buChar char="•"/>
              <a:tabLst/>
              <a:defRPr/>
            </a:pPr>
            <a:r>
              <a:rPr lang="en-US" sz="1800" smtClean="0">
                <a:solidFill>
                  <a:srgbClr val="FFB81C"/>
                </a:solidFill>
              </a:rPr>
              <a:t>IT Capabilities</a:t>
            </a:r>
          </a:p>
          <a:p>
            <a:pPr marL="342900" marR="0" lvl="0" indent="-342900" algn="l" defTabSz="914400" rtl="0" eaLnBrk="1" fontAlgn="auto" latinLnBrk="0" hangingPunct="1">
              <a:lnSpc>
                <a:spcPct val="120000"/>
              </a:lnSpc>
              <a:spcBef>
                <a:spcPct val="0"/>
              </a:spcBef>
              <a:spcAft>
                <a:spcPts val="0"/>
              </a:spcAft>
              <a:buClrTx/>
              <a:buSzTx/>
              <a:buFont typeface="Arial" panose="020B0604020202020204" pitchFamily="34" charset="0"/>
              <a:buChar char="•"/>
              <a:tabLst/>
              <a:defRPr/>
            </a:pPr>
            <a:r>
              <a:rPr lang="en-US" sz="1800" smtClean="0">
                <a:solidFill>
                  <a:srgbClr val="FFB81C"/>
                </a:solidFill>
              </a:rPr>
              <a:t>Kiến trúc ứng dụng</a:t>
            </a:r>
          </a:p>
          <a:p>
            <a:pPr marL="342900" marR="0" lvl="0" indent="-342900" algn="l" defTabSz="914400" rtl="0" eaLnBrk="1" fontAlgn="auto" latinLnBrk="0" hangingPunct="1">
              <a:lnSpc>
                <a:spcPct val="120000"/>
              </a:lnSpc>
              <a:spcBef>
                <a:spcPct val="0"/>
              </a:spcBef>
              <a:spcAft>
                <a:spcPts val="0"/>
              </a:spcAft>
              <a:buClrTx/>
              <a:buSzTx/>
              <a:buFont typeface="Arial" panose="020B0604020202020204" pitchFamily="34" charset="0"/>
              <a:buChar char="•"/>
              <a:tabLst/>
              <a:defRPr/>
            </a:pPr>
            <a:r>
              <a:rPr lang="en-US" sz="1800" smtClean="0">
                <a:solidFill>
                  <a:srgbClr val="FFB81C"/>
                </a:solidFill>
              </a:rPr>
              <a:t>Kiến trúc tích hợp</a:t>
            </a:r>
          </a:p>
          <a:p>
            <a:pPr marL="342900" marR="0" lvl="0" indent="-342900" algn="l" defTabSz="914400" rtl="0" eaLnBrk="1" fontAlgn="auto" latinLnBrk="0" hangingPunct="1">
              <a:lnSpc>
                <a:spcPct val="120000"/>
              </a:lnSpc>
              <a:spcBef>
                <a:spcPct val="0"/>
              </a:spcBef>
              <a:spcAft>
                <a:spcPts val="0"/>
              </a:spcAft>
              <a:buClrTx/>
              <a:buSzTx/>
              <a:buFont typeface="Arial" panose="020B0604020202020204" pitchFamily="34" charset="0"/>
              <a:buChar char="•"/>
              <a:tabLst/>
              <a:defRPr/>
            </a:pPr>
            <a:r>
              <a:rPr lang="en-US" sz="1800" smtClean="0">
                <a:solidFill>
                  <a:srgbClr val="FFB81C"/>
                </a:solidFill>
              </a:rPr>
              <a:t>Kiến trúc triển khai</a:t>
            </a:r>
            <a:endParaRPr lang="en-US" sz="1800" dirty="0" smtClean="0">
              <a:solidFill>
                <a:srgbClr val="FFB81C"/>
              </a:solidFill>
            </a:endParaRPr>
          </a:p>
        </p:txBody>
      </p:sp>
      <p:cxnSp>
        <p:nvCxnSpPr>
          <p:cNvPr id="15" name="Straight Connector 14"/>
          <p:cNvCxnSpPr/>
          <p:nvPr/>
        </p:nvCxnSpPr>
        <p:spPr>
          <a:xfrm>
            <a:off x="914400" y="682388"/>
            <a:ext cx="3084394" cy="0"/>
          </a:xfrm>
          <a:prstGeom prst="line">
            <a:avLst/>
          </a:prstGeom>
          <a:ln w="165100" cap="rnd">
            <a:solidFill>
              <a:srgbClr val="FFB81C"/>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806278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6" name="Object 6" hidden="1">
            <a:extLst>
              <a:ext uri="{FF2B5EF4-FFF2-40B4-BE49-F238E27FC236}">
                <a16:creationId xmlns:a16="http://schemas.microsoft.com/office/drawing/2014/main" id="{0FE275B6-7C1E-4152-91DE-0508CCD455B8}"/>
              </a:ext>
            </a:extLst>
          </p:cNvPr>
          <p:cNvGraphicFramePr>
            <a:graphicFrameLocks noChangeAspect="1"/>
          </p:cNvGraphicFramePr>
          <p:nvPr>
            <p:custDataLst>
              <p:tags r:id="rId2"/>
            </p:custDataLs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1031" name="think-cell Slide" r:id="rId5" imgW="473" imgH="476" progId="TCLayout.ActiveDocument.1">
                  <p:embed/>
                </p:oleObj>
              </mc:Choice>
              <mc:Fallback>
                <p:oleObj name="think-cell Slide" r:id="rId5" imgW="473" imgH="476" progId="TCLayout.ActiveDocument.1">
                  <p:embed/>
                  <p:pic>
                    <p:nvPicPr>
                      <p:cNvPr id="66" name="Object 6" hidden="1">
                        <a:extLst>
                          <a:ext uri="{FF2B5EF4-FFF2-40B4-BE49-F238E27FC236}">
                            <a16:creationId xmlns:a16="http://schemas.microsoft.com/office/drawing/2014/main" id="{0FE275B6-7C1E-4152-91DE-0508CCD455B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 name="Text Placeholder 1">
            <a:extLst>
              <a:ext uri="{FF2B5EF4-FFF2-40B4-BE49-F238E27FC236}">
                <a16:creationId xmlns:a16="http://schemas.microsoft.com/office/drawing/2014/main" id="{206381AD-4C2B-4745-99B1-0BBCE6131A71}"/>
              </a:ext>
            </a:extLst>
          </p:cNvPr>
          <p:cNvSpPr txBox="1">
            <a:spLocks/>
          </p:cNvSpPr>
          <p:nvPr/>
        </p:nvSpPr>
        <p:spPr>
          <a:xfrm>
            <a:off x="660177" y="-43882"/>
            <a:ext cx="10800620" cy="724247"/>
          </a:xfrm>
          <a:prstGeom prst="rect">
            <a:avLst/>
          </a:prstGeom>
        </p:spPr>
        <p:txBody>
          <a:bodyPr vert="horz" lIns="91440" tIns="45720" rIns="91440" bIns="45720" rtlCol="0" anchor="ctr">
            <a:normAutofit/>
          </a:bodyP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a:pPr>
            <a:r>
              <a:rPr lang="en-US" sz="3200" b="1" smtClean="0">
                <a:solidFill>
                  <a:srgbClr val="E67014"/>
                </a:solidFill>
              </a:rPr>
              <a:t>Application Architecture</a:t>
            </a:r>
            <a:endParaRPr lang="en-US" sz="3200" b="1" dirty="0">
              <a:solidFill>
                <a:srgbClr val="E67014"/>
              </a:solidFill>
            </a:endParaRPr>
          </a:p>
        </p:txBody>
      </p:sp>
      <p:sp>
        <p:nvSpPr>
          <p:cNvPr id="7" name="Google Shape;1405;p48">
            <a:extLst>
              <a:ext uri="{FF2B5EF4-FFF2-40B4-BE49-F238E27FC236}">
                <a16:creationId xmlns:a16="http://schemas.microsoft.com/office/drawing/2014/main" id="{095AB5BF-5089-854A-A575-89811E501E2D}"/>
              </a:ext>
            </a:extLst>
          </p:cNvPr>
          <p:cNvSpPr/>
          <p:nvPr/>
        </p:nvSpPr>
        <p:spPr>
          <a:xfrm rot="10800000">
            <a:off x="298043" y="9334"/>
            <a:ext cx="297504" cy="617816"/>
          </a:xfrm>
          <a:custGeom>
            <a:avLst/>
            <a:gdLst/>
            <a:ahLst/>
            <a:cxnLst/>
            <a:rect l="l" t="t" r="r" b="b"/>
            <a:pathLst>
              <a:path w="288" h="868" extrusionOk="0">
                <a:moveTo>
                  <a:pt x="144" y="0"/>
                </a:moveTo>
                <a:cubicBezTo>
                  <a:pt x="64" y="0"/>
                  <a:pt x="0" y="64"/>
                  <a:pt x="0" y="144"/>
                </a:cubicBezTo>
                <a:cubicBezTo>
                  <a:pt x="0" y="868"/>
                  <a:pt x="0" y="868"/>
                  <a:pt x="0" y="868"/>
                </a:cubicBezTo>
                <a:cubicBezTo>
                  <a:pt x="288" y="868"/>
                  <a:pt x="288" y="868"/>
                  <a:pt x="288" y="868"/>
                </a:cubicBezTo>
                <a:cubicBezTo>
                  <a:pt x="288" y="144"/>
                  <a:pt x="288" y="144"/>
                  <a:pt x="288" y="144"/>
                </a:cubicBezTo>
                <a:cubicBezTo>
                  <a:pt x="288" y="64"/>
                  <a:pt x="223" y="0"/>
                  <a:pt x="144" y="0"/>
                </a:cubicBezTo>
                <a:close/>
              </a:path>
            </a:pathLst>
          </a:custGeom>
          <a:gradFill flip="none" rotWithShape="1">
            <a:gsLst>
              <a:gs pos="0">
                <a:srgbClr val="FD4D00">
                  <a:shade val="30000"/>
                  <a:satMod val="115000"/>
                </a:srgbClr>
              </a:gs>
              <a:gs pos="44000">
                <a:srgbClr val="FD4D00">
                  <a:shade val="67500"/>
                  <a:satMod val="115000"/>
                </a:srgbClr>
              </a:gs>
              <a:gs pos="100000">
                <a:srgbClr val="FD9E00"/>
              </a:gs>
            </a:gsLst>
            <a:lin ang="16200000" scaled="1"/>
            <a:tileRect/>
          </a:gradFill>
          <a:ln>
            <a:noFill/>
          </a:ln>
        </p:spPr>
        <p:txBody>
          <a:bodyPr spcFirstLastPara="1" wrap="square" lIns="68575" tIns="34275" rIns="68575" bIns="3427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300" b="1" i="0" u="none" strike="noStrike" kern="1200" cap="none" spc="0" normalizeH="0" baseline="0" noProof="0">
              <a:ln>
                <a:noFill/>
              </a:ln>
              <a:solidFill>
                <a:prstClr val="white"/>
              </a:solidFill>
              <a:effectLst/>
              <a:uLnTx/>
              <a:uFillTx/>
              <a:ea typeface="+mn-ea"/>
              <a:cs typeface="+mn-cs"/>
              <a:sym typeface="Calibri"/>
            </a:endParaRPr>
          </a:p>
        </p:txBody>
      </p:sp>
      <p:sp>
        <p:nvSpPr>
          <p:cNvPr id="5" name="Folded Corner 4"/>
          <p:cNvSpPr/>
          <p:nvPr/>
        </p:nvSpPr>
        <p:spPr>
          <a:xfrm>
            <a:off x="6057789" y="680365"/>
            <a:ext cx="5851039" cy="6002249"/>
          </a:xfrm>
          <a:prstGeom prst="foldedCorner">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8" name="TextBox 7"/>
          <p:cNvSpPr txBox="1"/>
          <p:nvPr/>
        </p:nvSpPr>
        <p:spPr>
          <a:xfrm>
            <a:off x="6057790" y="680365"/>
            <a:ext cx="5964164" cy="5847755"/>
          </a:xfrm>
          <a:prstGeom prst="rect">
            <a:avLst/>
          </a:prstGeom>
          <a:noFill/>
        </p:spPr>
        <p:txBody>
          <a:bodyPr wrap="square" rtlCol="0">
            <a:spAutoFit/>
          </a:bodyPr>
          <a:lstStyle/>
          <a:p>
            <a:r>
              <a:rPr lang="vi-VN" sz="1400" b="1" smtClean="0">
                <a:solidFill>
                  <a:srgbClr val="FF0000"/>
                </a:solidFill>
                <a:latin typeface="Arial (Body)"/>
                <a:cs typeface="Arial" panose="020B0604020202020204" pitchFamily="34" charset="0"/>
              </a:rPr>
              <a:t>Note:</a:t>
            </a:r>
          </a:p>
          <a:p>
            <a:pPr marL="285750" indent="-285750">
              <a:buFont typeface="+mj-lt"/>
              <a:buAutoNum type="arabicPeriod"/>
            </a:pPr>
            <a:r>
              <a:rPr lang="en-US" sz="1200" b="1" smtClean="0">
                <a:latin typeface="Arial (Body)"/>
                <a:cs typeface="Arial" panose="020B0604020202020204" pitchFamily="34" charset="0"/>
              </a:rPr>
              <a:t>Frontend: </a:t>
            </a:r>
          </a:p>
          <a:p>
            <a:pPr marL="461963" lvl="1" indent="-285750">
              <a:buFont typeface="+mj-lt"/>
              <a:buAutoNum type="alphaLcParenR"/>
            </a:pPr>
            <a:r>
              <a:rPr lang="en-US" sz="1200" smtClean="0">
                <a:latin typeface="Arial (Body)"/>
                <a:cs typeface="Arial" panose="020B0604020202020204" pitchFamily="34" charset="0"/>
              </a:rPr>
              <a:t>Bổ sung các màn hình: Phân quyền, Quản trị d/vụ CKS, Dashboard, Quản lý chất lượng NCC, Upload file (đơn/lô), ký duyệt (đơn/lô), Xác thực CKS.</a:t>
            </a:r>
          </a:p>
          <a:p>
            <a:pPr marL="285750" indent="-285750">
              <a:buFont typeface="+mj-lt"/>
              <a:buAutoNum type="arabicPeriod"/>
            </a:pPr>
            <a:r>
              <a:rPr lang="en-US" sz="1200" b="1" smtClean="0">
                <a:latin typeface="Arial (Body)"/>
                <a:cs typeface="Arial" panose="020B0604020202020204" pitchFamily="34" charset="0"/>
              </a:rPr>
              <a:t>Internal Gateway: </a:t>
            </a:r>
          </a:p>
          <a:p>
            <a:pPr marL="461963" lvl="1" indent="-285750">
              <a:buFont typeface="+mj-lt"/>
              <a:buAutoNum type="alphaLcParenR"/>
            </a:pPr>
            <a:r>
              <a:rPr lang="en-US" sz="1200" smtClean="0">
                <a:latin typeface="Arial (Body)"/>
                <a:cs typeface="Arial" panose="020B0604020202020204" pitchFamily="34" charset="0"/>
              </a:rPr>
              <a:t>Bổ sung mapping các API mới cho Portal</a:t>
            </a:r>
            <a:endParaRPr lang="vi-VN" sz="1200" i="1">
              <a:latin typeface="Arial (Body)"/>
              <a:cs typeface="Arial" panose="020B0604020202020204" pitchFamily="34" charset="0"/>
            </a:endParaRPr>
          </a:p>
          <a:p>
            <a:pPr marL="4763" indent="-285750">
              <a:buFont typeface="+mj-lt"/>
              <a:buAutoNum type="arabicPeriod"/>
            </a:pPr>
            <a:r>
              <a:rPr lang="en-US" sz="1200" b="1" smtClean="0">
                <a:latin typeface="Arial (Body)"/>
                <a:cs typeface="Arial" panose="020B0604020202020204" pitchFamily="34" charset="0"/>
              </a:rPr>
              <a:t>Indentity:</a:t>
            </a:r>
            <a:r>
              <a:rPr lang="en-US" sz="1200" smtClean="0">
                <a:latin typeface="Arial (Body)"/>
                <a:cs typeface="Arial" panose="020B0604020202020204" pitchFamily="34" charset="0"/>
              </a:rPr>
              <a:t> Cập nhật phân quyền mới theo người dùng và hệ thống sử dụng dịch vụ CKS</a:t>
            </a:r>
            <a:endParaRPr lang="vi-VN" sz="1200">
              <a:latin typeface="Arial (Body)"/>
              <a:cs typeface="Arial" panose="020B0604020202020204" pitchFamily="34" charset="0"/>
            </a:endParaRPr>
          </a:p>
          <a:p>
            <a:pPr marL="285750" indent="-285750">
              <a:buFont typeface="+mj-lt"/>
              <a:buAutoNum type="arabicPeriod"/>
            </a:pPr>
            <a:r>
              <a:rPr lang="en-US" sz="1200" b="1" smtClean="0">
                <a:latin typeface="Arial (Body)"/>
                <a:cs typeface="Arial" panose="020B0604020202020204" pitchFamily="34" charset="0"/>
              </a:rPr>
              <a:t>Workflow Management:</a:t>
            </a:r>
            <a:endParaRPr lang="en-US" sz="1200" smtClean="0">
              <a:latin typeface="Arial (Body)"/>
              <a:cs typeface="Arial" panose="020B0604020202020204" pitchFamily="34" charset="0"/>
            </a:endParaRPr>
          </a:p>
          <a:p>
            <a:pPr marL="461963" lvl="1" indent="-285750">
              <a:buFont typeface="+mj-lt"/>
              <a:buAutoNum type="alphaLcParenR"/>
            </a:pPr>
            <a:r>
              <a:rPr lang="en-US" sz="1200" b="1" smtClean="0">
                <a:latin typeface="Arial (Body)"/>
                <a:cs typeface="Arial" panose="020B0604020202020204" pitchFamily="34" charset="0"/>
              </a:rPr>
              <a:t>Sign Process:</a:t>
            </a:r>
            <a:r>
              <a:rPr lang="en-US" sz="1200" smtClean="0">
                <a:latin typeface="Arial (Body)"/>
                <a:cs typeface="Arial" panose="020B0604020202020204" pitchFamily="34" charset="0"/>
              </a:rPr>
              <a:t> Cập nhật luồng ký đơn lẻ, theo lô trên Portal; lựa chọn vị trí đặt CKS; Phản hồi kết quả ký qua Kafka cho HTVT</a:t>
            </a:r>
          </a:p>
          <a:p>
            <a:pPr marL="461963" lvl="1" indent="-285750">
              <a:buFont typeface="+mj-lt"/>
              <a:buAutoNum type="alphaLcParenR"/>
            </a:pPr>
            <a:r>
              <a:rPr lang="en-US" sz="1200" b="1" smtClean="0">
                <a:latin typeface="Arial (Body)"/>
                <a:cs typeface="Arial" panose="020B0604020202020204" pitchFamily="34" charset="0"/>
              </a:rPr>
              <a:t>Verify Process:</a:t>
            </a:r>
            <a:r>
              <a:rPr lang="en-US" sz="1200" smtClean="0">
                <a:latin typeface="Arial (Body)"/>
                <a:cs typeface="Arial" panose="020B0604020202020204" pitchFamily="34" charset="0"/>
              </a:rPr>
              <a:t> Cập nhật Luồng verify, bổ sung tính năng bóc tách thông tin CKS</a:t>
            </a:r>
          </a:p>
          <a:p>
            <a:pPr marL="461963" lvl="1" indent="-285750">
              <a:buFont typeface="+mj-lt"/>
              <a:buAutoNum type="alphaLcParenR"/>
            </a:pPr>
            <a:r>
              <a:rPr lang="en-US" sz="1200" b="1" smtClean="0">
                <a:latin typeface="Arial (Body)"/>
                <a:cs typeface="Arial" panose="020B0604020202020204" pitchFamily="34" charset="0"/>
              </a:rPr>
              <a:t>Report &amp; Reconcile: </a:t>
            </a:r>
            <a:r>
              <a:rPr lang="en-US" sz="1200" smtClean="0">
                <a:latin typeface="Arial (Body)"/>
                <a:cs typeface="Arial" panose="020B0604020202020204" pitchFamily="34" charset="0"/>
              </a:rPr>
              <a:t>Cập nhật các Báo cáo, dashboard, báo cáo chất lượng</a:t>
            </a:r>
          </a:p>
          <a:p>
            <a:pPr marL="461963" lvl="1" indent="-285750">
              <a:buFont typeface="+mj-lt"/>
              <a:buAutoNum type="alphaLcParenR"/>
            </a:pPr>
            <a:r>
              <a:rPr lang="en-US" sz="1200" b="1" smtClean="0">
                <a:latin typeface="Arial (Body)"/>
                <a:cs typeface="Arial" panose="020B0604020202020204" pitchFamily="34" charset="0"/>
              </a:rPr>
              <a:t>Portal Process:</a:t>
            </a:r>
            <a:r>
              <a:rPr lang="en-US" sz="1200" smtClean="0">
                <a:latin typeface="Arial (Body)"/>
                <a:cs typeface="Arial" panose="020B0604020202020204" pitchFamily="34" charset="0"/>
              </a:rPr>
              <a:t> Bổ sung chức năng trên Portal: quản trị, phân quyền</a:t>
            </a:r>
          </a:p>
          <a:p>
            <a:pPr marL="285750" indent="-285750">
              <a:buFont typeface="+mj-lt"/>
              <a:buAutoNum type="arabicPeriod"/>
            </a:pPr>
            <a:r>
              <a:rPr lang="en-US" sz="1200" b="1" smtClean="0">
                <a:latin typeface="Arial (Body)"/>
                <a:cs typeface="Arial" panose="020B0604020202020204" pitchFamily="34" charset="0"/>
              </a:rPr>
              <a:t>D-Signature Core:</a:t>
            </a:r>
            <a:endParaRPr lang="en-US" sz="1200" smtClean="0">
              <a:latin typeface="Arial (Body)"/>
              <a:cs typeface="Arial" panose="020B0604020202020204" pitchFamily="34" charset="0"/>
            </a:endParaRPr>
          </a:p>
          <a:p>
            <a:pPr marL="461963" lvl="1" indent="-285750">
              <a:buFont typeface="+mj-lt"/>
              <a:buAutoNum type="alphaLcParenR"/>
            </a:pPr>
            <a:r>
              <a:rPr lang="en-US" sz="1200" b="1" smtClean="0">
                <a:latin typeface="Arial (Body)"/>
                <a:cs typeface="Arial" panose="020B0604020202020204" pitchFamily="34" charset="0"/>
              </a:rPr>
              <a:t>Certicicate Management: </a:t>
            </a:r>
            <a:r>
              <a:rPr lang="en-US" sz="1200" smtClean="0">
                <a:latin typeface="Arial (Body)"/>
                <a:cs typeface="Arial" panose="020B0604020202020204" pitchFamily="34" charset="0"/>
              </a:rPr>
              <a:t>Bổ sung thông tin CTS của DN đã có sẵn từ VNPT</a:t>
            </a:r>
          </a:p>
          <a:p>
            <a:pPr marL="461963" lvl="1" indent="-285750">
              <a:buFont typeface="+mj-lt"/>
              <a:buAutoNum type="alphaLcParenR"/>
            </a:pPr>
            <a:r>
              <a:rPr lang="en-US" sz="1200" b="1" smtClean="0">
                <a:latin typeface="Arial (Body)"/>
                <a:cs typeface="Arial" panose="020B0604020202020204" pitchFamily="34" charset="0"/>
              </a:rPr>
              <a:t>Digital Signing:</a:t>
            </a:r>
            <a:r>
              <a:rPr lang="en-US" sz="1200">
                <a:latin typeface="Arial (Body)"/>
                <a:cs typeface="Arial" panose="020B0604020202020204" pitchFamily="34" charset="0"/>
              </a:rPr>
              <a:t> </a:t>
            </a:r>
            <a:r>
              <a:rPr lang="en-US" sz="1200" smtClean="0">
                <a:latin typeface="Arial (Body)"/>
                <a:cs typeface="Arial" panose="020B0604020202020204" pitchFamily="34" charset="0"/>
              </a:rPr>
              <a:t>Bổ sung chức năng ký và chọn vị trí đặt chữ ký số</a:t>
            </a:r>
            <a:endParaRPr lang="en-US" sz="1200">
              <a:latin typeface="Arial (Body)"/>
              <a:cs typeface="Arial" panose="020B0604020202020204" pitchFamily="34" charset="0"/>
            </a:endParaRPr>
          </a:p>
          <a:p>
            <a:pPr marL="461963" lvl="1" indent="-285750">
              <a:buFont typeface="+mj-lt"/>
              <a:buAutoNum type="alphaLcParenR"/>
            </a:pPr>
            <a:r>
              <a:rPr lang="en-US" sz="1200" b="1" smtClean="0">
                <a:latin typeface="Arial (Body)"/>
                <a:cs typeface="Arial" panose="020B0604020202020204" pitchFamily="34" charset="0"/>
              </a:rPr>
              <a:t>Verification:</a:t>
            </a:r>
            <a:r>
              <a:rPr lang="en-US" sz="1200" smtClean="0">
                <a:latin typeface="Arial (Body)"/>
                <a:cs typeface="Arial" panose="020B0604020202020204" pitchFamily="34" charset="0"/>
              </a:rPr>
              <a:t> Bổ sung chức năng bóc tách thông tin CTS từ CKS</a:t>
            </a:r>
            <a:endParaRPr lang="en-US" sz="1200">
              <a:latin typeface="Arial (Body)"/>
              <a:cs typeface="Arial" panose="020B0604020202020204" pitchFamily="34" charset="0"/>
            </a:endParaRPr>
          </a:p>
          <a:p>
            <a:pPr marL="461963" lvl="1" indent="-285750">
              <a:buFont typeface="+mj-lt"/>
              <a:buAutoNum type="alphaLcParenR"/>
            </a:pPr>
            <a:r>
              <a:rPr lang="en-US" sz="1200" b="1" smtClean="0">
                <a:latin typeface="Arial (Body)"/>
                <a:cs typeface="Arial" panose="020B0604020202020204" pitchFamily="34" charset="0"/>
              </a:rPr>
              <a:t>Providers &amp; Cliens Management:</a:t>
            </a:r>
            <a:r>
              <a:rPr lang="en-US" sz="1200" smtClean="0">
                <a:latin typeface="Arial (Body)"/>
                <a:cs typeface="Arial" panose="020B0604020202020204" pitchFamily="34" charset="0"/>
              </a:rPr>
              <a:t> Quản trị thông tin phân quyền cho client, thông tin Client, người dùng sử dụng các dịch vụ</a:t>
            </a:r>
            <a:endParaRPr lang="en-US" sz="1100" smtClean="0">
              <a:latin typeface="Arial (Body)"/>
              <a:cs typeface="Arial" panose="020B0604020202020204" pitchFamily="34" charset="0"/>
            </a:endParaRPr>
          </a:p>
          <a:p>
            <a:pPr marL="285750" indent="-285750">
              <a:buFont typeface="+mj-lt"/>
              <a:buAutoNum type="arabicPeriod"/>
            </a:pPr>
            <a:r>
              <a:rPr lang="en-US" sz="1200" b="1" smtClean="0">
                <a:latin typeface="Arial (Body)"/>
                <a:cs typeface="Arial" panose="020B0604020202020204" pitchFamily="34" charset="0"/>
              </a:rPr>
              <a:t>Foundation Services</a:t>
            </a:r>
          </a:p>
          <a:p>
            <a:pPr marL="461963" lvl="1" indent="-285750">
              <a:buFont typeface="+mj-lt"/>
              <a:buAutoNum type="alphaLcParenR"/>
            </a:pPr>
            <a:r>
              <a:rPr lang="en-US" sz="1200" b="1" smtClean="0">
                <a:latin typeface="Arial (Body)"/>
                <a:cs typeface="Arial" panose="020B0604020202020204" pitchFamily="34" charset="0"/>
              </a:rPr>
              <a:t>User Management:</a:t>
            </a:r>
            <a:r>
              <a:rPr lang="en-US" sz="1200" smtClean="0">
                <a:latin typeface="Arial (Body)"/>
                <a:cs typeface="Arial" panose="020B0604020202020204" pitchFamily="34" charset="0"/>
              </a:rPr>
              <a:t> Cập nhật tính năng phân quyền cho người dùng login vào Portal</a:t>
            </a:r>
          </a:p>
          <a:p>
            <a:pPr marL="461963" lvl="1" indent="-285750">
              <a:buFont typeface="+mj-lt"/>
              <a:buAutoNum type="alphaLcParenR"/>
            </a:pPr>
            <a:r>
              <a:rPr lang="en-US" sz="1200" b="1" smtClean="0">
                <a:latin typeface="Arial (Body)"/>
                <a:cs typeface="Arial" panose="020B0604020202020204" pitchFamily="34" charset="0"/>
              </a:rPr>
              <a:t>System Integration:</a:t>
            </a:r>
            <a:r>
              <a:rPr lang="en-US" sz="1200" smtClean="0">
                <a:latin typeface="Arial (Body)"/>
                <a:cs typeface="Arial" panose="020B0604020202020204" pitchFamily="34" charset="0"/>
              </a:rPr>
              <a:t> Bổ sung API kết nối VNPT và Messaging để notify cho các service</a:t>
            </a:r>
          </a:p>
          <a:p>
            <a:pPr marL="461963" lvl="1" indent="-285750">
              <a:buFont typeface="+mj-lt"/>
              <a:buAutoNum type="alphaLcParenR"/>
            </a:pPr>
            <a:r>
              <a:rPr lang="en-US" sz="1200" b="1" smtClean="0">
                <a:latin typeface="Arial (Body)"/>
                <a:cs typeface="Arial" panose="020B0604020202020204" pitchFamily="34" charset="0"/>
              </a:rPr>
              <a:t>Job Scheduler Management:</a:t>
            </a:r>
            <a:r>
              <a:rPr lang="en-US" sz="1200" smtClean="0">
                <a:latin typeface="Arial (Body)"/>
                <a:cs typeface="Arial" panose="020B0604020202020204" pitchFamily="34" charset="0"/>
              </a:rPr>
              <a:t> Thêm service mới để Quản lý các job chạy định kỳ đánh giá chất lượng và xử lý số liệu báo cáo, dashboard. Các job của mỗi service khác cần chạy xử lý thì sẽ trigger thông qua kafka để nhận lệnh.</a:t>
            </a:r>
          </a:p>
          <a:p>
            <a:pPr marL="4763" indent="-285750">
              <a:buFont typeface="+mj-lt"/>
              <a:buAutoNum type="arabicPeriod"/>
            </a:pPr>
            <a:r>
              <a:rPr lang="en-US" sz="1200" b="1" smtClean="0">
                <a:latin typeface="Arial (Body)"/>
                <a:cs typeface="Arial" panose="020B0604020202020204" pitchFamily="34" charset="0"/>
              </a:rPr>
              <a:t>Database: PosgreSql</a:t>
            </a:r>
            <a:r>
              <a:rPr lang="en-US" sz="1200" smtClean="0">
                <a:latin typeface="Arial (Body)"/>
                <a:cs typeface="Arial" panose="020B0604020202020204" pitchFamily="34" charset="0"/>
              </a:rPr>
              <a:t>: bổ sung các table mới cho các tính năng</a:t>
            </a:r>
          </a:p>
          <a:p>
            <a:pPr marL="4763" indent="-285750">
              <a:buFont typeface="+mj-lt"/>
              <a:buAutoNum type="arabicPeriod"/>
            </a:pPr>
            <a:r>
              <a:rPr lang="en-US" sz="1200" b="1" smtClean="0">
                <a:latin typeface="Arial (Body)"/>
                <a:cs typeface="Arial" panose="020B0604020202020204" pitchFamily="34" charset="0"/>
              </a:rPr>
              <a:t>Kafka:</a:t>
            </a:r>
            <a:r>
              <a:rPr lang="en-US" sz="1200" smtClean="0">
                <a:latin typeface="Arial (Body)"/>
                <a:cs typeface="Arial" panose="020B0604020202020204" pitchFamily="34" charset="0"/>
              </a:rPr>
              <a:t> Topic quản lý trigger cho các job chạy</a:t>
            </a:r>
          </a:p>
        </p:txBody>
      </p:sp>
      <p:pic>
        <p:nvPicPr>
          <p:cNvPr id="3" name="Picture 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8043" y="680366"/>
            <a:ext cx="5558314" cy="6061234"/>
          </a:xfrm>
          <a:prstGeom prst="rect">
            <a:avLst/>
          </a:prstGeom>
        </p:spPr>
      </p:pic>
    </p:spTree>
    <p:extLst>
      <p:ext uri="{BB962C8B-B14F-4D97-AF65-F5344CB8AC3E}">
        <p14:creationId xmlns:p14="http://schemas.microsoft.com/office/powerpoint/2010/main" val="392443262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Google Shape;1405;p48">
            <a:extLst>
              <a:ext uri="{FF2B5EF4-FFF2-40B4-BE49-F238E27FC236}">
                <a16:creationId xmlns:a16="http://schemas.microsoft.com/office/drawing/2014/main" id="{095AB5BF-5089-854A-A575-89811E501E2D}"/>
              </a:ext>
            </a:extLst>
          </p:cNvPr>
          <p:cNvSpPr/>
          <p:nvPr/>
        </p:nvSpPr>
        <p:spPr>
          <a:xfrm rot="10800000">
            <a:off x="298043" y="9334"/>
            <a:ext cx="297504" cy="617816"/>
          </a:xfrm>
          <a:custGeom>
            <a:avLst/>
            <a:gdLst/>
            <a:ahLst/>
            <a:cxnLst/>
            <a:rect l="l" t="t" r="r" b="b"/>
            <a:pathLst>
              <a:path w="288" h="868" extrusionOk="0">
                <a:moveTo>
                  <a:pt x="144" y="0"/>
                </a:moveTo>
                <a:cubicBezTo>
                  <a:pt x="64" y="0"/>
                  <a:pt x="0" y="64"/>
                  <a:pt x="0" y="144"/>
                </a:cubicBezTo>
                <a:cubicBezTo>
                  <a:pt x="0" y="868"/>
                  <a:pt x="0" y="868"/>
                  <a:pt x="0" y="868"/>
                </a:cubicBezTo>
                <a:cubicBezTo>
                  <a:pt x="288" y="868"/>
                  <a:pt x="288" y="868"/>
                  <a:pt x="288" y="868"/>
                </a:cubicBezTo>
                <a:cubicBezTo>
                  <a:pt x="288" y="144"/>
                  <a:pt x="288" y="144"/>
                  <a:pt x="288" y="144"/>
                </a:cubicBezTo>
                <a:cubicBezTo>
                  <a:pt x="288" y="64"/>
                  <a:pt x="223" y="0"/>
                  <a:pt x="144" y="0"/>
                </a:cubicBezTo>
                <a:close/>
              </a:path>
            </a:pathLst>
          </a:custGeom>
          <a:gradFill flip="none" rotWithShape="1">
            <a:gsLst>
              <a:gs pos="0">
                <a:srgbClr val="FD4D00">
                  <a:shade val="30000"/>
                  <a:satMod val="115000"/>
                </a:srgbClr>
              </a:gs>
              <a:gs pos="44000">
                <a:srgbClr val="FD4D00">
                  <a:shade val="67500"/>
                  <a:satMod val="115000"/>
                </a:srgbClr>
              </a:gs>
              <a:gs pos="100000">
                <a:srgbClr val="FD9E00"/>
              </a:gs>
            </a:gsLst>
            <a:lin ang="16200000" scaled="1"/>
            <a:tileRect/>
          </a:gradFill>
          <a:ln>
            <a:noFill/>
          </a:ln>
        </p:spPr>
        <p:txBody>
          <a:bodyPr spcFirstLastPara="1" wrap="square" lIns="68575" tIns="34275" rIns="68575" bIns="3427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300" b="1"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sym typeface="Calibri"/>
            </a:endParaRPr>
          </a:p>
        </p:txBody>
      </p:sp>
      <p:sp>
        <p:nvSpPr>
          <p:cNvPr id="130" name="Title 2">
            <a:extLst>
              <a:ext uri="{FF2B5EF4-FFF2-40B4-BE49-F238E27FC236}">
                <a16:creationId xmlns:a16="http://schemas.microsoft.com/office/drawing/2014/main" id="{7E83E73A-45A5-49A4-2999-3F1BAC0ADBDD}"/>
              </a:ext>
            </a:extLst>
          </p:cNvPr>
          <p:cNvSpPr txBox="1">
            <a:spLocks/>
          </p:cNvSpPr>
          <p:nvPr/>
        </p:nvSpPr>
        <p:spPr>
          <a:xfrm>
            <a:off x="772415" y="29875"/>
            <a:ext cx="8121414" cy="596161"/>
          </a:xfrm>
          <a:prstGeom prst="rect">
            <a:avLst/>
          </a:prstGeom>
        </p:spPr>
        <p:txBody>
          <a:bodyPr vert="horz" lIns="91440" tIns="45720" rIns="91440" bIns="45720" rtlCol="0" anchor="ctr">
            <a:normAutofit/>
          </a:bodyPr>
          <a:lstStyle>
            <a:defPPr>
              <a:defRPr lang="en-US"/>
            </a:defPPr>
            <a:lvl1pPr lvl="0">
              <a:defRPr sz="3200" b="1">
                <a:solidFill>
                  <a:srgbClr val="E67014"/>
                </a:solidFill>
              </a:defRPr>
            </a:lvl1pPr>
          </a:lstStyle>
          <a:p>
            <a:r>
              <a:rPr lang="en-US" smtClean="0">
                <a:sym typeface="Trebuchet MS" panose="020B0603020202020204" pitchFamily="34" charset="0"/>
              </a:rPr>
              <a:t>Frontend</a:t>
            </a:r>
            <a:endParaRPr lang="en-US" dirty="0">
              <a:sym typeface="Trebuchet MS" panose="020B0603020202020204" pitchFamily="34" charset="0"/>
            </a:endParaRPr>
          </a:p>
        </p:txBody>
      </p:sp>
      <p:graphicFrame>
        <p:nvGraphicFramePr>
          <p:cNvPr id="12" name="Table 11"/>
          <p:cNvGraphicFramePr>
            <a:graphicFrameLocks noGrp="1"/>
          </p:cNvGraphicFramePr>
          <p:nvPr>
            <p:extLst>
              <p:ext uri="{D42A27DB-BD31-4B8C-83A1-F6EECF244321}">
                <p14:modId xmlns:p14="http://schemas.microsoft.com/office/powerpoint/2010/main" val="227941873"/>
              </p:ext>
            </p:extLst>
          </p:nvPr>
        </p:nvGraphicFramePr>
        <p:xfrm>
          <a:off x="298042" y="700819"/>
          <a:ext cx="11223398" cy="5943600"/>
        </p:xfrm>
        <a:graphic>
          <a:graphicData uri="http://schemas.openxmlformats.org/drawingml/2006/table">
            <a:tbl>
              <a:tblPr firstRow="1" bandRow="1">
                <a:tableStyleId>{5C22544A-7EE6-4342-B048-85BDC9FD1C3A}</a:tableStyleId>
              </a:tblPr>
              <a:tblGrid>
                <a:gridCol w="421270">
                  <a:extLst>
                    <a:ext uri="{9D8B030D-6E8A-4147-A177-3AD203B41FA5}">
                      <a16:colId xmlns:a16="http://schemas.microsoft.com/office/drawing/2014/main" val="1984670817"/>
                    </a:ext>
                  </a:extLst>
                </a:gridCol>
                <a:gridCol w="2821654">
                  <a:extLst>
                    <a:ext uri="{9D8B030D-6E8A-4147-A177-3AD203B41FA5}">
                      <a16:colId xmlns:a16="http://schemas.microsoft.com/office/drawing/2014/main" val="3303426964"/>
                    </a:ext>
                  </a:extLst>
                </a:gridCol>
                <a:gridCol w="3998508">
                  <a:extLst>
                    <a:ext uri="{9D8B030D-6E8A-4147-A177-3AD203B41FA5}">
                      <a16:colId xmlns:a16="http://schemas.microsoft.com/office/drawing/2014/main" val="857592515"/>
                    </a:ext>
                  </a:extLst>
                </a:gridCol>
                <a:gridCol w="3981966">
                  <a:extLst>
                    <a:ext uri="{9D8B030D-6E8A-4147-A177-3AD203B41FA5}">
                      <a16:colId xmlns:a16="http://schemas.microsoft.com/office/drawing/2014/main" val="3219222278"/>
                    </a:ext>
                  </a:extLst>
                </a:gridCol>
              </a:tblGrid>
              <a:tr h="30522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600" smtClean="0">
                          <a:latin typeface="Arial (Body)"/>
                        </a:rPr>
                        <a:t>#</a:t>
                      </a:r>
                      <a:endParaRPr lang="en-US" sz="1600" dirty="0">
                        <a:latin typeface="Arial (Body)"/>
                      </a:endParaRPr>
                    </a:p>
                  </a:txBody>
                  <a:tcPr anchor="ct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600" smtClean="0">
                          <a:latin typeface="Arial (Body)"/>
                        </a:rPr>
                        <a:t>Yêu</a:t>
                      </a:r>
                      <a:r>
                        <a:rPr lang="en-US" sz="1600" baseline="0" smtClean="0">
                          <a:latin typeface="Arial (Body)"/>
                        </a:rPr>
                        <a:t> cầu</a:t>
                      </a:r>
                      <a:endParaRPr lang="en-US" sz="1600" dirty="0">
                        <a:latin typeface="Arial (Body)"/>
                      </a:endParaRPr>
                    </a:p>
                  </a:txBody>
                  <a:tcPr anchor="ct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600" smtClean="0">
                          <a:latin typeface="Arial (Body)"/>
                        </a:rPr>
                        <a:t>Hiện</a:t>
                      </a:r>
                      <a:r>
                        <a:rPr lang="en-US" sz="1600" baseline="0" smtClean="0">
                          <a:latin typeface="Arial (Body)"/>
                        </a:rPr>
                        <a:t> trạng</a:t>
                      </a:r>
                      <a:endParaRPr lang="en-US" sz="1600" dirty="0">
                        <a:latin typeface="Arial (Body)"/>
                      </a:endParaRPr>
                    </a:p>
                  </a:txBody>
                  <a:tcPr anchor="ct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600" smtClean="0">
                          <a:latin typeface="Arial (Body)"/>
                        </a:rPr>
                        <a:t>Điều</a:t>
                      </a:r>
                      <a:r>
                        <a:rPr lang="en-US" sz="1600" baseline="0" smtClean="0">
                          <a:latin typeface="Arial (Body)"/>
                        </a:rPr>
                        <a:t> chỉnh</a:t>
                      </a:r>
                      <a:endParaRPr lang="en-US" sz="1600" dirty="0">
                        <a:latin typeface="Arial (Body)"/>
                      </a:endParaRPr>
                    </a:p>
                  </a:txBody>
                  <a:tcPr anchor="ctr"/>
                </a:tc>
                <a:extLst>
                  <a:ext uri="{0D108BD9-81ED-4DB2-BD59-A6C34878D82A}">
                    <a16:rowId xmlns:a16="http://schemas.microsoft.com/office/drawing/2014/main" val="3531428717"/>
                  </a:ext>
                </a:extLst>
              </a:tr>
              <a:tr h="305228">
                <a:tc>
                  <a:txBody>
                    <a:bodyPr/>
                    <a:lstStyle/>
                    <a:p>
                      <a:pPr marL="0" marR="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u="none" strike="noStrike" kern="1200" cap="none" normalizeH="0" baseline="0" smtClean="0">
                          <a:ln>
                            <a:noFill/>
                          </a:ln>
                          <a:effectLst/>
                          <a:latin typeface="Arial (Body)"/>
                        </a:rPr>
                        <a:t>1</a:t>
                      </a:r>
                      <a:endParaRPr kumimoji="0" lang="en-US" sz="1400" u="none" strike="noStrike" kern="1200" cap="none" normalizeH="0" baseline="0" dirty="0">
                        <a:ln>
                          <a:noFill/>
                        </a:ln>
                        <a:solidFill>
                          <a:schemeClr val="dk1"/>
                        </a:solidFill>
                        <a:effectLst/>
                        <a:latin typeface="Arial (Body)"/>
                        <a:ea typeface="Arial Unicode MS"/>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1400" i="0" u="none" strike="noStrike" kern="1200" cap="none" normalizeH="0" baseline="0" smtClean="0">
                          <a:ln>
                            <a:noFill/>
                          </a:ln>
                          <a:solidFill>
                            <a:schemeClr val="tx1">
                              <a:lumMod val="95000"/>
                              <a:lumOff val="5000"/>
                            </a:schemeClr>
                          </a:solidFill>
                          <a:effectLst/>
                          <a:latin typeface="Arial (Body)"/>
                          <a:ea typeface="Arial Unicode MS"/>
                          <a:cs typeface="Arial" panose="020B0604020202020204" pitchFamily="34" charset="0"/>
                        </a:rPr>
                        <a:t>DS phân quyền: Người dùng, hệ thống sử dụng dịch vụ CKS</a:t>
                      </a:r>
                      <a:endParaRPr kumimoji="0" lang="en-US" sz="1400" i="0" u="none" strike="noStrike" kern="1200" cap="none" normalizeH="0" baseline="0" smtClean="0">
                        <a:ln>
                          <a:noFill/>
                        </a:ln>
                        <a:solidFill>
                          <a:schemeClr val="tx1">
                            <a:lumMod val="95000"/>
                            <a:lumOff val="5000"/>
                          </a:schemeClr>
                        </a:solidFill>
                        <a:effectLst/>
                        <a:latin typeface="Arial (Body)"/>
                        <a:ea typeface="Arial Unicode MS"/>
                        <a:cs typeface="Arial" panose="020B0604020202020204" pitchFamily="34" charset="0"/>
                      </a:endParaRPr>
                    </a:p>
                  </a:txBody>
                  <a:tcPr anchor="ctr"/>
                </a:tc>
                <a:tc>
                  <a:txBody>
                    <a:bodyPr/>
                    <a:lstStyle/>
                    <a:p>
                      <a:pPr algn="just"/>
                      <a:r>
                        <a:rPr lang="en-US" sz="1400" i="0" smtClean="0">
                          <a:latin typeface="Arial (Body)"/>
                          <a:cs typeface="Arial" panose="020B0604020202020204" pitchFamily="34" charset="0"/>
                        </a:rPr>
                        <a:t>Chưa</a:t>
                      </a:r>
                      <a:r>
                        <a:rPr lang="en-US" sz="1400" i="0" baseline="0" smtClean="0">
                          <a:latin typeface="Arial (Body)"/>
                          <a:cs typeface="Arial" panose="020B0604020202020204" pitchFamily="34" charset="0"/>
                        </a:rPr>
                        <a:t> có hệ thống quản trị, đang thực hiện cấu hình trực tiếp trong db</a:t>
                      </a:r>
                      <a:endParaRPr lang="en-US" sz="1400" i="0" dirty="0">
                        <a:latin typeface="Arial (Body)"/>
                        <a:cs typeface="Arial" panose="020B0604020202020204" pitchFamily="34" charset="0"/>
                      </a:endParaRPr>
                    </a:p>
                  </a:txBody>
                  <a:tcPr anchor="ctr"/>
                </a:tc>
                <a:tc>
                  <a:txBody>
                    <a:bodyPr/>
                    <a:lstStyle/>
                    <a:p>
                      <a:pPr algn="just"/>
                      <a:r>
                        <a:rPr lang="en-US" sz="1400" i="0" smtClean="0">
                          <a:latin typeface="Arial (Body)"/>
                          <a:cs typeface="Arial" panose="020B0604020202020204" pitchFamily="34" charset="0"/>
                        </a:rPr>
                        <a:t>Xây</a:t>
                      </a:r>
                      <a:r>
                        <a:rPr lang="en-US" sz="1400" i="0" baseline="0" smtClean="0">
                          <a:latin typeface="Arial (Body)"/>
                          <a:cs typeface="Arial" panose="020B0604020202020204" pitchFamily="34" charset="0"/>
                        </a:rPr>
                        <a:t> dựng giao diện quản trị cho Admin để cấu hình phân quyền cho người dùng, HTVT</a:t>
                      </a:r>
                      <a:endParaRPr lang="en-US" sz="1400" i="0">
                        <a:latin typeface="Arial (Body)"/>
                        <a:cs typeface="Arial" panose="020B0604020202020204" pitchFamily="34" charset="0"/>
                      </a:endParaRPr>
                    </a:p>
                  </a:txBody>
                  <a:tcPr anchor="ctr"/>
                </a:tc>
                <a:extLst>
                  <a:ext uri="{0D108BD9-81ED-4DB2-BD59-A6C34878D82A}">
                    <a16:rowId xmlns:a16="http://schemas.microsoft.com/office/drawing/2014/main" val="83204792"/>
                  </a:ext>
                </a:extLst>
              </a:tr>
              <a:tr h="30522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u="none" strike="noStrike" kern="1200" cap="none" normalizeH="0" baseline="0" smtClean="0">
                          <a:ln>
                            <a:noFill/>
                          </a:ln>
                          <a:effectLst/>
                          <a:latin typeface="Arial (Body)"/>
                        </a:rPr>
                        <a:t>2</a:t>
                      </a:r>
                      <a:endParaRPr kumimoji="0" lang="en-US" sz="1400" u="none" strike="noStrike" kern="1200" cap="none" normalizeH="0" baseline="0" dirty="0">
                        <a:ln>
                          <a:noFill/>
                        </a:ln>
                        <a:solidFill>
                          <a:schemeClr val="tx1">
                            <a:lumMod val="95000"/>
                            <a:lumOff val="5000"/>
                          </a:schemeClr>
                        </a:solidFill>
                        <a:effectLst/>
                        <a:latin typeface="Arial (Body)"/>
                        <a:ea typeface="Arial Unicode MS"/>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1400" i="0" u="none" strike="noStrike" kern="1200" cap="none" normalizeH="0" baseline="0" smtClean="0">
                          <a:ln>
                            <a:noFill/>
                          </a:ln>
                          <a:solidFill>
                            <a:schemeClr val="tx1">
                              <a:lumMod val="95000"/>
                              <a:lumOff val="5000"/>
                            </a:schemeClr>
                          </a:solidFill>
                          <a:effectLst/>
                          <a:latin typeface="Arial (Body)"/>
                          <a:ea typeface="Arial Unicode MS"/>
                          <a:cs typeface="Arial" panose="020B0604020202020204" pitchFamily="34" charset="0"/>
                        </a:rPr>
                        <a:t>Quản trị dịch vụ CKS</a:t>
                      </a:r>
                      <a:r>
                        <a:rPr kumimoji="0" lang="en-US" sz="1400" i="0" u="none" strike="noStrike" kern="1200" cap="none" normalizeH="0" baseline="0" smtClean="0">
                          <a:ln>
                            <a:noFill/>
                          </a:ln>
                          <a:solidFill>
                            <a:schemeClr val="tx1">
                              <a:lumMod val="95000"/>
                              <a:lumOff val="5000"/>
                            </a:schemeClr>
                          </a:solidFill>
                          <a:effectLst/>
                          <a:latin typeface="Arial (Body)"/>
                          <a:ea typeface="Arial Unicode MS"/>
                          <a:cs typeface="Arial" panose="020B0604020202020204" pitchFamily="34" charset="0"/>
                        </a:rPr>
                        <a:t>:</a:t>
                      </a:r>
                      <a:r>
                        <a:rPr kumimoji="0" lang="vi-VN" sz="1400" i="0" u="none" strike="noStrike" kern="1200" cap="none" normalizeH="0" baseline="0" smtClean="0">
                          <a:ln>
                            <a:noFill/>
                          </a:ln>
                          <a:solidFill>
                            <a:schemeClr val="tx1">
                              <a:lumMod val="95000"/>
                              <a:lumOff val="5000"/>
                            </a:schemeClr>
                          </a:solidFill>
                          <a:effectLst/>
                          <a:latin typeface="Arial (Body)"/>
                          <a:ea typeface="Arial Unicode MS"/>
                          <a:cs typeface="Arial" panose="020B0604020202020204" pitchFamily="34" charset="0"/>
                        </a:rPr>
                        <a:t> CTS người dùng, client</a:t>
                      </a:r>
                      <a:endParaRPr kumimoji="0" lang="en-US" sz="1400" i="0" u="none" strike="noStrike" kern="1200" cap="none" normalizeH="0" baseline="0" smtClean="0">
                        <a:ln>
                          <a:noFill/>
                        </a:ln>
                        <a:solidFill>
                          <a:schemeClr val="tx1">
                            <a:lumMod val="95000"/>
                            <a:lumOff val="5000"/>
                          </a:schemeClr>
                        </a:solidFill>
                        <a:effectLst/>
                        <a:latin typeface="Arial (Body)"/>
                        <a:ea typeface="Arial Unicode MS"/>
                        <a:cs typeface="Arial" panose="020B0604020202020204" pitchFamily="34" charset="0"/>
                      </a:endParaRPr>
                    </a:p>
                  </a:txBody>
                  <a:tcPr anchor="ctr"/>
                </a:tc>
                <a:tc>
                  <a:txBody>
                    <a:bodyPr/>
                    <a:lstStyle/>
                    <a:p>
                      <a:pPr algn="just"/>
                      <a:r>
                        <a:rPr lang="en-US" sz="1400" i="0" smtClean="0">
                          <a:latin typeface="Arial (Body)"/>
                          <a:cs typeface="Arial" panose="020B0604020202020204" pitchFamily="34" charset="0"/>
                        </a:rPr>
                        <a:t>Chưa</a:t>
                      </a:r>
                      <a:r>
                        <a:rPr lang="en-US" sz="1400" i="0" baseline="0" smtClean="0">
                          <a:latin typeface="Arial (Body)"/>
                          <a:cs typeface="Arial" panose="020B0604020202020204" pitchFamily="34" charset="0"/>
                        </a:rPr>
                        <a:t> có hệ thống quản trị, đang thực hiện cấu hình trực tiếp trong db</a:t>
                      </a:r>
                      <a:endParaRPr lang="en-US" sz="1400" i="0" dirty="0">
                        <a:latin typeface="Arial (Body)"/>
                        <a:cs typeface="Arial" panose="020B0604020202020204" pitchFamily="34" charset="0"/>
                      </a:endParaRPr>
                    </a:p>
                  </a:txBody>
                  <a:tcPr anchor="ctr"/>
                </a:tc>
                <a:tc>
                  <a:txBody>
                    <a:bodyPr/>
                    <a:lstStyle/>
                    <a:p>
                      <a:pPr algn="just"/>
                      <a:r>
                        <a:rPr lang="en-US" sz="1400" i="0" smtClean="0">
                          <a:latin typeface="Arial (Body)"/>
                          <a:cs typeface="Arial" panose="020B0604020202020204" pitchFamily="34" charset="0"/>
                        </a:rPr>
                        <a:t>Xây</a:t>
                      </a:r>
                      <a:r>
                        <a:rPr lang="en-US" sz="1400" i="0" baseline="0" smtClean="0">
                          <a:latin typeface="Arial (Body)"/>
                          <a:cs typeface="Arial" panose="020B0604020202020204" pitchFamily="34" charset="0"/>
                        </a:rPr>
                        <a:t> dựng giao diện quản trị cho Admin để cấu hình CTS cho người dùng, HTVT</a:t>
                      </a:r>
                      <a:endParaRPr lang="en-US" sz="1400" i="0">
                        <a:latin typeface="Arial (Body)"/>
                        <a:cs typeface="Arial" panose="020B0604020202020204" pitchFamily="34" charset="0"/>
                      </a:endParaRPr>
                    </a:p>
                  </a:txBody>
                  <a:tcPr anchor="ctr"/>
                </a:tc>
                <a:extLst>
                  <a:ext uri="{0D108BD9-81ED-4DB2-BD59-A6C34878D82A}">
                    <a16:rowId xmlns:a16="http://schemas.microsoft.com/office/drawing/2014/main" val="4181638331"/>
                  </a:ext>
                </a:extLst>
              </a:tr>
              <a:tr h="30522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u="none" strike="noStrike" kern="1200" cap="none" normalizeH="0" baseline="0" smtClean="0">
                          <a:ln>
                            <a:noFill/>
                          </a:ln>
                          <a:effectLst/>
                          <a:latin typeface="Arial (Body)"/>
                        </a:rPr>
                        <a:t>3</a:t>
                      </a:r>
                      <a:endParaRPr kumimoji="0" lang="en-US" sz="1400" u="none" strike="noStrike" kern="1200" cap="none" normalizeH="0" baseline="0" dirty="0">
                        <a:ln>
                          <a:noFill/>
                        </a:ln>
                        <a:solidFill>
                          <a:schemeClr val="tx1">
                            <a:lumMod val="95000"/>
                            <a:lumOff val="5000"/>
                          </a:schemeClr>
                        </a:solidFill>
                        <a:effectLst/>
                        <a:latin typeface="Arial (Body)"/>
                        <a:ea typeface="Arial Unicode MS"/>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i="0" u="none" strike="noStrike" kern="1200" cap="none" normalizeH="0" baseline="0" smtClean="0">
                          <a:ln>
                            <a:noFill/>
                          </a:ln>
                          <a:solidFill>
                            <a:schemeClr val="tx1">
                              <a:lumMod val="95000"/>
                              <a:lumOff val="5000"/>
                            </a:schemeClr>
                          </a:solidFill>
                          <a:effectLst/>
                          <a:latin typeface="Arial (Body)"/>
                          <a:ea typeface="Arial Unicode MS"/>
                          <a:cs typeface="Arial" panose="020B0604020202020204" pitchFamily="34" charset="0"/>
                        </a:rPr>
                        <a:t>Quản trị dịch vụ CKS : Quản trị lịch sử, NCC CKS</a:t>
                      </a:r>
                    </a:p>
                  </a:txBody>
                  <a:tcPr anchor="ctr"/>
                </a:tc>
                <a:tc>
                  <a:txBody>
                    <a:bodyPr/>
                    <a:lstStyle/>
                    <a:p>
                      <a:pPr algn="just"/>
                      <a:r>
                        <a:rPr lang="en-US" sz="1400" i="0" smtClean="0">
                          <a:latin typeface="Arial (Body)"/>
                          <a:cs typeface="Arial" panose="020B0604020202020204" pitchFamily="34" charset="0"/>
                        </a:rPr>
                        <a:t>Chưa</a:t>
                      </a:r>
                      <a:r>
                        <a:rPr lang="en-US" sz="1400" i="0" baseline="0" smtClean="0">
                          <a:latin typeface="Arial (Body)"/>
                          <a:cs typeface="Arial" panose="020B0604020202020204" pitchFamily="34" charset="0"/>
                        </a:rPr>
                        <a:t> có hệ thống quản trị, đang thực hiện cấu hình trực tiếp trong db</a:t>
                      </a:r>
                      <a:endParaRPr lang="en-US" sz="1400" i="0" dirty="0">
                        <a:latin typeface="Arial (Body)"/>
                        <a:cs typeface="Arial" panose="020B0604020202020204" pitchFamily="34" charset="0"/>
                      </a:endParaRPr>
                    </a:p>
                  </a:txBody>
                  <a:tcPr anchor="ctr"/>
                </a:tc>
                <a:tc>
                  <a:txBody>
                    <a:bodyPr/>
                    <a:lstStyle/>
                    <a:p>
                      <a:pPr algn="just"/>
                      <a:r>
                        <a:rPr lang="en-US" sz="1400" i="0" smtClean="0">
                          <a:latin typeface="Arial (Body)"/>
                          <a:cs typeface="Arial" panose="020B0604020202020204" pitchFamily="34" charset="0"/>
                        </a:rPr>
                        <a:t>Xây</a:t>
                      </a:r>
                      <a:r>
                        <a:rPr lang="en-US" sz="1400" i="0" baseline="0" smtClean="0">
                          <a:latin typeface="Arial (Body)"/>
                          <a:cs typeface="Arial" panose="020B0604020202020204" pitchFamily="34" charset="0"/>
                        </a:rPr>
                        <a:t> dựng giao diện quản trị cho Admin để xem lịch sử NCC (VNPT, MISA)</a:t>
                      </a:r>
                      <a:endParaRPr lang="en-US" sz="1400" i="0">
                        <a:latin typeface="Arial (Body)"/>
                        <a:cs typeface="Arial" panose="020B0604020202020204" pitchFamily="34" charset="0"/>
                      </a:endParaRPr>
                    </a:p>
                  </a:txBody>
                  <a:tcPr anchor="ctr"/>
                </a:tc>
                <a:extLst>
                  <a:ext uri="{0D108BD9-81ED-4DB2-BD59-A6C34878D82A}">
                    <a16:rowId xmlns:a16="http://schemas.microsoft.com/office/drawing/2014/main" val="198879950"/>
                  </a:ext>
                </a:extLst>
              </a:tr>
              <a:tr h="30522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u="none" strike="noStrike" kern="1200" cap="none" normalizeH="0" baseline="0" smtClean="0">
                          <a:ln>
                            <a:noFill/>
                          </a:ln>
                          <a:effectLst/>
                          <a:latin typeface="Arial (Body)"/>
                        </a:rPr>
                        <a:t>4</a:t>
                      </a:r>
                      <a:endParaRPr kumimoji="0" lang="en-US" sz="1400" u="none" strike="noStrike" kern="1200" cap="none" normalizeH="0" baseline="0" dirty="0">
                        <a:ln>
                          <a:noFill/>
                        </a:ln>
                        <a:solidFill>
                          <a:schemeClr val="tx1">
                            <a:lumMod val="95000"/>
                            <a:lumOff val="5000"/>
                          </a:schemeClr>
                        </a:solidFill>
                        <a:effectLst/>
                        <a:latin typeface="Arial (Body)"/>
                        <a:ea typeface="Arial Unicode MS"/>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i="0" u="none" strike="noStrike" kern="1200" cap="none" normalizeH="0" baseline="0" smtClean="0">
                          <a:ln>
                            <a:noFill/>
                          </a:ln>
                          <a:solidFill>
                            <a:schemeClr val="tx1">
                              <a:lumMod val="95000"/>
                              <a:lumOff val="5000"/>
                            </a:schemeClr>
                          </a:solidFill>
                          <a:effectLst/>
                          <a:latin typeface="Arial (Body)"/>
                          <a:ea typeface="Arial Unicode MS"/>
                          <a:cs typeface="Arial" panose="020B0604020202020204" pitchFamily="34" charset="0"/>
                        </a:rPr>
                        <a:t>DS Web Portal Dashboard thống kê</a:t>
                      </a:r>
                    </a:p>
                  </a:txBody>
                  <a:tcPr anchor="ctr"/>
                </a:tc>
                <a:tc>
                  <a:txBody>
                    <a:bodyPr/>
                    <a:lstStyle/>
                    <a:p>
                      <a:pPr algn="just"/>
                      <a:r>
                        <a:rPr lang="en-US" sz="1400" i="0" smtClean="0">
                          <a:latin typeface="Arial (Body)"/>
                          <a:cs typeface="Arial" panose="020B0604020202020204" pitchFamily="34" charset="0"/>
                        </a:rPr>
                        <a:t>Chưa</a:t>
                      </a:r>
                      <a:r>
                        <a:rPr lang="en-US" sz="1400" i="0" baseline="0" smtClean="0">
                          <a:latin typeface="Arial (Body)"/>
                          <a:cs typeface="Arial" panose="020B0604020202020204" pitchFamily="34" charset="0"/>
                        </a:rPr>
                        <a:t> có trang thống kê, đang thực hiện lấy dữ liệu trực tiếp từ db</a:t>
                      </a:r>
                      <a:endParaRPr lang="en-US" sz="1400" i="0" dirty="0">
                        <a:latin typeface="Arial (Body)"/>
                        <a:cs typeface="Arial" panose="020B0604020202020204" pitchFamily="34" charset="0"/>
                      </a:endParaRPr>
                    </a:p>
                  </a:txBody>
                  <a:tcPr anchor="ctr"/>
                </a:tc>
                <a:tc>
                  <a:txBody>
                    <a:bodyPr/>
                    <a:lstStyle/>
                    <a:p>
                      <a:pPr algn="just"/>
                      <a:r>
                        <a:rPr lang="en-US" sz="1400" i="0" smtClean="0">
                          <a:latin typeface="Arial (Body)"/>
                          <a:cs typeface="Arial" panose="020B0604020202020204" pitchFamily="34" charset="0"/>
                        </a:rPr>
                        <a:t>Xây</a:t>
                      </a:r>
                      <a:r>
                        <a:rPr lang="en-US" sz="1400" i="0" baseline="0" smtClean="0">
                          <a:latin typeface="Arial (Body)"/>
                          <a:cs typeface="Arial" panose="020B0604020202020204" pitchFamily="34" charset="0"/>
                        </a:rPr>
                        <a:t> dựng giao diện thống kê, dashboard cho người dùng</a:t>
                      </a:r>
                      <a:endParaRPr lang="en-US" sz="1400" i="0">
                        <a:latin typeface="Arial (Body)"/>
                        <a:cs typeface="Arial" panose="020B0604020202020204" pitchFamily="34" charset="0"/>
                      </a:endParaRPr>
                    </a:p>
                  </a:txBody>
                  <a:tcPr anchor="ctr"/>
                </a:tc>
                <a:extLst>
                  <a:ext uri="{0D108BD9-81ED-4DB2-BD59-A6C34878D82A}">
                    <a16:rowId xmlns:a16="http://schemas.microsoft.com/office/drawing/2014/main" val="505038864"/>
                  </a:ext>
                </a:extLst>
              </a:tr>
              <a:tr h="30522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u="none" strike="noStrike" kern="1200" cap="none" normalizeH="0" baseline="0" smtClean="0">
                          <a:ln>
                            <a:noFill/>
                          </a:ln>
                          <a:solidFill>
                            <a:schemeClr val="tx1">
                              <a:lumMod val="95000"/>
                              <a:lumOff val="5000"/>
                            </a:schemeClr>
                          </a:solidFill>
                          <a:effectLst/>
                          <a:latin typeface="Arial (Body)"/>
                          <a:ea typeface="Arial Unicode MS"/>
                          <a:cs typeface="Arial" panose="020B0604020202020204" pitchFamily="34" charset="0"/>
                        </a:rPr>
                        <a:t>5</a:t>
                      </a:r>
                      <a:endParaRPr kumimoji="0" lang="en-US" sz="1400" u="none" strike="noStrike" kern="1200" cap="none" normalizeH="0" baseline="0" dirty="0">
                        <a:ln>
                          <a:noFill/>
                        </a:ln>
                        <a:solidFill>
                          <a:schemeClr val="tx1">
                            <a:lumMod val="95000"/>
                            <a:lumOff val="5000"/>
                          </a:schemeClr>
                        </a:solidFill>
                        <a:effectLst/>
                        <a:latin typeface="Arial (Body)"/>
                        <a:ea typeface="Arial Unicode MS"/>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1400" i="0" u="none" strike="noStrike" kern="1200" cap="none" normalizeH="0" baseline="0" smtClean="0">
                          <a:ln>
                            <a:noFill/>
                          </a:ln>
                          <a:solidFill>
                            <a:schemeClr val="tx1">
                              <a:lumMod val="95000"/>
                              <a:lumOff val="5000"/>
                            </a:schemeClr>
                          </a:solidFill>
                          <a:effectLst/>
                          <a:latin typeface="Arial (Body)"/>
                          <a:ea typeface="Arial Unicode MS"/>
                          <a:cs typeface="Arial" panose="020B0604020202020204" pitchFamily="34" charset="0"/>
                        </a:rPr>
                        <a:t>Web Portal - Ký file đơn lẻ, theo lô</a:t>
                      </a:r>
                      <a:endParaRPr kumimoji="0" lang="en-US" sz="1400" i="0" u="none" strike="noStrike" kern="1200" cap="none" normalizeH="0" baseline="0" smtClean="0">
                        <a:ln>
                          <a:noFill/>
                        </a:ln>
                        <a:solidFill>
                          <a:schemeClr val="tx1">
                            <a:lumMod val="95000"/>
                            <a:lumOff val="5000"/>
                          </a:schemeClr>
                        </a:solidFill>
                        <a:effectLst/>
                        <a:latin typeface="Arial (Body)"/>
                        <a:ea typeface="Arial Unicode MS"/>
                        <a:cs typeface="Arial" panose="020B0604020202020204" pitchFamily="34" charset="0"/>
                      </a:endParaRPr>
                    </a:p>
                  </a:txBody>
                  <a:tcPr anchor="ctr"/>
                </a:tc>
                <a:tc>
                  <a:txBody>
                    <a:bodyPr/>
                    <a:lstStyle/>
                    <a:p>
                      <a:pPr algn="just"/>
                      <a:r>
                        <a:rPr lang="en-US" sz="1400" i="0" smtClean="0">
                          <a:latin typeface="Arial (Body)"/>
                          <a:cs typeface="Arial" panose="020B0604020202020204" pitchFamily="34" charset="0"/>
                        </a:rPr>
                        <a:t>Chưa</a:t>
                      </a:r>
                      <a:r>
                        <a:rPr lang="en-US" sz="1400" i="0" baseline="0" smtClean="0">
                          <a:latin typeface="Arial (Body)"/>
                          <a:cs typeface="Arial" panose="020B0604020202020204" pitchFamily="34" charset="0"/>
                        </a:rPr>
                        <a:t> cho phép người dùng upload file cần ký lên Portal để thực hiện ký duyệt</a:t>
                      </a:r>
                      <a:endParaRPr lang="en-US" sz="1400" i="0" dirty="0">
                        <a:latin typeface="Arial (Body)"/>
                        <a:cs typeface="Arial" panose="020B0604020202020204" pitchFamily="34" charset="0"/>
                      </a:endParaRPr>
                    </a:p>
                  </a:txBody>
                  <a:tcPr anchor="ctr"/>
                </a:tc>
                <a:tc>
                  <a:txBody>
                    <a:bodyPr/>
                    <a:lstStyle/>
                    <a:p>
                      <a:pPr algn="just"/>
                      <a:r>
                        <a:rPr lang="en-US" sz="1400" i="0" smtClean="0">
                          <a:latin typeface="Arial (Body)"/>
                          <a:cs typeface="Arial" panose="020B0604020202020204" pitchFamily="34" charset="0"/>
                        </a:rPr>
                        <a:t>Bổ</a:t>
                      </a:r>
                      <a:r>
                        <a:rPr lang="en-US" sz="1400" i="0" baseline="0" smtClean="0">
                          <a:latin typeface="Arial (Body)"/>
                          <a:cs typeface="Arial" panose="020B0604020202020204" pitchFamily="34" charset="0"/>
                        </a:rPr>
                        <a:t> sung chức năng upload file cần ký (maker) và thực hiện ký duyệt (checker) trên Portal.</a:t>
                      </a:r>
                      <a:endParaRPr lang="en-US" sz="1400" i="0">
                        <a:latin typeface="Arial (Body)"/>
                        <a:cs typeface="Arial" panose="020B0604020202020204" pitchFamily="34" charset="0"/>
                      </a:endParaRPr>
                    </a:p>
                  </a:txBody>
                  <a:tcPr anchor="ctr"/>
                </a:tc>
                <a:extLst>
                  <a:ext uri="{0D108BD9-81ED-4DB2-BD59-A6C34878D82A}">
                    <a16:rowId xmlns:a16="http://schemas.microsoft.com/office/drawing/2014/main" val="3624990319"/>
                  </a:ext>
                </a:extLst>
              </a:tr>
              <a:tr h="30522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u="none" strike="noStrike" kern="1200" cap="none" normalizeH="0" baseline="0" smtClean="0">
                          <a:ln>
                            <a:noFill/>
                          </a:ln>
                          <a:solidFill>
                            <a:schemeClr val="tx1">
                              <a:lumMod val="95000"/>
                              <a:lumOff val="5000"/>
                            </a:schemeClr>
                          </a:solidFill>
                          <a:effectLst/>
                          <a:latin typeface="Arial (Body)"/>
                          <a:ea typeface="Arial Unicode MS"/>
                          <a:cs typeface="Arial" panose="020B0604020202020204" pitchFamily="34" charset="0"/>
                        </a:rPr>
                        <a:t>6</a:t>
                      </a:r>
                      <a:endParaRPr kumimoji="0" lang="en-US" sz="1400" u="none" strike="noStrike" kern="1200" cap="none" normalizeH="0" baseline="0" dirty="0">
                        <a:ln>
                          <a:noFill/>
                        </a:ln>
                        <a:solidFill>
                          <a:schemeClr val="tx1">
                            <a:lumMod val="95000"/>
                            <a:lumOff val="5000"/>
                          </a:schemeClr>
                        </a:solidFill>
                        <a:effectLst/>
                        <a:latin typeface="Arial (Body)"/>
                        <a:ea typeface="Arial Unicode MS"/>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1400" i="0" u="none" strike="noStrike" kern="1200" cap="none" normalizeH="0" baseline="0" smtClean="0">
                          <a:ln>
                            <a:noFill/>
                          </a:ln>
                          <a:solidFill>
                            <a:schemeClr val="tx1">
                              <a:lumMod val="95000"/>
                              <a:lumOff val="5000"/>
                            </a:schemeClr>
                          </a:solidFill>
                          <a:effectLst/>
                          <a:latin typeface="Arial (Body)"/>
                          <a:ea typeface="Arial Unicode MS"/>
                          <a:cs typeface="Arial" panose="020B0604020202020204" pitchFamily="34" charset="0"/>
                        </a:rPr>
                        <a:t>Quản lý chất lượng - Monitoring dịch vụ NCC CKS</a:t>
                      </a:r>
                      <a:endParaRPr kumimoji="0" lang="en-US" sz="1400" i="0" u="none" strike="noStrike" kern="1200" cap="none" normalizeH="0" baseline="0" smtClean="0">
                        <a:ln>
                          <a:noFill/>
                        </a:ln>
                        <a:solidFill>
                          <a:schemeClr val="tx1">
                            <a:lumMod val="95000"/>
                            <a:lumOff val="5000"/>
                          </a:schemeClr>
                        </a:solidFill>
                        <a:effectLst/>
                        <a:latin typeface="Arial (Body)"/>
                        <a:ea typeface="Arial Unicode MS"/>
                        <a:cs typeface="Arial" panose="020B0604020202020204" pitchFamily="34" charset="0"/>
                      </a:endParaRPr>
                    </a:p>
                  </a:txBody>
                  <a:tcPr anchor="ctr"/>
                </a:tc>
                <a:tc>
                  <a:txBody>
                    <a:bodyPr/>
                    <a:lstStyle/>
                    <a:p>
                      <a:pPr algn="just"/>
                      <a:r>
                        <a:rPr lang="en-US" sz="1400" i="0" smtClean="0">
                          <a:latin typeface="Arial (Body)"/>
                          <a:cs typeface="Arial" panose="020B0604020202020204" pitchFamily="34" charset="0"/>
                        </a:rPr>
                        <a:t>Chưa</a:t>
                      </a:r>
                      <a:r>
                        <a:rPr lang="en-US" sz="1400" i="0" baseline="0" smtClean="0">
                          <a:latin typeface="Arial (Body)"/>
                          <a:cs typeface="Arial" panose="020B0604020202020204" pitchFamily="34" charset="0"/>
                        </a:rPr>
                        <a:t> có theo dõi chất lượng dịch vụ, đang thực hiện truy vấn trực tiếp từ log, db</a:t>
                      </a:r>
                      <a:endParaRPr lang="en-US" sz="1400" i="0" dirty="0">
                        <a:latin typeface="Arial (Body)"/>
                        <a:cs typeface="Arial" panose="020B0604020202020204" pitchFamily="34" charset="0"/>
                      </a:endParaRPr>
                    </a:p>
                  </a:txBody>
                  <a:tcPr anchor="ctr"/>
                </a:tc>
                <a:tc>
                  <a:txBody>
                    <a:bodyPr/>
                    <a:lstStyle/>
                    <a:p>
                      <a:pPr algn="just"/>
                      <a:r>
                        <a:rPr lang="en-US" sz="1400" i="0" smtClean="0">
                          <a:latin typeface="Arial (Body)"/>
                          <a:cs typeface="Arial" panose="020B0604020202020204" pitchFamily="34" charset="0"/>
                        </a:rPr>
                        <a:t>Xây</a:t>
                      </a:r>
                      <a:r>
                        <a:rPr lang="en-US" sz="1400" i="0" baseline="0" smtClean="0">
                          <a:latin typeface="Arial (Body)"/>
                          <a:cs typeface="Arial" panose="020B0604020202020204" pitchFamily="34" charset="0"/>
                        </a:rPr>
                        <a:t> dựng giao diện Monitoring cho Admin</a:t>
                      </a:r>
                      <a:endParaRPr lang="en-US" sz="1400" i="0">
                        <a:latin typeface="Arial (Body)"/>
                        <a:cs typeface="Arial" panose="020B0604020202020204" pitchFamily="34" charset="0"/>
                      </a:endParaRPr>
                    </a:p>
                  </a:txBody>
                  <a:tcPr anchor="ctr"/>
                </a:tc>
                <a:extLst>
                  <a:ext uri="{0D108BD9-81ED-4DB2-BD59-A6C34878D82A}">
                    <a16:rowId xmlns:a16="http://schemas.microsoft.com/office/drawing/2014/main" val="3358751518"/>
                  </a:ext>
                </a:extLst>
              </a:tr>
              <a:tr h="30522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u="none" strike="noStrike" kern="1200" cap="none" normalizeH="0" baseline="0" smtClean="0">
                          <a:ln>
                            <a:noFill/>
                          </a:ln>
                          <a:solidFill>
                            <a:schemeClr val="tx1">
                              <a:lumMod val="95000"/>
                              <a:lumOff val="5000"/>
                            </a:schemeClr>
                          </a:solidFill>
                          <a:effectLst/>
                          <a:latin typeface="Arial (Body)"/>
                          <a:ea typeface="Arial Unicode MS"/>
                          <a:cs typeface="Arial" panose="020B0604020202020204" pitchFamily="34" charset="0"/>
                        </a:rPr>
                        <a:t>7</a:t>
                      </a:r>
                      <a:endParaRPr kumimoji="0" lang="en-US" sz="1400" u="none" strike="noStrike" kern="1200" cap="none" normalizeH="0" baseline="0" dirty="0">
                        <a:ln>
                          <a:noFill/>
                        </a:ln>
                        <a:solidFill>
                          <a:schemeClr val="tx1">
                            <a:lumMod val="95000"/>
                            <a:lumOff val="5000"/>
                          </a:schemeClr>
                        </a:solidFill>
                        <a:effectLst/>
                        <a:latin typeface="Arial (Body)"/>
                        <a:ea typeface="Arial Unicode MS"/>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i="0" u="none" strike="noStrike" kern="1200" cap="none" normalizeH="0" baseline="0" smtClean="0">
                          <a:ln>
                            <a:noFill/>
                          </a:ln>
                          <a:solidFill>
                            <a:schemeClr val="tx1">
                              <a:lumMod val="95000"/>
                              <a:lumOff val="5000"/>
                            </a:schemeClr>
                          </a:solidFill>
                          <a:effectLst/>
                          <a:latin typeface="Arial (Body)"/>
                          <a:ea typeface="Arial Unicode MS"/>
                          <a:cs typeface="Arial" panose="020B0604020202020204" pitchFamily="34" charset="0"/>
                        </a:rPr>
                        <a:t>KHDN ký CKS có sẵn của VNPT</a:t>
                      </a:r>
                    </a:p>
                  </a:txBody>
                  <a:tcPr anchor="ctr"/>
                </a:tc>
                <a:tc>
                  <a:txBody>
                    <a:bodyPr/>
                    <a:lstStyle/>
                    <a:p>
                      <a:pPr algn="just"/>
                      <a:r>
                        <a:rPr lang="en-US" sz="1400" i="0" smtClean="0">
                          <a:latin typeface="Arial (Body)"/>
                          <a:cs typeface="Arial" panose="020B0604020202020204" pitchFamily="34" charset="0"/>
                        </a:rPr>
                        <a:t>Chưa</a:t>
                      </a:r>
                      <a:r>
                        <a:rPr lang="en-US" sz="1400" i="0" baseline="0" smtClean="0">
                          <a:latin typeface="Arial (Body)"/>
                          <a:cs typeface="Arial" panose="020B0604020202020204" pitchFamily="34" charset="0"/>
                        </a:rPr>
                        <a:t> tích hợp với CTS của sẵn của VNPT</a:t>
                      </a:r>
                      <a:endParaRPr lang="en-US" sz="1400" i="0" dirty="0">
                        <a:latin typeface="Arial (Body)"/>
                        <a:cs typeface="Arial" panose="020B0604020202020204" pitchFamily="34" charset="0"/>
                      </a:endParaRPr>
                    </a:p>
                  </a:txBody>
                  <a:tcPr anchor="ctr"/>
                </a:tc>
                <a:tc>
                  <a:txBody>
                    <a:bodyPr/>
                    <a:lstStyle/>
                    <a:p>
                      <a:pPr algn="just"/>
                      <a:r>
                        <a:rPr lang="en-US" sz="1400" i="0" smtClean="0">
                          <a:latin typeface="Arial (Body)"/>
                          <a:cs typeface="Arial" panose="020B0604020202020204" pitchFamily="34" charset="0"/>
                        </a:rPr>
                        <a:t>Bổ</a:t>
                      </a:r>
                      <a:r>
                        <a:rPr lang="en-US" sz="1400" i="0" baseline="0" smtClean="0">
                          <a:latin typeface="Arial (Body)"/>
                          <a:cs typeface="Arial" panose="020B0604020202020204" pitchFamily="34" charset="0"/>
                        </a:rPr>
                        <a:t> sung lấy thông tin CTS của sẵn của KHDN đã đăng ký với VNPT để thực hiện ký số</a:t>
                      </a:r>
                      <a:endParaRPr lang="en-US" sz="1400" i="0">
                        <a:latin typeface="Arial (Body)"/>
                        <a:cs typeface="Arial" panose="020B0604020202020204" pitchFamily="34" charset="0"/>
                      </a:endParaRPr>
                    </a:p>
                  </a:txBody>
                  <a:tcPr anchor="ctr"/>
                </a:tc>
                <a:extLst>
                  <a:ext uri="{0D108BD9-81ED-4DB2-BD59-A6C34878D82A}">
                    <a16:rowId xmlns:a16="http://schemas.microsoft.com/office/drawing/2014/main" val="3832582880"/>
                  </a:ext>
                </a:extLst>
              </a:tr>
              <a:tr h="30522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u="none" strike="noStrike" kern="1200" cap="none" normalizeH="0" baseline="0" smtClean="0">
                          <a:ln>
                            <a:noFill/>
                          </a:ln>
                          <a:solidFill>
                            <a:schemeClr val="tx1">
                              <a:lumMod val="95000"/>
                              <a:lumOff val="5000"/>
                            </a:schemeClr>
                          </a:solidFill>
                          <a:effectLst/>
                          <a:latin typeface="Arial (Body)"/>
                          <a:ea typeface="Arial Unicode MS"/>
                          <a:cs typeface="Arial" panose="020B0604020202020204" pitchFamily="34" charset="0"/>
                        </a:rPr>
                        <a:t>8</a:t>
                      </a:r>
                      <a:endParaRPr kumimoji="0" lang="en-US" sz="1400" u="none" strike="noStrike" kern="1200" cap="none" normalizeH="0" baseline="0" dirty="0">
                        <a:ln>
                          <a:noFill/>
                        </a:ln>
                        <a:solidFill>
                          <a:schemeClr val="tx1">
                            <a:lumMod val="95000"/>
                            <a:lumOff val="5000"/>
                          </a:schemeClr>
                        </a:solidFill>
                        <a:effectLst/>
                        <a:latin typeface="Arial (Body)"/>
                        <a:ea typeface="Arial Unicode MS"/>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1400" i="0" u="none" strike="noStrike" kern="1200" cap="none" normalizeH="0" baseline="0" smtClean="0">
                          <a:ln>
                            <a:noFill/>
                          </a:ln>
                          <a:solidFill>
                            <a:schemeClr val="tx1">
                              <a:lumMod val="95000"/>
                              <a:lumOff val="5000"/>
                            </a:schemeClr>
                          </a:solidFill>
                          <a:effectLst/>
                          <a:latin typeface="Arial (Body)"/>
                          <a:ea typeface="Arial Unicode MS"/>
                          <a:cs typeface="Arial" panose="020B0604020202020204" pitchFamily="34" charset="0"/>
                        </a:rPr>
                        <a:t>Web Portal - Chọn vị trí ký khi ký đơn lẻ, theo lô</a:t>
                      </a:r>
                      <a:endParaRPr kumimoji="0" lang="en-US" sz="1400" i="0" u="none" strike="noStrike" kern="1200" cap="none" normalizeH="0" baseline="0" smtClean="0">
                        <a:ln>
                          <a:noFill/>
                        </a:ln>
                        <a:solidFill>
                          <a:schemeClr val="tx1">
                            <a:lumMod val="95000"/>
                            <a:lumOff val="5000"/>
                          </a:schemeClr>
                        </a:solidFill>
                        <a:effectLst/>
                        <a:latin typeface="Arial (Body)"/>
                        <a:ea typeface="Arial Unicode MS"/>
                        <a:cs typeface="Arial" panose="020B0604020202020204" pitchFamily="34" charset="0"/>
                      </a:endParaRPr>
                    </a:p>
                  </a:txBody>
                  <a:tcPr anchor="ctr"/>
                </a:tc>
                <a:tc>
                  <a:txBody>
                    <a:bodyPr/>
                    <a:lstStyle/>
                    <a:p>
                      <a:pPr algn="just"/>
                      <a:r>
                        <a:rPr lang="en-US" sz="1400" i="0" smtClean="0">
                          <a:latin typeface="Arial (Body)"/>
                          <a:cs typeface="Arial" panose="020B0604020202020204" pitchFamily="34" charset="0"/>
                        </a:rPr>
                        <a:t>Chưa</a:t>
                      </a:r>
                      <a:r>
                        <a:rPr lang="en-US" sz="1400" i="0" baseline="0" smtClean="0">
                          <a:latin typeface="Arial (Body)"/>
                          <a:cs typeface="Arial" panose="020B0604020202020204" pitchFamily="34" charset="0"/>
                        </a:rPr>
                        <a:t> cho chọn vị trí chèn chữ ký trong file, đang chọn mặc định 1 vị trí nên khi ký nhiều chữ ký sẽ bị trùng hoặc không đúng vị trí cần ký trong file.</a:t>
                      </a:r>
                      <a:endParaRPr lang="en-US" sz="1400" i="0" dirty="0">
                        <a:latin typeface="Arial (Body)"/>
                        <a:cs typeface="Arial" panose="020B0604020202020204" pitchFamily="34" charset="0"/>
                      </a:endParaRPr>
                    </a:p>
                  </a:txBody>
                  <a:tcPr anchor="ctr"/>
                </a:tc>
                <a:tc>
                  <a:txBody>
                    <a:bodyPr/>
                    <a:lstStyle/>
                    <a:p>
                      <a:pPr algn="just"/>
                      <a:r>
                        <a:rPr lang="en-US" sz="1400" i="0" smtClean="0">
                          <a:latin typeface="Arial (Body)"/>
                          <a:cs typeface="Arial" panose="020B0604020202020204" pitchFamily="34" charset="0"/>
                        </a:rPr>
                        <a:t>Bổ</a:t>
                      </a:r>
                      <a:r>
                        <a:rPr lang="en-US" sz="1400" i="0" baseline="0" smtClean="0">
                          <a:latin typeface="Arial (Body)"/>
                          <a:cs typeface="Arial" panose="020B0604020202020204" pitchFamily="34" charset="0"/>
                        </a:rPr>
                        <a:t> sung chức năng chọn vị trí chèn chữ ký trên Portal cho người dùng chọn trước khi ký.</a:t>
                      </a:r>
                      <a:endParaRPr lang="en-US" sz="1400" i="0">
                        <a:latin typeface="Arial (Body)"/>
                        <a:cs typeface="Arial" panose="020B0604020202020204" pitchFamily="34" charset="0"/>
                      </a:endParaRPr>
                    </a:p>
                  </a:txBody>
                  <a:tcPr anchor="ctr"/>
                </a:tc>
                <a:extLst>
                  <a:ext uri="{0D108BD9-81ED-4DB2-BD59-A6C34878D82A}">
                    <a16:rowId xmlns:a16="http://schemas.microsoft.com/office/drawing/2014/main" val="2896179278"/>
                  </a:ext>
                </a:extLst>
              </a:tr>
              <a:tr h="30522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u="none" strike="noStrike" kern="1200" cap="none" normalizeH="0" baseline="0" smtClean="0">
                          <a:ln>
                            <a:noFill/>
                          </a:ln>
                          <a:solidFill>
                            <a:schemeClr val="tx1">
                              <a:lumMod val="95000"/>
                              <a:lumOff val="5000"/>
                            </a:schemeClr>
                          </a:solidFill>
                          <a:effectLst/>
                          <a:latin typeface="Arial (Body)"/>
                          <a:ea typeface="Arial Unicode MS"/>
                          <a:cs typeface="Arial" panose="020B0604020202020204" pitchFamily="34" charset="0"/>
                        </a:rPr>
                        <a:t>9</a:t>
                      </a:r>
                      <a:endParaRPr kumimoji="0" lang="en-US" sz="1400" u="none" strike="noStrike" kern="1200" cap="none" normalizeH="0" baseline="0" dirty="0">
                        <a:ln>
                          <a:noFill/>
                        </a:ln>
                        <a:solidFill>
                          <a:schemeClr val="tx1">
                            <a:lumMod val="95000"/>
                            <a:lumOff val="5000"/>
                          </a:schemeClr>
                        </a:solidFill>
                        <a:effectLst/>
                        <a:latin typeface="Arial (Body)"/>
                        <a:ea typeface="Arial Unicode MS"/>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i="0" u="none" strike="noStrike" kern="1200" cap="none" normalizeH="0" baseline="0" smtClean="0">
                          <a:ln>
                            <a:noFill/>
                          </a:ln>
                          <a:solidFill>
                            <a:schemeClr val="tx1">
                              <a:lumMod val="95000"/>
                              <a:lumOff val="5000"/>
                            </a:schemeClr>
                          </a:solidFill>
                          <a:effectLst/>
                          <a:latin typeface="Arial (Body)"/>
                          <a:ea typeface="Arial Unicode MS"/>
                          <a:cs typeface="Arial" panose="020B0604020202020204" pitchFamily="34" charset="0"/>
                        </a:rPr>
                        <a:t>Web Portal - Verify chữ ký số</a:t>
                      </a:r>
                    </a:p>
                  </a:txBody>
                  <a:tcPr anchor="ctr"/>
                </a:tc>
                <a:tc>
                  <a:txBody>
                    <a:bodyPr/>
                    <a:lstStyle/>
                    <a:p>
                      <a:pPr algn="just"/>
                      <a:r>
                        <a:rPr lang="en-US" sz="1400" i="0" smtClean="0">
                          <a:latin typeface="Arial (Body)"/>
                          <a:cs typeface="Arial" panose="020B0604020202020204" pitchFamily="34" charset="0"/>
                        </a:rPr>
                        <a:t>Chỉ</a:t>
                      </a:r>
                      <a:r>
                        <a:rPr lang="en-US" sz="1400" i="0" baseline="0" smtClean="0">
                          <a:latin typeface="Arial (Body)"/>
                          <a:cs typeface="Arial" panose="020B0604020202020204" pitchFamily="34" charset="0"/>
                        </a:rPr>
                        <a:t> verify tổng thể toàn bộ tất cả CKS, chưa bóc tách thông tin từng CKS trong file.</a:t>
                      </a:r>
                      <a:endParaRPr lang="en-US" sz="1400" i="0" dirty="0">
                        <a:latin typeface="Arial (Body)"/>
                        <a:cs typeface="Arial" panose="020B0604020202020204" pitchFamily="34" charset="0"/>
                      </a:endParaRPr>
                    </a:p>
                  </a:txBody>
                  <a:tcPr anchor="ctr"/>
                </a:tc>
                <a:tc>
                  <a:txBody>
                    <a:bodyPr/>
                    <a:lstStyle/>
                    <a:p>
                      <a:pPr algn="just"/>
                      <a:r>
                        <a:rPr lang="en-US" sz="1400" i="0" smtClean="0">
                          <a:latin typeface="Arial (Body)"/>
                          <a:cs typeface="Arial" panose="020B0604020202020204" pitchFamily="34" charset="0"/>
                        </a:rPr>
                        <a:t>Bổ</a:t>
                      </a:r>
                      <a:r>
                        <a:rPr lang="en-US" sz="1400" i="0" baseline="0" smtClean="0">
                          <a:latin typeface="Arial (Body)"/>
                          <a:cs typeface="Arial" panose="020B0604020202020204" pitchFamily="34" charset="0"/>
                        </a:rPr>
                        <a:t> sung thông tin bóc tách từng CKS trong file để người dùng có đầy đủ thông tin</a:t>
                      </a:r>
                      <a:endParaRPr lang="en-US" sz="1400" i="0">
                        <a:latin typeface="Arial (Body)"/>
                        <a:cs typeface="Arial" panose="020B0604020202020204" pitchFamily="34" charset="0"/>
                      </a:endParaRPr>
                    </a:p>
                  </a:txBody>
                  <a:tcPr anchor="ctr"/>
                </a:tc>
                <a:extLst>
                  <a:ext uri="{0D108BD9-81ED-4DB2-BD59-A6C34878D82A}">
                    <a16:rowId xmlns:a16="http://schemas.microsoft.com/office/drawing/2014/main" val="4116251116"/>
                  </a:ext>
                </a:extLst>
              </a:tr>
              <a:tr h="30522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u="none" strike="noStrike" kern="1200" cap="none" normalizeH="0" baseline="0" smtClean="0">
                          <a:ln>
                            <a:noFill/>
                          </a:ln>
                          <a:solidFill>
                            <a:schemeClr val="tx1">
                              <a:lumMod val="95000"/>
                              <a:lumOff val="5000"/>
                            </a:schemeClr>
                          </a:solidFill>
                          <a:effectLst/>
                          <a:latin typeface="Arial (Body)"/>
                          <a:ea typeface="Arial Unicode MS"/>
                          <a:cs typeface="Arial" panose="020B0604020202020204" pitchFamily="34" charset="0"/>
                        </a:rPr>
                        <a:t>10</a:t>
                      </a:r>
                      <a:endParaRPr kumimoji="0" lang="en-US" sz="1400" u="none" strike="noStrike" kern="1200" cap="none" normalizeH="0" baseline="0" dirty="0">
                        <a:ln>
                          <a:noFill/>
                        </a:ln>
                        <a:solidFill>
                          <a:schemeClr val="tx1">
                            <a:lumMod val="95000"/>
                            <a:lumOff val="5000"/>
                          </a:schemeClr>
                        </a:solidFill>
                        <a:effectLst/>
                        <a:latin typeface="Arial (Body)"/>
                        <a:ea typeface="Arial Unicode MS"/>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i="0" u="none" strike="noStrike" kern="1200" cap="none" normalizeH="0" baseline="0" smtClean="0">
                          <a:ln>
                            <a:noFill/>
                          </a:ln>
                          <a:solidFill>
                            <a:schemeClr val="tx1">
                              <a:lumMod val="95000"/>
                              <a:lumOff val="5000"/>
                            </a:schemeClr>
                          </a:solidFill>
                          <a:effectLst/>
                          <a:latin typeface="Arial (Body)"/>
                          <a:ea typeface="Arial Unicode MS"/>
                          <a:cs typeface="Arial" panose="020B0604020202020204" pitchFamily="34" charset="0"/>
                        </a:rPr>
                        <a:t>Phản hồi kết quả ký số cho HTVT qua Kafka</a:t>
                      </a:r>
                    </a:p>
                  </a:txBody>
                  <a:tcPr anchor="ctr"/>
                </a:tc>
                <a:tc>
                  <a:txBody>
                    <a:bodyPr/>
                    <a:lstStyle/>
                    <a:p>
                      <a:pPr algn="just"/>
                      <a:r>
                        <a:rPr lang="en-US" sz="1400" i="0" smtClean="0">
                          <a:latin typeface="Arial (Body)"/>
                          <a:cs typeface="Arial" panose="020B0604020202020204" pitchFamily="34" charset="0"/>
                        </a:rPr>
                        <a:t>Đang</a:t>
                      </a:r>
                      <a:r>
                        <a:rPr lang="en-US" sz="1400" i="0" baseline="0" smtClean="0">
                          <a:latin typeface="Arial (Body)"/>
                          <a:cs typeface="Arial" panose="020B0604020202020204" pitchFamily="34" charset="0"/>
                        </a:rPr>
                        <a:t> phản hồi kết quả ký cho HTVT qua API</a:t>
                      </a:r>
                      <a:endParaRPr lang="en-US" sz="1400" i="0" dirty="0">
                        <a:latin typeface="Arial (Body)"/>
                        <a:cs typeface="Arial" panose="020B0604020202020204" pitchFamily="34" charset="0"/>
                      </a:endParaRPr>
                    </a:p>
                  </a:txBody>
                  <a:tcPr anchor="ctr"/>
                </a:tc>
                <a:tc>
                  <a:txBody>
                    <a:bodyPr/>
                    <a:lstStyle/>
                    <a:p>
                      <a:pPr algn="just"/>
                      <a:r>
                        <a:rPr lang="en-US" sz="1400" i="0" smtClean="0">
                          <a:latin typeface="Arial (Body)"/>
                          <a:cs typeface="Arial" panose="020B0604020202020204" pitchFamily="34" charset="0"/>
                        </a:rPr>
                        <a:t>Bổ</a:t>
                      </a:r>
                      <a:r>
                        <a:rPr lang="en-US" sz="1400" i="0" baseline="0" smtClean="0">
                          <a:latin typeface="Arial (Body)"/>
                          <a:cs typeface="Arial" panose="020B0604020202020204" pitchFamily="34" charset="0"/>
                        </a:rPr>
                        <a:t> sung thêm kênh phản hồi kết quả cho HTVT qua Kafka, topic do HTVT cung cấp</a:t>
                      </a:r>
                      <a:endParaRPr lang="en-US" sz="1400" i="0">
                        <a:latin typeface="Arial (Body)"/>
                        <a:cs typeface="Arial" panose="020B0604020202020204" pitchFamily="34" charset="0"/>
                      </a:endParaRPr>
                    </a:p>
                  </a:txBody>
                  <a:tcPr anchor="ctr"/>
                </a:tc>
                <a:extLst>
                  <a:ext uri="{0D108BD9-81ED-4DB2-BD59-A6C34878D82A}">
                    <a16:rowId xmlns:a16="http://schemas.microsoft.com/office/drawing/2014/main" val="2702076535"/>
                  </a:ext>
                </a:extLst>
              </a:tr>
            </a:tbl>
          </a:graphicData>
        </a:graphic>
      </p:graphicFrame>
    </p:spTree>
    <p:extLst>
      <p:ext uri="{BB962C8B-B14F-4D97-AF65-F5344CB8AC3E}">
        <p14:creationId xmlns:p14="http://schemas.microsoft.com/office/powerpoint/2010/main" val="167727914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8053" y="680369"/>
            <a:ext cx="7815263" cy="4481513"/>
          </a:xfrm>
          <a:prstGeom prst="rect">
            <a:avLst/>
          </a:prstGeom>
        </p:spPr>
      </p:pic>
      <p:sp>
        <p:nvSpPr>
          <p:cNvPr id="5" name="Folded Corner 4"/>
          <p:cNvSpPr/>
          <p:nvPr/>
        </p:nvSpPr>
        <p:spPr>
          <a:xfrm>
            <a:off x="8182704" y="680365"/>
            <a:ext cx="3831496" cy="5695035"/>
          </a:xfrm>
          <a:prstGeom prst="foldedCorner">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graphicFrame>
        <p:nvGraphicFramePr>
          <p:cNvPr id="66" name="Object 6" hidden="1">
            <a:extLst>
              <a:ext uri="{FF2B5EF4-FFF2-40B4-BE49-F238E27FC236}">
                <a16:creationId xmlns:a16="http://schemas.microsoft.com/office/drawing/2014/main" id="{0FE275B6-7C1E-4152-91DE-0508CCD455B8}"/>
              </a:ext>
            </a:extLst>
          </p:cNvPr>
          <p:cNvGraphicFramePr>
            <a:graphicFrameLocks noChangeAspect="1"/>
          </p:cNvGraphicFramePr>
          <p:nvPr>
            <p:custDataLst>
              <p:tags r:id="rId2"/>
            </p:custDataLs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7129" name="think-cell Slide" r:id="rId6" imgW="473" imgH="476" progId="TCLayout.ActiveDocument.1">
                  <p:embed/>
                </p:oleObj>
              </mc:Choice>
              <mc:Fallback>
                <p:oleObj name="think-cell Slide" r:id="rId6" imgW="473" imgH="476" progId="TCLayout.ActiveDocument.1">
                  <p:embed/>
                  <p:pic>
                    <p:nvPicPr>
                      <p:cNvPr id="66" name="Object 6" hidden="1">
                        <a:extLst>
                          <a:ext uri="{FF2B5EF4-FFF2-40B4-BE49-F238E27FC236}">
                            <a16:creationId xmlns:a16="http://schemas.microsoft.com/office/drawing/2014/main" id="{0FE275B6-7C1E-4152-91DE-0508CCD455B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6" name="Text Placeholder 1">
            <a:extLst>
              <a:ext uri="{FF2B5EF4-FFF2-40B4-BE49-F238E27FC236}">
                <a16:creationId xmlns:a16="http://schemas.microsoft.com/office/drawing/2014/main" id="{206381AD-4C2B-4745-99B1-0BBCE6131A71}"/>
              </a:ext>
            </a:extLst>
          </p:cNvPr>
          <p:cNvSpPr txBox="1">
            <a:spLocks/>
          </p:cNvSpPr>
          <p:nvPr/>
        </p:nvSpPr>
        <p:spPr>
          <a:xfrm>
            <a:off x="660177" y="-43882"/>
            <a:ext cx="10800620" cy="724247"/>
          </a:xfrm>
          <a:prstGeom prst="rect">
            <a:avLst/>
          </a:prstGeom>
        </p:spPr>
        <p:txBody>
          <a:bodyPr vert="horz" lIns="91440" tIns="45720" rIns="91440" bIns="45720" rtlCol="0" anchor="ctr">
            <a:normAutofit/>
          </a:bodyP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a:pPr>
            <a:r>
              <a:rPr lang="en-US" sz="3200" b="1" smtClean="0">
                <a:solidFill>
                  <a:srgbClr val="E67014"/>
                </a:solidFill>
              </a:rPr>
              <a:t>Integrated Architecture</a:t>
            </a:r>
            <a:endParaRPr lang="en-US" sz="3200" b="1" dirty="0">
              <a:solidFill>
                <a:srgbClr val="E67014"/>
              </a:solidFill>
            </a:endParaRPr>
          </a:p>
        </p:txBody>
      </p:sp>
      <p:sp>
        <p:nvSpPr>
          <p:cNvPr id="7" name="Google Shape;1405;p48">
            <a:extLst>
              <a:ext uri="{FF2B5EF4-FFF2-40B4-BE49-F238E27FC236}">
                <a16:creationId xmlns:a16="http://schemas.microsoft.com/office/drawing/2014/main" id="{095AB5BF-5089-854A-A575-89811E501E2D}"/>
              </a:ext>
            </a:extLst>
          </p:cNvPr>
          <p:cNvSpPr/>
          <p:nvPr/>
        </p:nvSpPr>
        <p:spPr>
          <a:xfrm rot="10800000">
            <a:off x="298043" y="9334"/>
            <a:ext cx="297504" cy="617816"/>
          </a:xfrm>
          <a:custGeom>
            <a:avLst/>
            <a:gdLst/>
            <a:ahLst/>
            <a:cxnLst/>
            <a:rect l="l" t="t" r="r" b="b"/>
            <a:pathLst>
              <a:path w="288" h="868" extrusionOk="0">
                <a:moveTo>
                  <a:pt x="144" y="0"/>
                </a:moveTo>
                <a:cubicBezTo>
                  <a:pt x="64" y="0"/>
                  <a:pt x="0" y="64"/>
                  <a:pt x="0" y="144"/>
                </a:cubicBezTo>
                <a:cubicBezTo>
                  <a:pt x="0" y="868"/>
                  <a:pt x="0" y="868"/>
                  <a:pt x="0" y="868"/>
                </a:cubicBezTo>
                <a:cubicBezTo>
                  <a:pt x="288" y="868"/>
                  <a:pt x="288" y="868"/>
                  <a:pt x="288" y="868"/>
                </a:cubicBezTo>
                <a:cubicBezTo>
                  <a:pt x="288" y="144"/>
                  <a:pt x="288" y="144"/>
                  <a:pt x="288" y="144"/>
                </a:cubicBezTo>
                <a:cubicBezTo>
                  <a:pt x="288" y="64"/>
                  <a:pt x="223" y="0"/>
                  <a:pt x="144" y="0"/>
                </a:cubicBezTo>
                <a:close/>
              </a:path>
            </a:pathLst>
          </a:custGeom>
          <a:gradFill flip="none" rotWithShape="1">
            <a:gsLst>
              <a:gs pos="0">
                <a:srgbClr val="FD4D00">
                  <a:shade val="30000"/>
                  <a:satMod val="115000"/>
                </a:srgbClr>
              </a:gs>
              <a:gs pos="44000">
                <a:srgbClr val="FD4D00">
                  <a:shade val="67500"/>
                  <a:satMod val="115000"/>
                </a:srgbClr>
              </a:gs>
              <a:gs pos="100000">
                <a:srgbClr val="FD9E00"/>
              </a:gs>
            </a:gsLst>
            <a:lin ang="16200000" scaled="1"/>
            <a:tileRect/>
          </a:gradFill>
          <a:ln>
            <a:noFill/>
          </a:ln>
        </p:spPr>
        <p:txBody>
          <a:bodyPr spcFirstLastPara="1" wrap="square" lIns="68575" tIns="34275" rIns="68575" bIns="3427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300" b="1" i="0" u="none" strike="noStrike" kern="1200" cap="none" spc="0" normalizeH="0" baseline="0" noProof="0">
              <a:ln>
                <a:noFill/>
              </a:ln>
              <a:solidFill>
                <a:prstClr val="white"/>
              </a:solidFill>
              <a:effectLst/>
              <a:uLnTx/>
              <a:uFillTx/>
              <a:ea typeface="+mn-ea"/>
              <a:cs typeface="+mn-cs"/>
              <a:sym typeface="Calibri"/>
            </a:endParaRPr>
          </a:p>
        </p:txBody>
      </p:sp>
      <p:sp>
        <p:nvSpPr>
          <p:cNvPr id="8" name="TextBox 7"/>
          <p:cNvSpPr txBox="1"/>
          <p:nvPr/>
        </p:nvSpPr>
        <p:spPr>
          <a:xfrm>
            <a:off x="8182704" y="680365"/>
            <a:ext cx="3831496" cy="2862322"/>
          </a:xfrm>
          <a:prstGeom prst="rect">
            <a:avLst/>
          </a:prstGeom>
          <a:noFill/>
        </p:spPr>
        <p:txBody>
          <a:bodyPr wrap="square" rtlCol="0">
            <a:spAutoFit/>
          </a:bodyPr>
          <a:lstStyle/>
          <a:p>
            <a:r>
              <a:rPr lang="en-US" sz="1200" b="1" smtClean="0">
                <a:solidFill>
                  <a:srgbClr val="FF0000"/>
                </a:solidFill>
                <a:latin typeface="Arial (Body)"/>
              </a:rPr>
              <a:t>Notes:</a:t>
            </a:r>
          </a:p>
          <a:p>
            <a:r>
              <a:rPr lang="en-US" sz="1200" b="1" smtClean="0">
                <a:latin typeface="Arial (Body)"/>
              </a:rPr>
              <a:t>D-Signature</a:t>
            </a:r>
            <a:r>
              <a:rPr lang="vi-VN" sz="1200" b="1" smtClean="0">
                <a:latin typeface="Arial (Body)"/>
              </a:rPr>
              <a:t>:</a:t>
            </a:r>
            <a:r>
              <a:rPr lang="en-US" sz="1200">
                <a:latin typeface="Arial (Body)"/>
              </a:rPr>
              <a:t> </a:t>
            </a:r>
            <a:r>
              <a:rPr lang="en-US" sz="1200" i="1" smtClean="0">
                <a:latin typeface="Arial (Body)"/>
              </a:rPr>
              <a:t>Nâng cấp các tính năng:</a:t>
            </a:r>
            <a:endParaRPr lang="vi-VN" sz="1200" i="1">
              <a:latin typeface="Arial (Body)"/>
            </a:endParaRPr>
          </a:p>
          <a:p>
            <a:pPr marL="171450" indent="-171450">
              <a:buFont typeface="Arial" panose="020B0604020202020204" pitchFamily="34" charset="0"/>
              <a:buChar char="•"/>
            </a:pPr>
            <a:r>
              <a:rPr lang="vi-VN" sz="1200">
                <a:latin typeface="Arial (Body)"/>
              </a:rPr>
              <a:t>DS phân quyền: Người dùng, hệ thống sử dụng dịch vụ CKS</a:t>
            </a:r>
          </a:p>
          <a:p>
            <a:pPr marL="171450" indent="-171450">
              <a:buFont typeface="Arial" panose="020B0604020202020204" pitchFamily="34" charset="0"/>
              <a:buChar char="•"/>
            </a:pPr>
            <a:r>
              <a:rPr lang="vi-VN" sz="1200">
                <a:latin typeface="Arial (Body)"/>
              </a:rPr>
              <a:t>Quản trị dịch vụ CKS : CTS người dùng, client</a:t>
            </a:r>
          </a:p>
          <a:p>
            <a:pPr marL="171450" indent="-171450">
              <a:buFont typeface="Arial" panose="020B0604020202020204" pitchFamily="34" charset="0"/>
              <a:buChar char="•"/>
            </a:pPr>
            <a:r>
              <a:rPr lang="vi-VN" sz="1200">
                <a:latin typeface="Arial (Body)"/>
              </a:rPr>
              <a:t>Quản trị dịch vụ CKS : Quản trị lịch sử, NCC CKS</a:t>
            </a:r>
          </a:p>
          <a:p>
            <a:pPr marL="171450" indent="-171450">
              <a:buFont typeface="Arial" panose="020B0604020202020204" pitchFamily="34" charset="0"/>
              <a:buChar char="•"/>
            </a:pPr>
            <a:r>
              <a:rPr lang="vi-VN" sz="1200">
                <a:latin typeface="Arial (Body)"/>
              </a:rPr>
              <a:t>DS Web Portal Dashboard thống kê</a:t>
            </a:r>
          </a:p>
          <a:p>
            <a:pPr marL="171450" indent="-171450">
              <a:buFont typeface="Arial" panose="020B0604020202020204" pitchFamily="34" charset="0"/>
              <a:buChar char="•"/>
            </a:pPr>
            <a:r>
              <a:rPr lang="vi-VN" sz="1200">
                <a:latin typeface="Arial (Body)"/>
              </a:rPr>
              <a:t>Web Portal - Ký file đơn lẻ, theo lô</a:t>
            </a:r>
          </a:p>
          <a:p>
            <a:pPr marL="171450" indent="-171450">
              <a:buFont typeface="Arial" panose="020B0604020202020204" pitchFamily="34" charset="0"/>
              <a:buChar char="•"/>
            </a:pPr>
            <a:r>
              <a:rPr lang="vi-VN" sz="1200">
                <a:latin typeface="Arial (Body)"/>
              </a:rPr>
              <a:t>Quản lý chất lượng - Monitoring dịch vụ NCC CKS</a:t>
            </a:r>
          </a:p>
          <a:p>
            <a:pPr marL="171450" indent="-171450">
              <a:buFont typeface="Arial" panose="020B0604020202020204" pitchFamily="34" charset="0"/>
              <a:buChar char="•"/>
            </a:pPr>
            <a:r>
              <a:rPr lang="vi-VN" sz="1200">
                <a:latin typeface="Arial (Body)"/>
              </a:rPr>
              <a:t>KHDN ký CKS có sẵn của VNPT</a:t>
            </a:r>
          </a:p>
          <a:p>
            <a:pPr marL="171450" indent="-171450">
              <a:buFont typeface="Arial" panose="020B0604020202020204" pitchFamily="34" charset="0"/>
              <a:buChar char="•"/>
            </a:pPr>
            <a:r>
              <a:rPr lang="vi-VN" sz="1200">
                <a:latin typeface="Arial (Body)"/>
              </a:rPr>
              <a:t>Web Portal - Chọn vị trí ký khi ký đơn lẻ, theo lô</a:t>
            </a:r>
          </a:p>
          <a:p>
            <a:pPr marL="171450" indent="-171450">
              <a:buFont typeface="Arial" panose="020B0604020202020204" pitchFamily="34" charset="0"/>
              <a:buChar char="•"/>
            </a:pPr>
            <a:r>
              <a:rPr lang="vi-VN" sz="1200">
                <a:latin typeface="Arial (Body)"/>
              </a:rPr>
              <a:t>Web Portal - Verify chữ ký số</a:t>
            </a:r>
          </a:p>
          <a:p>
            <a:pPr marL="171450" indent="-171450">
              <a:buFont typeface="Arial" panose="020B0604020202020204" pitchFamily="34" charset="0"/>
              <a:buChar char="•"/>
            </a:pPr>
            <a:r>
              <a:rPr lang="vi-VN" sz="1200">
                <a:latin typeface="Arial (Body)"/>
              </a:rPr>
              <a:t>Phản hồi kết quả ký số cho HTVT qua Kafka</a:t>
            </a:r>
          </a:p>
          <a:p>
            <a:endParaRPr lang="en-US" sz="1200" smtClean="0">
              <a:latin typeface="Arial (Body)"/>
            </a:endParaRPr>
          </a:p>
          <a:p>
            <a:r>
              <a:rPr lang="en-US" sz="1200" b="1" smtClean="0">
                <a:latin typeface="Arial (Body)"/>
              </a:rPr>
              <a:t>Kafka:</a:t>
            </a:r>
            <a:r>
              <a:rPr lang="en-US" sz="1200" smtClean="0">
                <a:latin typeface="Arial (Body)"/>
              </a:rPr>
              <a:t> Xin thêm topic mới để quản lý các job chạy</a:t>
            </a:r>
            <a:endParaRPr lang="vi-VN" sz="1200" smtClean="0">
              <a:latin typeface="Arial (Body)"/>
            </a:endParaRPr>
          </a:p>
        </p:txBody>
      </p:sp>
      <p:grpSp>
        <p:nvGrpSpPr>
          <p:cNvPr id="17" name="Group 16"/>
          <p:cNvGrpSpPr/>
          <p:nvPr/>
        </p:nvGrpSpPr>
        <p:grpSpPr>
          <a:xfrm>
            <a:off x="417919" y="895149"/>
            <a:ext cx="2085386" cy="240631"/>
            <a:chOff x="4623204" y="4924467"/>
            <a:chExt cx="3732732" cy="274320"/>
          </a:xfrm>
        </p:grpSpPr>
        <p:sp>
          <p:nvSpPr>
            <p:cNvPr id="18" name="Rectangle 17"/>
            <p:cNvSpPr/>
            <p:nvPr/>
          </p:nvSpPr>
          <p:spPr>
            <a:xfrm>
              <a:off x="4623204" y="4924467"/>
              <a:ext cx="3732732" cy="27432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19" name="Rectangle 18">
              <a:extLst>
                <a:ext uri="{FF2B5EF4-FFF2-40B4-BE49-F238E27FC236}">
                  <a16:creationId xmlns:a16="http://schemas.microsoft.com/office/drawing/2014/main" id="{D944851E-9E2D-4E45-95EA-8EAAD43D6B80}"/>
                </a:ext>
              </a:extLst>
            </p:cNvPr>
            <p:cNvSpPr>
              <a:spLocks/>
            </p:cNvSpPr>
            <p:nvPr/>
          </p:nvSpPr>
          <p:spPr>
            <a:xfrm>
              <a:off x="5940930" y="4924467"/>
              <a:ext cx="1097280" cy="274320"/>
            </a:xfrm>
            <a:prstGeom prst="rect">
              <a:avLst/>
            </a:prstGeom>
            <a:solidFill>
              <a:srgbClr val="FFFF00"/>
            </a:solidFill>
            <a:ln w="9525"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576" tIns="18288" rIns="18288" bIns="18288" numCol="1" spcCol="0" rtlCol="0" fromWordArt="0" anchor="ctr" anchorCtr="0" forceAA="0" compatLnSpc="1">
              <a:prstTxWarp prst="textNoShape">
                <a:avLst/>
              </a:prstTxWarp>
              <a:noAutofit/>
            </a:bodyPr>
            <a:lstStyle/>
            <a:p>
              <a:pPr lvl="0" algn="ctr">
                <a:spcBef>
                  <a:spcPts val="300"/>
                </a:spcBef>
                <a:spcAft>
                  <a:spcPts val="300"/>
                </a:spcAft>
                <a:defRPr/>
              </a:pPr>
              <a:r>
                <a:rPr lang="en-US" sz="800">
                  <a:solidFill>
                    <a:schemeClr val="tx1"/>
                  </a:solidFill>
                  <a:latin typeface="Arial (Body)"/>
                  <a:cs typeface="Times New Roman" panose="02020603050405020304" pitchFamily="18" charset="0"/>
                </a:rPr>
                <a:t>Modify</a:t>
              </a:r>
              <a:endParaRPr kumimoji="0" lang="en-US" sz="800" i="0" u="none" strike="noStrike" kern="1200" cap="none" spc="0" normalizeH="0" baseline="0" noProof="0" dirty="0">
                <a:ln>
                  <a:noFill/>
                </a:ln>
                <a:solidFill>
                  <a:schemeClr val="tx1"/>
                </a:solidFill>
                <a:effectLst/>
                <a:uLnTx/>
                <a:uFillTx/>
                <a:latin typeface="Arial (Body)"/>
                <a:cs typeface="Times New Roman" panose="02020603050405020304" pitchFamily="18" charset="0"/>
              </a:endParaRPr>
            </a:p>
          </p:txBody>
        </p:sp>
        <p:sp>
          <p:nvSpPr>
            <p:cNvPr id="20" name="Rectangle 19">
              <a:extLst>
                <a:ext uri="{FF2B5EF4-FFF2-40B4-BE49-F238E27FC236}">
                  <a16:creationId xmlns:a16="http://schemas.microsoft.com/office/drawing/2014/main" id="{FFAE1436-C597-4467-9199-215D813D0340}"/>
                </a:ext>
              </a:extLst>
            </p:cNvPr>
            <p:cNvSpPr>
              <a:spLocks/>
            </p:cNvSpPr>
            <p:nvPr/>
          </p:nvSpPr>
          <p:spPr>
            <a:xfrm>
              <a:off x="7258656" y="4924467"/>
              <a:ext cx="1097280" cy="274320"/>
            </a:xfrm>
            <a:prstGeom prst="rect">
              <a:avLst/>
            </a:prstGeom>
            <a:solidFill>
              <a:srgbClr val="92D050"/>
            </a:solidFill>
            <a:ln w="9525"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576" tIns="18288" rIns="18288" bIns="18288" numCol="1" spcCol="0" rtlCol="0" fromWordArt="0" anchor="ctr" anchorCtr="0" forceAA="0" compatLnSpc="1">
              <a:prstTxWarp prst="textNoShape">
                <a:avLst/>
              </a:prstTxWarp>
              <a:noAutofit/>
            </a:bodyPr>
            <a:lstStyle/>
            <a:p>
              <a:pPr lvl="0" algn="ctr">
                <a:spcBef>
                  <a:spcPts val="300"/>
                </a:spcBef>
                <a:spcAft>
                  <a:spcPts val="300"/>
                </a:spcAft>
                <a:defRPr/>
              </a:pPr>
              <a:r>
                <a:rPr lang="en-US" sz="800">
                  <a:solidFill>
                    <a:srgbClr val="000000"/>
                  </a:solidFill>
                  <a:latin typeface="Arial (Body)"/>
                  <a:cs typeface="Times New Roman" panose="02020603050405020304" pitchFamily="18" charset="0"/>
                </a:rPr>
                <a:t>Existed</a:t>
              </a:r>
              <a:endParaRPr kumimoji="0" lang="en-US" sz="800" i="0" u="none" strike="noStrike" kern="1200" cap="none" spc="0" normalizeH="0" baseline="0" noProof="0" dirty="0">
                <a:ln>
                  <a:noFill/>
                </a:ln>
                <a:solidFill>
                  <a:srgbClr val="000000"/>
                </a:solidFill>
                <a:effectLst/>
                <a:uLnTx/>
                <a:uFillTx/>
                <a:latin typeface="Arial (Body)"/>
                <a:cs typeface="Times New Roman" panose="02020603050405020304" pitchFamily="18" charset="0"/>
              </a:endParaRPr>
            </a:p>
          </p:txBody>
        </p:sp>
        <p:sp>
          <p:nvSpPr>
            <p:cNvPr id="21" name="Rectangle 20">
              <a:extLst>
                <a:ext uri="{FF2B5EF4-FFF2-40B4-BE49-F238E27FC236}">
                  <a16:creationId xmlns:a16="http://schemas.microsoft.com/office/drawing/2014/main" id="{D944851E-9E2D-4E45-95EA-8EAAD43D6B80}"/>
                </a:ext>
              </a:extLst>
            </p:cNvPr>
            <p:cNvSpPr>
              <a:spLocks/>
            </p:cNvSpPr>
            <p:nvPr/>
          </p:nvSpPr>
          <p:spPr>
            <a:xfrm>
              <a:off x="4623204" y="4924467"/>
              <a:ext cx="1097280" cy="274320"/>
            </a:xfrm>
            <a:prstGeom prst="rect">
              <a:avLst/>
            </a:prstGeom>
            <a:solidFill>
              <a:schemeClr val="accent1">
                <a:lumMod val="40000"/>
                <a:lumOff val="60000"/>
              </a:schemeClr>
            </a:solidFill>
            <a:ln w="9525"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576" tIns="18288" rIns="18288" bIns="18288"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latin typeface="Arial (Body)"/>
                  <a:cs typeface="Times New Roman" panose="02020603050405020304" pitchFamily="18" charset="0"/>
                </a:rPr>
                <a:t>New</a:t>
              </a:r>
              <a:endParaRPr lang="en-US" sz="800" dirty="0">
                <a:solidFill>
                  <a:schemeClr val="tx1"/>
                </a:solidFill>
                <a:latin typeface="Arial (Body)"/>
                <a:cs typeface="Times New Roman" panose="02020603050405020304" pitchFamily="18" charset="0"/>
              </a:endParaRPr>
            </a:p>
          </p:txBody>
        </p:sp>
      </p:grpSp>
    </p:spTree>
    <p:extLst>
      <p:ext uri="{BB962C8B-B14F-4D97-AF65-F5344CB8AC3E}">
        <p14:creationId xmlns:p14="http://schemas.microsoft.com/office/powerpoint/2010/main" val="35584996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680365"/>
            <a:ext cx="12192000" cy="3190912"/>
          </a:xfrm>
          <a:prstGeom prst="rect">
            <a:avLst/>
          </a:prstGeom>
        </p:spPr>
      </p:pic>
      <p:graphicFrame>
        <p:nvGraphicFramePr>
          <p:cNvPr id="66" name="Object 6" hidden="1">
            <a:extLst>
              <a:ext uri="{FF2B5EF4-FFF2-40B4-BE49-F238E27FC236}">
                <a16:creationId xmlns:a16="http://schemas.microsoft.com/office/drawing/2014/main" id="{0FE275B6-7C1E-4152-91DE-0508CCD455B8}"/>
              </a:ext>
            </a:extLst>
          </p:cNvPr>
          <p:cNvGraphicFramePr>
            <a:graphicFrameLocks noChangeAspect="1"/>
          </p:cNvGraphicFramePr>
          <p:nvPr>
            <p:custDataLst>
              <p:tags r:id="rId2"/>
            </p:custDataLs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8152" name="think-cell Slide" r:id="rId6" imgW="473" imgH="476" progId="TCLayout.ActiveDocument.1">
                  <p:embed/>
                </p:oleObj>
              </mc:Choice>
              <mc:Fallback>
                <p:oleObj name="think-cell Slide" r:id="rId6" imgW="473" imgH="476" progId="TCLayout.ActiveDocument.1">
                  <p:embed/>
                  <p:pic>
                    <p:nvPicPr>
                      <p:cNvPr id="66" name="Object 6" hidden="1">
                        <a:extLst>
                          <a:ext uri="{FF2B5EF4-FFF2-40B4-BE49-F238E27FC236}">
                            <a16:creationId xmlns:a16="http://schemas.microsoft.com/office/drawing/2014/main" id="{0FE275B6-7C1E-4152-91DE-0508CCD455B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6" name="Text Placeholder 1">
            <a:extLst>
              <a:ext uri="{FF2B5EF4-FFF2-40B4-BE49-F238E27FC236}">
                <a16:creationId xmlns:a16="http://schemas.microsoft.com/office/drawing/2014/main" id="{206381AD-4C2B-4745-99B1-0BBCE6131A71}"/>
              </a:ext>
            </a:extLst>
          </p:cNvPr>
          <p:cNvSpPr txBox="1">
            <a:spLocks/>
          </p:cNvSpPr>
          <p:nvPr/>
        </p:nvSpPr>
        <p:spPr>
          <a:xfrm>
            <a:off x="660177" y="-43882"/>
            <a:ext cx="10800620" cy="724247"/>
          </a:xfrm>
          <a:prstGeom prst="rect">
            <a:avLst/>
          </a:prstGeom>
        </p:spPr>
        <p:txBody>
          <a:bodyPr vert="horz" lIns="91440" tIns="45720" rIns="91440" bIns="45720" rtlCol="0" anchor="ctr">
            <a:normAutofit/>
          </a:bodyP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a:pPr>
            <a:r>
              <a:rPr lang="en-US" sz="3200" b="1" smtClean="0">
                <a:solidFill>
                  <a:srgbClr val="E67014"/>
                </a:solidFill>
              </a:rPr>
              <a:t>Deployment Architecture</a:t>
            </a:r>
            <a:endParaRPr lang="en-US" sz="3200" b="1" dirty="0">
              <a:solidFill>
                <a:srgbClr val="E67014"/>
              </a:solidFill>
            </a:endParaRPr>
          </a:p>
        </p:txBody>
      </p:sp>
      <p:sp>
        <p:nvSpPr>
          <p:cNvPr id="7" name="Google Shape;1405;p48">
            <a:extLst>
              <a:ext uri="{FF2B5EF4-FFF2-40B4-BE49-F238E27FC236}">
                <a16:creationId xmlns:a16="http://schemas.microsoft.com/office/drawing/2014/main" id="{095AB5BF-5089-854A-A575-89811E501E2D}"/>
              </a:ext>
            </a:extLst>
          </p:cNvPr>
          <p:cNvSpPr/>
          <p:nvPr/>
        </p:nvSpPr>
        <p:spPr>
          <a:xfrm rot="10800000">
            <a:off x="298043" y="9334"/>
            <a:ext cx="297504" cy="617816"/>
          </a:xfrm>
          <a:custGeom>
            <a:avLst/>
            <a:gdLst/>
            <a:ahLst/>
            <a:cxnLst/>
            <a:rect l="l" t="t" r="r" b="b"/>
            <a:pathLst>
              <a:path w="288" h="868" extrusionOk="0">
                <a:moveTo>
                  <a:pt x="144" y="0"/>
                </a:moveTo>
                <a:cubicBezTo>
                  <a:pt x="64" y="0"/>
                  <a:pt x="0" y="64"/>
                  <a:pt x="0" y="144"/>
                </a:cubicBezTo>
                <a:cubicBezTo>
                  <a:pt x="0" y="868"/>
                  <a:pt x="0" y="868"/>
                  <a:pt x="0" y="868"/>
                </a:cubicBezTo>
                <a:cubicBezTo>
                  <a:pt x="288" y="868"/>
                  <a:pt x="288" y="868"/>
                  <a:pt x="288" y="868"/>
                </a:cubicBezTo>
                <a:cubicBezTo>
                  <a:pt x="288" y="144"/>
                  <a:pt x="288" y="144"/>
                  <a:pt x="288" y="144"/>
                </a:cubicBezTo>
                <a:cubicBezTo>
                  <a:pt x="288" y="64"/>
                  <a:pt x="223" y="0"/>
                  <a:pt x="144" y="0"/>
                </a:cubicBezTo>
                <a:close/>
              </a:path>
            </a:pathLst>
          </a:custGeom>
          <a:gradFill flip="none" rotWithShape="1">
            <a:gsLst>
              <a:gs pos="0">
                <a:srgbClr val="FD4D00">
                  <a:shade val="30000"/>
                  <a:satMod val="115000"/>
                </a:srgbClr>
              </a:gs>
              <a:gs pos="44000">
                <a:srgbClr val="FD4D00">
                  <a:shade val="67500"/>
                  <a:satMod val="115000"/>
                </a:srgbClr>
              </a:gs>
              <a:gs pos="100000">
                <a:srgbClr val="FD9E00"/>
              </a:gs>
            </a:gsLst>
            <a:lin ang="16200000" scaled="1"/>
            <a:tileRect/>
          </a:gradFill>
          <a:ln>
            <a:noFill/>
          </a:ln>
        </p:spPr>
        <p:txBody>
          <a:bodyPr spcFirstLastPara="1" wrap="square" lIns="68575" tIns="34275" rIns="68575" bIns="3427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300" b="1" i="0" u="none" strike="noStrike" kern="1200" cap="none" spc="0" normalizeH="0" baseline="0" noProof="0">
              <a:ln>
                <a:noFill/>
              </a:ln>
              <a:solidFill>
                <a:prstClr val="white"/>
              </a:solidFill>
              <a:effectLst/>
              <a:uLnTx/>
              <a:uFillTx/>
              <a:ea typeface="+mn-ea"/>
              <a:cs typeface="+mn-cs"/>
              <a:sym typeface="Calibri"/>
            </a:endParaRPr>
          </a:p>
        </p:txBody>
      </p:sp>
      <p:sp>
        <p:nvSpPr>
          <p:cNvPr id="2" name="TextBox 1"/>
          <p:cNvSpPr txBox="1"/>
          <p:nvPr/>
        </p:nvSpPr>
        <p:spPr>
          <a:xfrm>
            <a:off x="9288380" y="1252501"/>
            <a:ext cx="2820202" cy="2246769"/>
          </a:xfrm>
          <a:prstGeom prst="rect">
            <a:avLst/>
          </a:prstGeom>
          <a:noFill/>
        </p:spPr>
        <p:txBody>
          <a:bodyPr wrap="square" rtlCol="0">
            <a:spAutoFit/>
          </a:bodyPr>
          <a:lstStyle/>
          <a:p>
            <a:r>
              <a:rPr lang="en-US" sz="1400" b="1">
                <a:solidFill>
                  <a:srgbClr val="FF0000"/>
                </a:solidFill>
              </a:rPr>
              <a:t>Note</a:t>
            </a:r>
            <a:r>
              <a:rPr lang="en-US" sz="1400" b="1" smtClean="0">
                <a:solidFill>
                  <a:srgbClr val="FF0000"/>
                </a:solidFill>
              </a:rPr>
              <a:t>:</a:t>
            </a:r>
          </a:p>
          <a:p>
            <a:r>
              <a:rPr lang="en-US" sz="1400"/>
              <a:t>Xin thêm tài nguyên cho 1 service </a:t>
            </a:r>
            <a:r>
              <a:rPr lang="en-US" sz="1400" b="1"/>
              <a:t>“Job Scheduler Management”</a:t>
            </a:r>
          </a:p>
          <a:p>
            <a:endParaRPr lang="en-US" sz="1400" b="1">
              <a:solidFill>
                <a:srgbClr val="FF0000"/>
              </a:solidFill>
            </a:endParaRPr>
          </a:p>
          <a:p>
            <a:pPr marL="342900" indent="-342900">
              <a:buFont typeface="Wingdings" panose="05000000000000000000" pitchFamily="2" charset="2"/>
              <a:buChar char="q"/>
            </a:pPr>
            <a:r>
              <a:rPr lang="en-US" sz="1400" b="1"/>
              <a:t>POD</a:t>
            </a:r>
          </a:p>
          <a:p>
            <a:pPr marL="285750" indent="-285750">
              <a:buFontTx/>
              <a:buChar char="-"/>
            </a:pPr>
            <a:r>
              <a:rPr lang="en-US" sz="1400"/>
              <a:t>Min: 2 </a:t>
            </a:r>
            <a:r>
              <a:rPr lang="en-US" sz="1400" i="1"/>
              <a:t>(HA)</a:t>
            </a:r>
          </a:p>
          <a:p>
            <a:pPr marL="285750" indent="-285750">
              <a:buFontTx/>
              <a:buChar char="-"/>
            </a:pPr>
            <a:r>
              <a:rPr lang="en-US" sz="1400"/>
              <a:t>Max: </a:t>
            </a:r>
            <a:r>
              <a:rPr lang="en-US" sz="1400" smtClean="0"/>
              <a:t>2</a:t>
            </a:r>
            <a:endParaRPr lang="en-US" sz="1400" i="1"/>
          </a:p>
          <a:p>
            <a:pPr marL="342900" indent="-342900">
              <a:buFont typeface="Wingdings" panose="05000000000000000000" pitchFamily="2" charset="2"/>
              <a:buChar char="q"/>
            </a:pPr>
            <a:r>
              <a:rPr lang="en-US" sz="1400" b="1"/>
              <a:t>CPU: </a:t>
            </a:r>
            <a:r>
              <a:rPr lang="en-US" sz="1400"/>
              <a:t>300 – 500</a:t>
            </a:r>
          </a:p>
          <a:p>
            <a:pPr marL="342900" indent="-342900">
              <a:buFont typeface="Wingdings" panose="05000000000000000000" pitchFamily="2" charset="2"/>
              <a:buChar char="q"/>
            </a:pPr>
            <a:r>
              <a:rPr lang="en-US" sz="1400" b="1"/>
              <a:t>Memory: </a:t>
            </a:r>
            <a:r>
              <a:rPr lang="en-US" sz="1400"/>
              <a:t>512 – </a:t>
            </a:r>
            <a:r>
              <a:rPr lang="en-US" sz="1400" smtClean="0"/>
              <a:t>1024</a:t>
            </a:r>
          </a:p>
          <a:p>
            <a:pPr marL="342900" indent="-342900">
              <a:buFont typeface="Wingdings" panose="05000000000000000000" pitchFamily="2" charset="2"/>
              <a:buChar char="q"/>
            </a:pPr>
            <a:endParaRPr lang="en-US" sz="1400"/>
          </a:p>
        </p:txBody>
      </p:sp>
      <p:graphicFrame>
        <p:nvGraphicFramePr>
          <p:cNvPr id="12" name="Table 11"/>
          <p:cNvGraphicFramePr>
            <a:graphicFrameLocks noGrp="1"/>
          </p:cNvGraphicFramePr>
          <p:nvPr>
            <p:extLst>
              <p:ext uri="{D42A27DB-BD31-4B8C-83A1-F6EECF244321}">
                <p14:modId xmlns:p14="http://schemas.microsoft.com/office/powerpoint/2010/main" val="1960716034"/>
              </p:ext>
            </p:extLst>
          </p:nvPr>
        </p:nvGraphicFramePr>
        <p:xfrm>
          <a:off x="8635816" y="4441851"/>
          <a:ext cx="3472766" cy="907548"/>
        </p:xfrm>
        <a:graphic>
          <a:graphicData uri="http://schemas.openxmlformats.org/drawingml/2006/table">
            <a:tbl>
              <a:tblPr firstRow="1" bandRow="1">
                <a:tableStyleId>{5C22544A-7EE6-4342-B048-85BDC9FD1C3A}</a:tableStyleId>
              </a:tblPr>
              <a:tblGrid>
                <a:gridCol w="857154">
                  <a:extLst>
                    <a:ext uri="{9D8B030D-6E8A-4147-A177-3AD203B41FA5}">
                      <a16:colId xmlns:a16="http://schemas.microsoft.com/office/drawing/2014/main" val="521737320"/>
                    </a:ext>
                  </a:extLst>
                </a:gridCol>
                <a:gridCol w="425303">
                  <a:extLst>
                    <a:ext uri="{9D8B030D-6E8A-4147-A177-3AD203B41FA5}">
                      <a16:colId xmlns:a16="http://schemas.microsoft.com/office/drawing/2014/main" val="2741859530"/>
                    </a:ext>
                  </a:extLst>
                </a:gridCol>
                <a:gridCol w="425303">
                  <a:extLst>
                    <a:ext uri="{9D8B030D-6E8A-4147-A177-3AD203B41FA5}">
                      <a16:colId xmlns:a16="http://schemas.microsoft.com/office/drawing/2014/main" val="2614841823"/>
                    </a:ext>
                  </a:extLst>
                </a:gridCol>
                <a:gridCol w="430619">
                  <a:extLst>
                    <a:ext uri="{9D8B030D-6E8A-4147-A177-3AD203B41FA5}">
                      <a16:colId xmlns:a16="http://schemas.microsoft.com/office/drawing/2014/main" val="3358140342"/>
                    </a:ext>
                  </a:extLst>
                </a:gridCol>
                <a:gridCol w="430619">
                  <a:extLst>
                    <a:ext uri="{9D8B030D-6E8A-4147-A177-3AD203B41FA5}">
                      <a16:colId xmlns:a16="http://schemas.microsoft.com/office/drawing/2014/main" val="2871405690"/>
                    </a:ext>
                  </a:extLst>
                </a:gridCol>
                <a:gridCol w="451884">
                  <a:extLst>
                    <a:ext uri="{9D8B030D-6E8A-4147-A177-3AD203B41FA5}">
                      <a16:colId xmlns:a16="http://schemas.microsoft.com/office/drawing/2014/main" val="3980267824"/>
                    </a:ext>
                  </a:extLst>
                </a:gridCol>
                <a:gridCol w="451884">
                  <a:extLst>
                    <a:ext uri="{9D8B030D-6E8A-4147-A177-3AD203B41FA5}">
                      <a16:colId xmlns:a16="http://schemas.microsoft.com/office/drawing/2014/main" val="2025434580"/>
                    </a:ext>
                  </a:extLst>
                </a:gridCol>
              </a:tblGrid>
              <a:tr h="352165">
                <a:tc rowSpan="2">
                  <a:txBody>
                    <a:bodyPr/>
                    <a:lstStyle/>
                    <a:p>
                      <a:pPr algn="ctr"/>
                      <a:r>
                        <a:rPr lang="en-US" sz="800" smtClean="0">
                          <a:latin typeface="Arial" panose="020B0604020202020204" pitchFamily="34" charset="0"/>
                          <a:cs typeface="Arial" panose="020B0604020202020204" pitchFamily="34" charset="0"/>
                        </a:rPr>
                        <a:t>Service</a:t>
                      </a:r>
                      <a:endParaRPr lang="en-US" sz="800" b="1">
                        <a:solidFill>
                          <a:schemeClr val="tx1"/>
                        </a:solidFill>
                        <a:latin typeface="Arial" panose="020B0604020202020204" pitchFamily="34" charset="0"/>
                        <a:cs typeface="Arial" panose="020B0604020202020204" pitchFamily="34" charset="0"/>
                      </a:endParaRPr>
                    </a:p>
                  </a:txBody>
                  <a:tcPr anchor="ctr"/>
                </a:tc>
                <a:tc gridSpan="2">
                  <a:txBody>
                    <a:bodyPr/>
                    <a:lstStyle/>
                    <a:p>
                      <a:pPr algn="ctr"/>
                      <a:r>
                        <a:rPr lang="en-US" sz="800" smtClean="0">
                          <a:latin typeface="Arial" panose="020B0604020202020204" pitchFamily="34" charset="0"/>
                          <a:cs typeface="Arial" panose="020B0604020202020204" pitchFamily="34" charset="0"/>
                        </a:rPr>
                        <a:t>POD</a:t>
                      </a:r>
                      <a:endParaRPr lang="en-US" sz="800" b="1" smtClean="0">
                        <a:solidFill>
                          <a:schemeClr val="tx1"/>
                        </a:solidFill>
                        <a:latin typeface="Arial" panose="020B0604020202020204" pitchFamily="34" charset="0"/>
                        <a:cs typeface="Arial" panose="020B0604020202020204" pitchFamily="34" charset="0"/>
                      </a:endParaRPr>
                    </a:p>
                  </a:txBody>
                  <a:tcPr anchor="ctr"/>
                </a:tc>
                <a:tc hMerge="1">
                  <a:txBody>
                    <a:bodyPr/>
                    <a:lstStyle/>
                    <a:p>
                      <a:endParaRPr lang="en-US"/>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smtClean="0">
                          <a:latin typeface="Arial" panose="020B0604020202020204" pitchFamily="34" charset="0"/>
                          <a:cs typeface="Arial" panose="020B0604020202020204" pitchFamily="34" charset="0"/>
                        </a:rPr>
                        <a:t>CPU</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smtClean="0">
                          <a:latin typeface="Arial" panose="020B0604020202020204" pitchFamily="34" charset="0"/>
                          <a:cs typeface="Arial" panose="020B0604020202020204" pitchFamily="34" charset="0"/>
                        </a:rPr>
                        <a:t>(Milicore)</a:t>
                      </a:r>
                      <a:endParaRPr lang="en-US" sz="800" b="1" smtClean="0">
                        <a:solidFill>
                          <a:schemeClr val="tx1"/>
                        </a:solidFill>
                        <a:latin typeface="Arial" panose="020B0604020202020204" pitchFamily="34" charset="0"/>
                        <a:cs typeface="Arial" panose="020B0604020202020204" pitchFamily="34" charset="0"/>
                      </a:endParaRPr>
                    </a:p>
                  </a:txBody>
                  <a:tcPr anchor="ctr"/>
                </a:tc>
                <a:tc hMerge="1">
                  <a:txBody>
                    <a:bodyPr/>
                    <a:lstStyle/>
                    <a:p>
                      <a:endParaRPr lang="en-US"/>
                    </a:p>
                  </a:txBody>
                  <a:tcPr/>
                </a:tc>
                <a:tc gridSpan="2">
                  <a:txBody>
                    <a:bodyPr/>
                    <a:lstStyle/>
                    <a:p>
                      <a:pPr algn="ctr"/>
                      <a:r>
                        <a:rPr lang="en-US" sz="800" smtClean="0">
                          <a:latin typeface="Arial" panose="020B0604020202020204" pitchFamily="34" charset="0"/>
                          <a:cs typeface="Arial" panose="020B0604020202020204" pitchFamily="34" charset="0"/>
                        </a:rPr>
                        <a:t>Memory (Megabyte)</a:t>
                      </a:r>
                      <a:endParaRPr lang="en-US" sz="800" b="1" smtClean="0">
                        <a:solidFill>
                          <a:schemeClr val="tx1"/>
                        </a:solidFill>
                        <a:latin typeface="Arial" panose="020B0604020202020204" pitchFamily="34" charset="0"/>
                        <a:cs typeface="Arial" panose="020B0604020202020204" pitchFamily="34" charset="0"/>
                      </a:endParaRPr>
                    </a:p>
                  </a:txBody>
                  <a:tcPr anchor="ctr"/>
                </a:tc>
                <a:tc hMerge="1">
                  <a:txBody>
                    <a:bodyPr/>
                    <a:lstStyle/>
                    <a:p>
                      <a:endParaRPr lang="en-US"/>
                    </a:p>
                  </a:txBody>
                  <a:tcPr/>
                </a:tc>
                <a:extLst>
                  <a:ext uri="{0D108BD9-81ED-4DB2-BD59-A6C34878D82A}">
                    <a16:rowId xmlns:a16="http://schemas.microsoft.com/office/drawing/2014/main" val="3006951127"/>
                  </a:ext>
                </a:extLst>
              </a:tr>
              <a:tr h="220103">
                <a:tc vMerge="1">
                  <a:txBody>
                    <a:bodyPr/>
                    <a:lstStyle/>
                    <a:p>
                      <a:endParaRPr lang="en-US"/>
                    </a:p>
                  </a:txBody>
                  <a:tcPr/>
                </a:tc>
                <a:tc>
                  <a:txBody>
                    <a:bodyPr/>
                    <a:lstStyle/>
                    <a:p>
                      <a:pPr algn="ctr"/>
                      <a:r>
                        <a:rPr lang="en-US" sz="800" smtClean="0">
                          <a:latin typeface="Arial" panose="020B0604020202020204" pitchFamily="34" charset="0"/>
                          <a:cs typeface="Arial" panose="020B0604020202020204" pitchFamily="34" charset="0"/>
                        </a:rPr>
                        <a:t>Min</a:t>
                      </a:r>
                      <a:endParaRPr lang="en-US" sz="800" b="1">
                        <a:solidFill>
                          <a:schemeClr val="tx1"/>
                        </a:solidFill>
                        <a:latin typeface="Arial" panose="020B0604020202020204" pitchFamily="34" charset="0"/>
                        <a:cs typeface="Arial" panose="020B060402020202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smtClean="0">
                          <a:latin typeface="Arial" panose="020B0604020202020204" pitchFamily="34" charset="0"/>
                          <a:cs typeface="Arial" panose="020B0604020202020204" pitchFamily="34" charset="0"/>
                          <a:sym typeface="Wingdings" panose="05000000000000000000" pitchFamily="2" charset="2"/>
                        </a:rPr>
                        <a:t>Max</a:t>
                      </a:r>
                      <a:endParaRPr lang="en-US" sz="800" b="1" smtClean="0">
                        <a:solidFill>
                          <a:schemeClr val="tx1"/>
                        </a:solidFill>
                        <a:latin typeface="Arial" panose="020B0604020202020204" pitchFamily="34" charset="0"/>
                        <a:cs typeface="Arial" panose="020B060402020202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smtClean="0">
                          <a:latin typeface="Arial" panose="020B0604020202020204" pitchFamily="34" charset="0"/>
                          <a:cs typeface="Arial" panose="020B0604020202020204" pitchFamily="34" charset="0"/>
                        </a:rPr>
                        <a:t>Min</a:t>
                      </a:r>
                      <a:endParaRPr lang="en-US" sz="800" b="1">
                        <a:solidFill>
                          <a:schemeClr val="tx1"/>
                        </a:solidFill>
                        <a:latin typeface="Arial" panose="020B0604020202020204" pitchFamily="34" charset="0"/>
                        <a:cs typeface="Arial" panose="020B060402020202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smtClean="0">
                          <a:latin typeface="Arial" panose="020B0604020202020204" pitchFamily="34" charset="0"/>
                          <a:cs typeface="Arial" panose="020B0604020202020204" pitchFamily="34" charset="0"/>
                          <a:sym typeface="Wingdings" panose="05000000000000000000" pitchFamily="2" charset="2"/>
                        </a:rPr>
                        <a:t>Max</a:t>
                      </a:r>
                      <a:endParaRPr lang="en-US" sz="800" b="1" smtClean="0">
                        <a:solidFill>
                          <a:schemeClr val="tx1"/>
                        </a:solidFill>
                        <a:latin typeface="Arial" panose="020B0604020202020204" pitchFamily="34" charset="0"/>
                        <a:cs typeface="Arial" panose="020B0604020202020204" pitchFamily="34" charset="0"/>
                      </a:endParaRPr>
                    </a:p>
                  </a:txBody>
                  <a:tcPr anchor="ctr"/>
                </a:tc>
                <a:tc>
                  <a:txBody>
                    <a:bodyPr/>
                    <a:lstStyle/>
                    <a:p>
                      <a:pPr algn="ctr"/>
                      <a:r>
                        <a:rPr lang="en-US" sz="800" smtClean="0">
                          <a:latin typeface="Arial" panose="020B0604020202020204" pitchFamily="34" charset="0"/>
                          <a:cs typeface="Arial" panose="020B0604020202020204" pitchFamily="34" charset="0"/>
                        </a:rPr>
                        <a:t>Min</a:t>
                      </a:r>
                      <a:endParaRPr lang="en-US" sz="800" b="1">
                        <a:solidFill>
                          <a:schemeClr val="tx1"/>
                        </a:solidFill>
                        <a:latin typeface="Arial" panose="020B0604020202020204" pitchFamily="34" charset="0"/>
                        <a:cs typeface="Arial" panose="020B060402020202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smtClean="0">
                          <a:latin typeface="Arial" panose="020B0604020202020204" pitchFamily="34" charset="0"/>
                          <a:cs typeface="Arial" panose="020B0604020202020204" pitchFamily="34" charset="0"/>
                          <a:sym typeface="Wingdings" panose="05000000000000000000" pitchFamily="2" charset="2"/>
                        </a:rPr>
                        <a:t>Max</a:t>
                      </a:r>
                      <a:endParaRPr lang="en-US" sz="800" b="1" smtClean="0">
                        <a:solidFill>
                          <a:schemeClr val="tx1"/>
                        </a:solidFill>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274437976"/>
                  </a:ext>
                </a:extLst>
              </a:tr>
              <a:tr h="2743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smtClean="0">
                          <a:solidFill>
                            <a:schemeClr val="tx1"/>
                          </a:solidFill>
                          <a:latin typeface="Arial" panose="020B0604020202020204" pitchFamily="34" charset="0"/>
                          <a:cs typeface="Arial" panose="020B0604020202020204" pitchFamily="34" charset="0"/>
                        </a:rPr>
                        <a:t>Job Scheduler </a:t>
                      </a:r>
                      <a:r>
                        <a:rPr lang="en-US" sz="800" smtClean="0"/>
                        <a:t>Management</a:t>
                      </a:r>
                      <a:endParaRPr lang="en-US" sz="800" b="0" smtClean="0">
                        <a:solidFill>
                          <a:schemeClr val="tx1"/>
                        </a:solidFill>
                        <a:latin typeface="Arial" panose="020B0604020202020204" pitchFamily="34" charset="0"/>
                        <a:cs typeface="Arial" panose="020B0604020202020204" pitchFamily="34" charset="0"/>
                      </a:endParaRPr>
                    </a:p>
                  </a:txBody>
                  <a:tcPr anchor="ctr"/>
                </a:tc>
                <a:tc>
                  <a:txBody>
                    <a:bodyPr/>
                    <a:lstStyle/>
                    <a:p>
                      <a:pPr marL="0" indent="0" algn="ctr">
                        <a:buFontTx/>
                        <a:buNone/>
                      </a:pPr>
                      <a:r>
                        <a:rPr lang="en-US" sz="800" b="0" smtClean="0">
                          <a:latin typeface="Arial" panose="020B0604020202020204" pitchFamily="34" charset="0"/>
                          <a:cs typeface="Arial" panose="020B0604020202020204" pitchFamily="34" charset="0"/>
                          <a:sym typeface="Wingdings" panose="05000000000000000000" pitchFamily="2" charset="2"/>
                        </a:rPr>
                        <a:t>2</a:t>
                      </a:r>
                      <a:endParaRPr lang="vi-VN" sz="800" b="0" smtClean="0">
                        <a:latin typeface="Arial" panose="020B0604020202020204" pitchFamily="34" charset="0"/>
                        <a:cs typeface="Arial" panose="020B0604020202020204" pitchFamily="34" charset="0"/>
                        <a:sym typeface="Wingdings" panose="05000000000000000000" pitchFamily="2" charset="2"/>
                      </a:endParaRPr>
                    </a:p>
                  </a:txBody>
                  <a:tcPr anchor="ctr"/>
                </a:tc>
                <a:tc>
                  <a:txBody>
                    <a:bodyPr/>
                    <a:lstStyle/>
                    <a:p>
                      <a:pPr marL="0" indent="0" algn="ctr">
                        <a:buFontTx/>
                        <a:buNone/>
                      </a:pPr>
                      <a:r>
                        <a:rPr lang="en-US" sz="800" b="0" smtClean="0">
                          <a:latin typeface="Arial" panose="020B0604020202020204" pitchFamily="34" charset="0"/>
                          <a:cs typeface="Arial" panose="020B0604020202020204" pitchFamily="34" charset="0"/>
                          <a:sym typeface="Wingdings" panose="05000000000000000000" pitchFamily="2" charset="2"/>
                        </a:rPr>
                        <a:t>2</a:t>
                      </a:r>
                      <a:endParaRPr lang="en-US" sz="800" b="0">
                        <a:latin typeface="Arial" panose="020B0604020202020204" pitchFamily="34" charset="0"/>
                        <a:cs typeface="Arial" panose="020B060402020202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kern="1200" smtClean="0">
                          <a:latin typeface="Arial" panose="020B0604020202020204" pitchFamily="34" charset="0"/>
                          <a:cs typeface="Arial" panose="020B0604020202020204" pitchFamily="34" charset="0"/>
                        </a:rPr>
                        <a:t>300</a:t>
                      </a:r>
                      <a:endParaRPr lang="en-US" sz="800" b="0" kern="1200">
                        <a:solidFill>
                          <a:schemeClr val="tx1"/>
                        </a:solidFill>
                        <a:latin typeface="Arial" panose="020B0604020202020204" pitchFamily="34" charset="0"/>
                        <a:ea typeface="+mn-ea"/>
                        <a:cs typeface="Arial" panose="020B060402020202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kern="1200" smtClean="0">
                          <a:latin typeface="Arial" panose="020B0604020202020204" pitchFamily="34" charset="0"/>
                          <a:cs typeface="Arial" panose="020B0604020202020204" pitchFamily="34" charset="0"/>
                          <a:sym typeface="Wingdings" panose="05000000000000000000" pitchFamily="2" charset="2"/>
                        </a:rPr>
                        <a:t>500</a:t>
                      </a:r>
                      <a:endParaRPr lang="en-US" sz="800" b="0" kern="1200">
                        <a:solidFill>
                          <a:schemeClr val="tx1"/>
                        </a:solidFill>
                        <a:latin typeface="Arial" panose="020B0604020202020204" pitchFamily="34" charset="0"/>
                        <a:ea typeface="+mn-ea"/>
                        <a:cs typeface="Arial" panose="020B060402020202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kern="1200" smtClean="0">
                          <a:latin typeface="Arial" panose="020B0604020202020204" pitchFamily="34" charset="0"/>
                          <a:cs typeface="Arial" panose="020B0604020202020204" pitchFamily="34" charset="0"/>
                        </a:rPr>
                        <a:t>512</a:t>
                      </a:r>
                      <a:endParaRPr lang="en-US" sz="800" b="0" kern="1200">
                        <a:solidFill>
                          <a:schemeClr val="tx1"/>
                        </a:solidFill>
                        <a:latin typeface="Arial" panose="020B0604020202020204" pitchFamily="34" charset="0"/>
                        <a:ea typeface="+mn-ea"/>
                        <a:cs typeface="Arial" panose="020B060402020202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kern="1200" smtClean="0">
                          <a:latin typeface="Arial" panose="020B0604020202020204" pitchFamily="34" charset="0"/>
                          <a:cs typeface="Arial" panose="020B0604020202020204" pitchFamily="34" charset="0"/>
                          <a:sym typeface="Wingdings" panose="05000000000000000000" pitchFamily="2" charset="2"/>
                        </a:rPr>
                        <a:t>1024</a:t>
                      </a:r>
                      <a:endParaRPr lang="en-US" sz="800" b="0" kern="1200">
                        <a:solidFill>
                          <a:schemeClr val="tx1"/>
                        </a:solidFill>
                        <a:latin typeface="Arial" panose="020B0604020202020204" pitchFamily="34" charset="0"/>
                        <a:ea typeface="+mn-ea"/>
                        <a:cs typeface="Arial" panose="020B0604020202020204" pitchFamily="34" charset="0"/>
                      </a:endParaRPr>
                    </a:p>
                  </a:txBody>
                  <a:tcPr anchor="ctr"/>
                </a:tc>
                <a:extLst>
                  <a:ext uri="{0D108BD9-81ED-4DB2-BD59-A6C34878D82A}">
                    <a16:rowId xmlns:a16="http://schemas.microsoft.com/office/drawing/2014/main" val="3259392769"/>
                  </a:ext>
                </a:extLst>
              </a:tr>
            </a:tbl>
          </a:graphicData>
        </a:graphic>
      </p:graphicFrame>
    </p:spTree>
    <p:extLst>
      <p:ext uri="{BB962C8B-B14F-4D97-AF65-F5344CB8AC3E}">
        <p14:creationId xmlns:p14="http://schemas.microsoft.com/office/powerpoint/2010/main" val="69146894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6" name="Object 6" hidden="1">
            <a:extLst>
              <a:ext uri="{FF2B5EF4-FFF2-40B4-BE49-F238E27FC236}">
                <a16:creationId xmlns:a16="http://schemas.microsoft.com/office/drawing/2014/main" id="{0FE275B6-7C1E-4152-91DE-0508CCD455B8}"/>
              </a:ext>
            </a:extLst>
          </p:cNvPr>
          <p:cNvGraphicFramePr>
            <a:graphicFrameLocks noChangeAspect="1"/>
          </p:cNvGraphicFramePr>
          <p:nvPr>
            <p:custDataLst>
              <p:tags r:id="rId2"/>
            </p:custDataLs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2039" name="think-cell Slide" r:id="rId5" imgW="473" imgH="476" progId="TCLayout.ActiveDocument.1">
                  <p:embed/>
                </p:oleObj>
              </mc:Choice>
              <mc:Fallback>
                <p:oleObj name="think-cell Slide" r:id="rId5" imgW="473" imgH="476" progId="TCLayout.ActiveDocument.1">
                  <p:embed/>
                  <p:pic>
                    <p:nvPicPr>
                      <p:cNvPr id="66" name="Object 6" hidden="1">
                        <a:extLst>
                          <a:ext uri="{FF2B5EF4-FFF2-40B4-BE49-F238E27FC236}">
                            <a16:creationId xmlns:a16="http://schemas.microsoft.com/office/drawing/2014/main" id="{0FE275B6-7C1E-4152-91DE-0508CCD455B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 name="Text Placeholder 1">
            <a:extLst>
              <a:ext uri="{FF2B5EF4-FFF2-40B4-BE49-F238E27FC236}">
                <a16:creationId xmlns:a16="http://schemas.microsoft.com/office/drawing/2014/main" id="{206381AD-4C2B-4745-99B1-0BBCE6131A71}"/>
              </a:ext>
            </a:extLst>
          </p:cNvPr>
          <p:cNvSpPr txBox="1">
            <a:spLocks/>
          </p:cNvSpPr>
          <p:nvPr/>
        </p:nvSpPr>
        <p:spPr>
          <a:xfrm>
            <a:off x="660177" y="-43882"/>
            <a:ext cx="10800620" cy="724247"/>
          </a:xfrm>
          <a:prstGeom prst="rect">
            <a:avLst/>
          </a:prstGeom>
        </p:spPr>
        <p:txBody>
          <a:bodyPr vert="horz" lIns="91440" tIns="45720" rIns="91440" bIns="45720" rtlCol="0" anchor="ctr">
            <a:normAutofit/>
          </a:bodyP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a:pPr>
            <a:r>
              <a:rPr lang="en-US" sz="3200" b="1" smtClean="0">
                <a:solidFill>
                  <a:srgbClr val="E67014"/>
                </a:solidFill>
              </a:rPr>
              <a:t>Bảng mô tả thay đổi</a:t>
            </a:r>
            <a:endParaRPr lang="en-US" sz="3200" b="1" dirty="0">
              <a:solidFill>
                <a:srgbClr val="E67014"/>
              </a:solidFill>
            </a:endParaRPr>
          </a:p>
        </p:txBody>
      </p:sp>
      <p:sp>
        <p:nvSpPr>
          <p:cNvPr id="7" name="Google Shape;1405;p48">
            <a:extLst>
              <a:ext uri="{FF2B5EF4-FFF2-40B4-BE49-F238E27FC236}">
                <a16:creationId xmlns:a16="http://schemas.microsoft.com/office/drawing/2014/main" id="{095AB5BF-5089-854A-A575-89811E501E2D}"/>
              </a:ext>
            </a:extLst>
          </p:cNvPr>
          <p:cNvSpPr/>
          <p:nvPr/>
        </p:nvSpPr>
        <p:spPr>
          <a:xfrm rot="10800000">
            <a:off x="298043" y="9334"/>
            <a:ext cx="297504" cy="617816"/>
          </a:xfrm>
          <a:custGeom>
            <a:avLst/>
            <a:gdLst/>
            <a:ahLst/>
            <a:cxnLst/>
            <a:rect l="l" t="t" r="r" b="b"/>
            <a:pathLst>
              <a:path w="288" h="868" extrusionOk="0">
                <a:moveTo>
                  <a:pt x="144" y="0"/>
                </a:moveTo>
                <a:cubicBezTo>
                  <a:pt x="64" y="0"/>
                  <a:pt x="0" y="64"/>
                  <a:pt x="0" y="144"/>
                </a:cubicBezTo>
                <a:cubicBezTo>
                  <a:pt x="0" y="868"/>
                  <a:pt x="0" y="868"/>
                  <a:pt x="0" y="868"/>
                </a:cubicBezTo>
                <a:cubicBezTo>
                  <a:pt x="288" y="868"/>
                  <a:pt x="288" y="868"/>
                  <a:pt x="288" y="868"/>
                </a:cubicBezTo>
                <a:cubicBezTo>
                  <a:pt x="288" y="144"/>
                  <a:pt x="288" y="144"/>
                  <a:pt x="288" y="144"/>
                </a:cubicBezTo>
                <a:cubicBezTo>
                  <a:pt x="288" y="64"/>
                  <a:pt x="223" y="0"/>
                  <a:pt x="144" y="0"/>
                </a:cubicBezTo>
                <a:close/>
              </a:path>
            </a:pathLst>
          </a:custGeom>
          <a:gradFill flip="none" rotWithShape="1">
            <a:gsLst>
              <a:gs pos="0">
                <a:srgbClr val="FD4D00">
                  <a:shade val="30000"/>
                  <a:satMod val="115000"/>
                </a:srgbClr>
              </a:gs>
              <a:gs pos="44000">
                <a:srgbClr val="FD4D00">
                  <a:shade val="67500"/>
                  <a:satMod val="115000"/>
                </a:srgbClr>
              </a:gs>
              <a:gs pos="100000">
                <a:srgbClr val="FD9E00"/>
              </a:gs>
            </a:gsLst>
            <a:lin ang="16200000" scaled="1"/>
            <a:tileRect/>
          </a:gradFill>
          <a:ln>
            <a:noFill/>
          </a:ln>
        </p:spPr>
        <p:txBody>
          <a:bodyPr spcFirstLastPara="1" wrap="square" lIns="68575" tIns="34275" rIns="68575" bIns="3427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300" b="1" i="0" u="none" strike="noStrike" kern="1200" cap="none" spc="0" normalizeH="0" baseline="0" noProof="0">
              <a:ln>
                <a:noFill/>
              </a:ln>
              <a:solidFill>
                <a:prstClr val="white"/>
              </a:solidFill>
              <a:effectLst/>
              <a:uLnTx/>
              <a:uFillTx/>
              <a:ea typeface="+mn-ea"/>
              <a:cs typeface="+mn-cs"/>
              <a:sym typeface="Calibri"/>
            </a:endParaRPr>
          </a:p>
        </p:txBody>
      </p:sp>
      <p:sp>
        <p:nvSpPr>
          <p:cNvPr id="8" name="Arrow: Left-Right 148">
            <a:extLst>
              <a:ext uri="{FF2B5EF4-FFF2-40B4-BE49-F238E27FC236}">
                <a16:creationId xmlns:a16="http://schemas.microsoft.com/office/drawing/2014/main" id="{56CF0B3F-6B29-4C01-9F4B-A1D0C744DB76}"/>
              </a:ext>
            </a:extLst>
          </p:cNvPr>
          <p:cNvSpPr/>
          <p:nvPr/>
        </p:nvSpPr>
        <p:spPr>
          <a:xfrm>
            <a:off x="5709682" y="625733"/>
            <a:ext cx="6398899" cy="458516"/>
          </a:xfrm>
          <a:prstGeom prst="leftRightArrow">
            <a:avLst>
              <a:gd name="adj1" fmla="val 77369"/>
              <a:gd name="adj2" fmla="val 25123"/>
            </a:avLst>
          </a:prstGeom>
          <a:solidFill>
            <a:srgbClr val="FF0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GB" sz="900" b="0" i="0" u="none" strike="noStrike" kern="1200" cap="none" spc="0" normalizeH="0" baseline="0" noProof="0" dirty="0" err="1">
              <a:ln>
                <a:noFill/>
              </a:ln>
              <a:solidFill>
                <a:schemeClr val="bg1"/>
              </a:solidFill>
              <a:effectLst/>
              <a:uLnTx/>
              <a:uFillTx/>
              <a:latin typeface="Arial"/>
              <a:ea typeface="+mn-ea"/>
              <a:cs typeface="+mn-cs"/>
            </a:endParaRPr>
          </a:p>
        </p:txBody>
      </p:sp>
      <p:sp>
        <p:nvSpPr>
          <p:cNvPr id="9" name="Title 1">
            <a:extLst>
              <a:ext uri="{FF2B5EF4-FFF2-40B4-BE49-F238E27FC236}">
                <a16:creationId xmlns:a16="http://schemas.microsoft.com/office/drawing/2014/main" id="{25589B45-02E8-4E94-8813-AA7BAA328C6E}"/>
              </a:ext>
            </a:extLst>
          </p:cNvPr>
          <p:cNvSpPr txBox="1">
            <a:spLocks/>
          </p:cNvSpPr>
          <p:nvPr/>
        </p:nvSpPr>
        <p:spPr bwMode="ltGray">
          <a:xfrm>
            <a:off x="127492" y="656211"/>
            <a:ext cx="5582191" cy="6191273"/>
          </a:xfrm>
          <a:prstGeom prst="roundRect">
            <a:avLst>
              <a:gd name="adj" fmla="val 4846"/>
            </a:avLst>
          </a:prstGeom>
          <a:gradFill>
            <a:gsLst>
              <a:gs pos="100000">
                <a:srgbClr val="FF671F"/>
              </a:gs>
              <a:gs pos="0">
                <a:srgbClr val="FF0000"/>
              </a:gs>
            </a:gsLst>
            <a:lin ang="0" scaled="0"/>
          </a:gradFill>
          <a:ln w="10795"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ctr" anchorCtr="0">
            <a:noAutofit/>
          </a:bodyPr>
          <a:lstStyle>
            <a:lvl1pPr algn="l" defTabSz="914400" rtl="0" eaLnBrk="1" latinLnBrk="0" hangingPunct="1">
              <a:lnSpc>
                <a:spcPct val="100000"/>
              </a:lnSpc>
              <a:spcBef>
                <a:spcPct val="0"/>
              </a:spcBef>
              <a:buNone/>
              <a:defRPr kumimoji="0" lang="en-US" sz="3200" b="1" i="0" u="none" strike="noStrike" kern="1200" cap="none" spc="0" normalizeH="0" baseline="0">
                <a:ln>
                  <a:noFill/>
                </a:ln>
                <a:solidFill>
                  <a:prstClr val="white"/>
                </a:solidFill>
                <a:effectLst/>
                <a:uLnTx/>
                <a:uFillTx/>
                <a:latin typeface="Calibri" panose="020F0502020204030204" pitchFamily="34" charset="0"/>
                <a:ea typeface="+mn-ea"/>
                <a:cs typeface="Calibri" panose="020F0502020204030204" pitchFamily="34" charset="0"/>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Calibri" panose="020F0502020204030204" pitchFamily="34" charset="0"/>
              <a:ea typeface="+mn-ea"/>
              <a:cs typeface="Calibri" panose="020F0502020204030204" pitchFamily="34" charset="0"/>
            </a:endParaRPr>
          </a:p>
        </p:txBody>
      </p:sp>
      <p:graphicFrame>
        <p:nvGraphicFramePr>
          <p:cNvPr id="11" name="Table 10"/>
          <p:cNvGraphicFramePr>
            <a:graphicFrameLocks noGrp="1"/>
          </p:cNvGraphicFramePr>
          <p:nvPr>
            <p:extLst>
              <p:ext uri="{D42A27DB-BD31-4B8C-83A1-F6EECF244321}">
                <p14:modId xmlns:p14="http://schemas.microsoft.com/office/powerpoint/2010/main" val="368126519"/>
              </p:ext>
            </p:extLst>
          </p:nvPr>
        </p:nvGraphicFramePr>
        <p:xfrm>
          <a:off x="138688" y="629565"/>
          <a:ext cx="11969892" cy="2164080"/>
        </p:xfrm>
        <a:graphic>
          <a:graphicData uri="http://schemas.openxmlformats.org/drawingml/2006/table">
            <a:tbl>
              <a:tblPr firstRow="1" bandRow="1">
                <a:tableStyleId>{5940675A-B579-460E-94D1-54222C63F5DA}</a:tableStyleId>
              </a:tblPr>
              <a:tblGrid>
                <a:gridCol w="1030893">
                  <a:extLst>
                    <a:ext uri="{9D8B030D-6E8A-4147-A177-3AD203B41FA5}">
                      <a16:colId xmlns:a16="http://schemas.microsoft.com/office/drawing/2014/main" val="1836544847"/>
                    </a:ext>
                  </a:extLst>
                </a:gridCol>
                <a:gridCol w="1180214">
                  <a:extLst>
                    <a:ext uri="{9D8B030D-6E8A-4147-A177-3AD203B41FA5}">
                      <a16:colId xmlns:a16="http://schemas.microsoft.com/office/drawing/2014/main" val="3326385563"/>
                    </a:ext>
                  </a:extLst>
                </a:gridCol>
                <a:gridCol w="899457">
                  <a:extLst>
                    <a:ext uri="{9D8B030D-6E8A-4147-A177-3AD203B41FA5}">
                      <a16:colId xmlns:a16="http://schemas.microsoft.com/office/drawing/2014/main" val="673446136"/>
                    </a:ext>
                  </a:extLst>
                </a:gridCol>
                <a:gridCol w="2451793">
                  <a:extLst>
                    <a:ext uri="{9D8B030D-6E8A-4147-A177-3AD203B41FA5}">
                      <a16:colId xmlns:a16="http://schemas.microsoft.com/office/drawing/2014/main" val="2103684430"/>
                    </a:ext>
                  </a:extLst>
                </a:gridCol>
                <a:gridCol w="595878">
                  <a:extLst>
                    <a:ext uri="{9D8B030D-6E8A-4147-A177-3AD203B41FA5}">
                      <a16:colId xmlns:a16="http://schemas.microsoft.com/office/drawing/2014/main" val="1343413734"/>
                    </a:ext>
                  </a:extLst>
                </a:gridCol>
                <a:gridCol w="817264">
                  <a:extLst>
                    <a:ext uri="{9D8B030D-6E8A-4147-A177-3AD203B41FA5}">
                      <a16:colId xmlns:a16="http://schemas.microsoft.com/office/drawing/2014/main" val="3729819075"/>
                    </a:ext>
                  </a:extLst>
                </a:gridCol>
                <a:gridCol w="726457">
                  <a:extLst>
                    <a:ext uri="{9D8B030D-6E8A-4147-A177-3AD203B41FA5}">
                      <a16:colId xmlns:a16="http://schemas.microsoft.com/office/drawing/2014/main" val="3202884189"/>
                    </a:ext>
                  </a:extLst>
                </a:gridCol>
                <a:gridCol w="1089686">
                  <a:extLst>
                    <a:ext uri="{9D8B030D-6E8A-4147-A177-3AD203B41FA5}">
                      <a16:colId xmlns:a16="http://schemas.microsoft.com/office/drawing/2014/main" val="3321140919"/>
                    </a:ext>
                  </a:extLst>
                </a:gridCol>
                <a:gridCol w="817264">
                  <a:extLst>
                    <a:ext uri="{9D8B030D-6E8A-4147-A177-3AD203B41FA5}">
                      <a16:colId xmlns:a16="http://schemas.microsoft.com/office/drawing/2014/main" val="4282388030"/>
                    </a:ext>
                  </a:extLst>
                </a:gridCol>
                <a:gridCol w="908072">
                  <a:extLst>
                    <a:ext uri="{9D8B030D-6E8A-4147-A177-3AD203B41FA5}">
                      <a16:colId xmlns:a16="http://schemas.microsoft.com/office/drawing/2014/main" val="2553888578"/>
                    </a:ext>
                  </a:extLst>
                </a:gridCol>
                <a:gridCol w="726457">
                  <a:extLst>
                    <a:ext uri="{9D8B030D-6E8A-4147-A177-3AD203B41FA5}">
                      <a16:colId xmlns:a16="http://schemas.microsoft.com/office/drawing/2014/main" val="1483621519"/>
                    </a:ext>
                  </a:extLst>
                </a:gridCol>
                <a:gridCol w="726457">
                  <a:extLst>
                    <a:ext uri="{9D8B030D-6E8A-4147-A177-3AD203B41FA5}">
                      <a16:colId xmlns:a16="http://schemas.microsoft.com/office/drawing/2014/main" val="1521826297"/>
                    </a:ext>
                  </a:extLst>
                </a:gridCol>
              </a:tblGrid>
              <a:tr h="365760">
                <a:tc rowSpan="2">
                  <a:txBody>
                    <a:bodyPr/>
                    <a:lstStyle/>
                    <a:p>
                      <a:pPr algn="ctr"/>
                      <a:r>
                        <a:rPr kumimoji="0" lang="en-US" sz="1100" b="1" i="0" u="none" strike="noStrike" kern="1200" cap="none" spc="0" normalizeH="0" baseline="0" noProof="0" smtClean="0">
                          <a:ln>
                            <a:noFill/>
                          </a:ln>
                          <a:solidFill>
                            <a:schemeClr val="bg1"/>
                          </a:solidFill>
                          <a:effectLst/>
                          <a:uLnTx/>
                          <a:uFillTx/>
                          <a:latin typeface="Arial (Body)"/>
                          <a:ea typeface="+mn-ea"/>
                          <a:cs typeface="Arial" panose="020B0604020202020204" pitchFamily="34" charset="0"/>
                        </a:rPr>
                        <a:t>System</a:t>
                      </a:r>
                      <a:endParaRPr lang="en-US" sz="1100">
                        <a:latin typeface="Arial (Body)"/>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marL="0" marR="0" lvl="0" indent="0" algn="ctr"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100" b="1" i="0" u="none" strike="noStrike" kern="1200" cap="none" spc="0" normalizeH="0" baseline="0" noProof="0" smtClean="0">
                          <a:ln>
                            <a:noFill/>
                          </a:ln>
                          <a:solidFill>
                            <a:schemeClr val="bg1"/>
                          </a:solidFill>
                          <a:effectLst/>
                          <a:uLnTx/>
                          <a:uFillTx/>
                          <a:latin typeface="Arial (Body)"/>
                        </a:rPr>
                        <a:t>Component/</a:t>
                      </a:r>
                    </a:p>
                    <a:p>
                      <a:pPr marL="0" marR="0" lvl="0" indent="0" algn="ctr"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lang="en-US" sz="1100" b="1" smtClean="0">
                          <a:solidFill>
                            <a:schemeClr val="bg1"/>
                          </a:solidFill>
                          <a:latin typeface="Arial (Body)"/>
                        </a:rPr>
                        <a:t>Microservices</a:t>
                      </a:r>
                      <a:endParaRPr kumimoji="0" lang="en-US" sz="1100" b="1" i="0" u="none" strike="noStrike" kern="1200" cap="none" spc="0" normalizeH="0" baseline="0" noProof="0" smtClean="0">
                        <a:ln>
                          <a:noFill/>
                        </a:ln>
                        <a:solidFill>
                          <a:schemeClr val="bg1"/>
                        </a:solidFill>
                        <a:effectLst/>
                        <a:uLnTx/>
                        <a:uFillTx/>
                        <a:latin typeface="Arial (Body)"/>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ctr"/>
                      <a:r>
                        <a:rPr kumimoji="0" lang="en-US" sz="1100" b="1" i="0" u="none" strike="noStrike" kern="1200" cap="none" spc="0" normalizeH="0" baseline="0" noProof="0" smtClean="0">
                          <a:ln>
                            <a:noFill/>
                          </a:ln>
                          <a:solidFill>
                            <a:schemeClr val="bg1"/>
                          </a:solidFill>
                          <a:effectLst/>
                          <a:uLnTx/>
                          <a:uFillTx/>
                          <a:latin typeface="Arial (Body)"/>
                          <a:ea typeface="+mn-ea"/>
                          <a:cs typeface="Arial" panose="020B0604020202020204" pitchFamily="34" charset="0"/>
                        </a:rPr>
                        <a:t>Sub-Item</a:t>
                      </a:r>
                      <a:endParaRPr lang="en-US" sz="1100">
                        <a:latin typeface="Arial (Body)"/>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ctr"/>
                      <a:r>
                        <a:rPr kumimoji="0" lang="en-US" sz="1100" b="1" i="0" u="none" strike="noStrike" kern="1200" cap="none" spc="0" normalizeH="0" baseline="0" noProof="0" smtClean="0">
                          <a:ln>
                            <a:noFill/>
                          </a:ln>
                          <a:solidFill>
                            <a:schemeClr val="bg1"/>
                          </a:solidFill>
                          <a:effectLst/>
                          <a:uLnTx/>
                          <a:uFillTx/>
                          <a:latin typeface="Arial (Body)"/>
                          <a:ea typeface="+mn-ea"/>
                          <a:cs typeface="Arial" panose="020B0604020202020204" pitchFamily="34" charset="0"/>
                        </a:rPr>
                        <a:t>Notes</a:t>
                      </a:r>
                      <a:endParaRPr lang="en-US" sz="1100">
                        <a:latin typeface="Arial (Body)"/>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smtClean="0">
                          <a:solidFill>
                            <a:schemeClr val="bg1"/>
                          </a:solidFill>
                          <a:latin typeface="Arial (Body)"/>
                        </a:rPr>
                        <a:t>Code</a:t>
                      </a:r>
                      <a:endParaRPr lang="en-US" sz="1200" b="1">
                        <a:solidFill>
                          <a:schemeClr val="bg1"/>
                        </a:solidFill>
                        <a:latin typeface="Arial (Body)"/>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algn="ctr"/>
                      <a:r>
                        <a:rPr lang="en-US" sz="1200" b="1" smtClean="0">
                          <a:solidFill>
                            <a:schemeClr val="bg1"/>
                          </a:solidFill>
                          <a:latin typeface="Arial (Body)"/>
                        </a:rPr>
                        <a:t>Parameters</a:t>
                      </a:r>
                      <a:endParaRPr lang="en-US" sz="1200" b="1">
                        <a:solidFill>
                          <a:schemeClr val="bg1"/>
                        </a:solidFill>
                        <a:latin typeface="Arial (Body)"/>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gridSpan="3">
                  <a:txBody>
                    <a:bodyPr/>
                    <a:lstStyle/>
                    <a:p>
                      <a:pPr algn="ctr"/>
                      <a:r>
                        <a:rPr lang="en-US" sz="1200" b="1" smtClean="0">
                          <a:solidFill>
                            <a:schemeClr val="bg1"/>
                          </a:solidFill>
                          <a:latin typeface="Arial (Body)"/>
                        </a:rPr>
                        <a:t>Data</a:t>
                      </a:r>
                      <a:endParaRPr lang="en-US" sz="1200" b="1">
                        <a:solidFill>
                          <a:schemeClr val="bg1"/>
                        </a:solidFill>
                        <a:latin typeface="Arial (Body)"/>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algn="ctr"/>
                      <a:r>
                        <a:rPr lang="en-US" sz="1200" b="1" smtClean="0">
                          <a:solidFill>
                            <a:schemeClr val="bg1"/>
                          </a:solidFill>
                          <a:latin typeface="Arial (Body)"/>
                        </a:rPr>
                        <a:t>Intergration</a:t>
                      </a:r>
                      <a:endParaRPr lang="en-US" sz="1200" b="1">
                        <a:solidFill>
                          <a:schemeClr val="bg1"/>
                        </a:solidFill>
                        <a:latin typeface="Arial (Body)"/>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22416032"/>
                  </a:ext>
                </a:extLst>
              </a:tr>
              <a:tr h="0">
                <a:tc vMerge="1">
                  <a:txBody>
                    <a:bodyPr/>
                    <a:lstStyle/>
                    <a:p>
                      <a:pPr algn="ctr"/>
                      <a:endParaRPr lang="en-US" sz="1100">
                        <a:latin typeface="Arial (Body)"/>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ctr"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endParaRPr kumimoji="0" lang="en-US" sz="1100" b="1" i="0" u="none" strike="noStrike" kern="1200" cap="none" spc="0" normalizeH="0" baseline="0" noProof="0" smtClean="0">
                        <a:ln>
                          <a:noFill/>
                        </a:ln>
                        <a:solidFill>
                          <a:schemeClr val="bg1"/>
                        </a:solidFill>
                        <a:effectLst/>
                        <a:uLnTx/>
                        <a:uFillTx/>
                        <a:latin typeface="Arial (Body)"/>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ctr"/>
                      <a:endParaRPr lang="en-US" sz="1100">
                        <a:latin typeface="Arial (Body)"/>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ctr"/>
                      <a:endParaRPr lang="en-US" sz="1100">
                        <a:latin typeface="Arial (Body)"/>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smtClean="0">
                          <a:latin typeface="Arial (Body)"/>
                        </a:rPr>
                        <a:t>Code</a:t>
                      </a:r>
                      <a:endParaRPr lang="en-US" sz="1100">
                        <a:latin typeface="Arial (Body)"/>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smtClean="0">
                          <a:latin typeface="Arial (Body)"/>
                        </a:rPr>
                        <a:t>Nghiệp</a:t>
                      </a:r>
                      <a:r>
                        <a:rPr lang="en-US" sz="1100" baseline="0" smtClean="0">
                          <a:latin typeface="Arial (Body)"/>
                        </a:rPr>
                        <a:t> vụ </a:t>
                      </a:r>
                    </a:p>
                    <a:p>
                      <a:pPr algn="ctr"/>
                      <a:r>
                        <a:rPr lang="en-US" sz="1100" baseline="0" smtClean="0">
                          <a:latin typeface="Arial (Body)"/>
                        </a:rPr>
                        <a:t>khai báo</a:t>
                      </a:r>
                      <a:endParaRPr lang="en-US" sz="1100">
                        <a:latin typeface="Arial (Body)"/>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smtClean="0">
                          <a:latin typeface="Arial (Body)"/>
                        </a:rPr>
                        <a:t>IT khai báo</a:t>
                      </a:r>
                      <a:endParaRPr lang="en-US" sz="1100">
                        <a:latin typeface="Arial (Body)"/>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smtClean="0">
                          <a:solidFill>
                            <a:srgbClr val="000000"/>
                          </a:solidFill>
                          <a:latin typeface="Arial (Body)"/>
                        </a:rPr>
                        <a:t>Schema/Table/View/Fields</a:t>
                      </a:r>
                      <a:endParaRPr kumimoji="0" lang="en-US" sz="1100" i="0" u="none" strike="noStrike" kern="1200" cap="none" spc="0" normalizeH="0" baseline="0" noProof="0" smtClean="0">
                        <a:ln>
                          <a:noFill/>
                        </a:ln>
                        <a:solidFill>
                          <a:srgbClr val="000000"/>
                        </a:solidFill>
                        <a:effectLst/>
                        <a:uLnTx/>
                        <a:uFillTx/>
                        <a:latin typeface="Arial (Body)"/>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smtClean="0">
                          <a:solidFill>
                            <a:srgbClr val="000000"/>
                          </a:solidFill>
                          <a:latin typeface="Arial (Body)"/>
                        </a:rPr>
                        <a:t>Store, data job</a:t>
                      </a:r>
                      <a:endParaRPr kumimoji="0" lang="en-US" sz="1100" i="0" u="none" strike="noStrike" kern="1200" cap="none" spc="0" normalizeH="0" baseline="0" noProof="0" smtClean="0">
                        <a:ln>
                          <a:noFill/>
                        </a:ln>
                        <a:solidFill>
                          <a:srgbClr val="000000"/>
                        </a:solidFill>
                        <a:effectLst/>
                        <a:uLnTx/>
                        <a:uFillTx/>
                        <a:latin typeface="Arial (Body)"/>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smtClean="0">
                          <a:solidFill>
                            <a:srgbClr val="000000"/>
                          </a:solidFill>
                          <a:latin typeface="Arial (Body)"/>
                        </a:rPr>
                        <a:t>CDC/ETL/Kafka</a:t>
                      </a:r>
                      <a:endParaRPr kumimoji="0" lang="en-US" sz="1100" i="0" u="none" strike="noStrike" kern="1200" cap="none" spc="0" normalizeH="0" baseline="0" noProof="0" smtClean="0">
                        <a:ln>
                          <a:noFill/>
                        </a:ln>
                        <a:solidFill>
                          <a:srgbClr val="000000"/>
                        </a:solidFill>
                        <a:effectLst/>
                        <a:uLnTx/>
                        <a:uFillTx/>
                        <a:latin typeface="Arial (Body)"/>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ctr">
                        <a:spcBef>
                          <a:spcPts val="0"/>
                        </a:spcBef>
                        <a:spcAft>
                          <a:spcPts val="0"/>
                        </a:spcAft>
                        <a:buClr>
                          <a:srgbClr val="000000"/>
                        </a:buClr>
                      </a:pPr>
                      <a:r>
                        <a:rPr lang="en-US" sz="1100" smtClean="0">
                          <a:solidFill>
                            <a:srgbClr val="000000"/>
                          </a:solidFill>
                          <a:latin typeface="Arial (Body)"/>
                        </a:rPr>
                        <a:t>Tạo mới</a:t>
                      </a:r>
                    </a:p>
                    <a:p>
                      <a:pPr lvl="0" algn="ctr">
                        <a:spcBef>
                          <a:spcPts val="0"/>
                        </a:spcBef>
                        <a:spcAft>
                          <a:spcPts val="0"/>
                        </a:spcAft>
                        <a:buClr>
                          <a:srgbClr val="000000"/>
                        </a:buClr>
                      </a:pPr>
                      <a:r>
                        <a:rPr kumimoji="0" lang="en-US" sz="1100" i="0" u="none" strike="noStrike" kern="1200" cap="none" spc="0" normalizeH="0" baseline="0" noProof="0" smtClean="0">
                          <a:ln>
                            <a:noFill/>
                          </a:ln>
                          <a:solidFill>
                            <a:srgbClr val="000000"/>
                          </a:solidFill>
                          <a:effectLst/>
                          <a:uLnTx/>
                          <a:uFillTx/>
                          <a:latin typeface="Arial (Body)"/>
                        </a:rPr>
                        <a:t>API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ctr">
                        <a:spcBef>
                          <a:spcPts val="0"/>
                        </a:spcBef>
                        <a:spcAft>
                          <a:spcPts val="0"/>
                        </a:spcAft>
                        <a:buClr>
                          <a:srgbClr val="000000"/>
                        </a:buClr>
                      </a:pPr>
                      <a:r>
                        <a:rPr lang="en-US" sz="1100" smtClean="0">
                          <a:solidFill>
                            <a:srgbClr val="000000"/>
                          </a:solidFill>
                          <a:latin typeface="Arial (Body)"/>
                        </a:rPr>
                        <a:t>Mapping</a:t>
                      </a:r>
                    </a:p>
                    <a:p>
                      <a:pPr lvl="0" algn="ctr">
                        <a:spcBef>
                          <a:spcPts val="0"/>
                        </a:spcBef>
                        <a:spcAft>
                          <a:spcPts val="0"/>
                        </a:spcAft>
                        <a:buClr>
                          <a:srgbClr val="000000"/>
                        </a:buClr>
                      </a:pPr>
                      <a:r>
                        <a:rPr kumimoji="0" lang="en-US" sz="1100" i="0" u="none" strike="noStrike" kern="1200" cap="none" spc="0" normalizeH="0" baseline="0" noProof="0" smtClean="0">
                          <a:ln>
                            <a:noFill/>
                          </a:ln>
                          <a:solidFill>
                            <a:srgbClr val="000000"/>
                          </a:solidFill>
                          <a:effectLst/>
                          <a:uLnTx/>
                          <a:uFillTx/>
                          <a:latin typeface="Arial (Body)"/>
                        </a:rPr>
                        <a:t>API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2681637"/>
                  </a:ext>
                </a:extLst>
              </a:tr>
              <a:tr h="457200">
                <a:tc rowSpan="2">
                  <a:txBody>
                    <a:bodyPr/>
                    <a:lstStyle/>
                    <a:p>
                      <a:r>
                        <a:rPr lang="en-US" sz="1100" b="1" smtClean="0">
                          <a:solidFill>
                            <a:schemeClr val="bg1"/>
                          </a:solidFill>
                          <a:latin typeface="Arial (Body)"/>
                        </a:rPr>
                        <a:t>D- Signature</a:t>
                      </a:r>
                      <a:endParaRPr lang="en-US" sz="1100" b="1">
                        <a:solidFill>
                          <a:schemeClr val="bg1"/>
                        </a:solidFill>
                        <a:latin typeface="Arial (Body)"/>
                      </a:endParaRPr>
                    </a:p>
                  </a:txBody>
                  <a:tcPr anchor="ctr">
                    <a:lnL w="12700" cap="flat" cmpd="sng" algn="ctr">
                      <a:noFill/>
                      <a:prstDash val="solid"/>
                      <a:round/>
                      <a:headEnd type="none" w="med" len="med"/>
                      <a:tailEnd type="none" w="med" len="med"/>
                    </a:lnL>
                    <a:lnR w="38100" cap="flat" cmpd="sng" algn="ctr">
                      <a:solidFill>
                        <a:srgbClr val="FFFF00"/>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smtClean="0">
                          <a:ln>
                            <a:noFill/>
                          </a:ln>
                          <a:solidFill>
                            <a:schemeClr val="bg1"/>
                          </a:solidFill>
                          <a:effectLst/>
                          <a:uLnTx/>
                          <a:uFillTx/>
                          <a:latin typeface="Arial (Body)"/>
                          <a:ea typeface="+mn-ea"/>
                          <a:cs typeface="Arial" panose="020B0604020202020204" pitchFamily="34" charset="0"/>
                        </a:rPr>
                        <a:t>Backend</a:t>
                      </a:r>
                    </a:p>
                  </a:txBody>
                  <a:tcPr anchor="ctr">
                    <a:lnL w="38100" cap="flat" cmpd="sng" algn="ctr">
                      <a:solidFill>
                        <a:srgbClr val="FFFF00"/>
                      </a:solidFill>
                      <a:prstDash val="solid"/>
                      <a:round/>
                      <a:headEnd type="none" w="med" len="med"/>
                      <a:tailEnd type="none" w="med" len="med"/>
                    </a:lnL>
                    <a:lnR w="38100" cap="flat" cmpd="sng" algn="ctr">
                      <a:solidFill>
                        <a:srgbClr val="FFFF00"/>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smtClean="0">
                          <a:ln>
                            <a:noFill/>
                          </a:ln>
                          <a:solidFill>
                            <a:schemeClr val="bg1"/>
                          </a:solidFill>
                          <a:effectLst/>
                          <a:uLnTx/>
                          <a:uFillTx/>
                          <a:latin typeface="Arial (Body)"/>
                          <a:ea typeface="+mn-ea"/>
                          <a:cs typeface="Arial" panose="020B0604020202020204" pitchFamily="34" charset="0"/>
                        </a:rPr>
                        <a:t>All</a:t>
                      </a:r>
                    </a:p>
                  </a:txBody>
                  <a:tcPr anchor="ctr">
                    <a:lnL w="38100" cap="flat" cmpd="sng" algn="ctr">
                      <a:solidFill>
                        <a:srgbClr val="FFFF00"/>
                      </a:solidFill>
                      <a:prstDash val="solid"/>
                      <a:round/>
                      <a:headEnd type="none" w="med" len="med"/>
                      <a:tailEnd type="none" w="med" len="med"/>
                    </a:lnL>
                    <a:lnR w="38100" cap="flat" cmpd="sng" algn="ctr">
                      <a:solidFill>
                        <a:srgbClr val="FFFF00"/>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smtClean="0">
                          <a:ln>
                            <a:noFill/>
                          </a:ln>
                          <a:solidFill>
                            <a:schemeClr val="bg1"/>
                          </a:solidFill>
                          <a:effectLst/>
                          <a:uLnTx/>
                          <a:uFillTx/>
                          <a:latin typeface="Arial (Body)"/>
                          <a:ea typeface="+mn-ea"/>
                          <a:cs typeface="Arial" panose="020B0604020202020204" pitchFamily="34" charset="0"/>
                        </a:rPr>
                        <a:t>Chỉnh sửa các tính năng và xây dựng tính năng mới cho Portal</a:t>
                      </a:r>
                    </a:p>
                  </a:txBody>
                  <a:tcPr anchor="ctr">
                    <a:lnL w="38100" cap="flat" cmpd="sng" algn="ctr">
                      <a:solidFill>
                        <a:srgbClr val="FFFF00"/>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smtClean="0">
                          <a:latin typeface="Arial (Body)"/>
                        </a:rPr>
                        <a:t>X</a:t>
                      </a:r>
                      <a:endParaRPr lang="en-US" sz="1000">
                        <a:latin typeface="Arial (Body)"/>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latin typeface="Arial (Body)"/>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latin typeface="Arial (Body)"/>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smtClean="0">
                          <a:latin typeface="Arial (Body)"/>
                        </a:rPr>
                        <a:t>X</a:t>
                      </a:r>
                      <a:endParaRPr lang="en-US" sz="1000">
                        <a:latin typeface="Arial (Body)"/>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latin typeface="Arial (Body)"/>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latin typeface="Arial (Body)"/>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latin typeface="Arial (Body)"/>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latin typeface="Arial (Body)"/>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23456049"/>
                  </a:ext>
                </a:extLst>
              </a:tr>
              <a:tr h="457200">
                <a:tc vMerge="1">
                  <a:txBody>
                    <a:bodyPr/>
                    <a:lstStyle/>
                    <a:p>
                      <a:endParaRPr lang="en-US" sz="1100" b="1">
                        <a:solidFill>
                          <a:schemeClr val="bg1"/>
                        </a:solidFill>
                        <a:latin typeface="Arial (Body)"/>
                      </a:endParaRPr>
                    </a:p>
                  </a:txBody>
                  <a:tcPr anchor="ctr">
                    <a:lnL w="12700" cap="flat" cmpd="sng" algn="ctr">
                      <a:noFill/>
                      <a:prstDash val="solid"/>
                      <a:round/>
                      <a:headEnd type="none" w="med" len="med"/>
                      <a:tailEnd type="none" w="med" len="med"/>
                    </a:lnL>
                    <a:lnR w="38100" cap="flat" cmpd="sng" algn="ctr">
                      <a:solidFill>
                        <a:srgbClr val="FFFF0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smtClean="0">
                          <a:ln>
                            <a:noFill/>
                          </a:ln>
                          <a:solidFill>
                            <a:schemeClr val="bg1"/>
                          </a:solidFill>
                          <a:effectLst/>
                          <a:uLnTx/>
                          <a:uFillTx/>
                          <a:latin typeface="Arial (Body)"/>
                          <a:ea typeface="+mn-ea"/>
                          <a:cs typeface="Arial" panose="020B0604020202020204" pitchFamily="34" charset="0"/>
                        </a:rPr>
                        <a:t>Portal</a:t>
                      </a:r>
                    </a:p>
                  </a:txBody>
                  <a:tcPr anchor="ctr">
                    <a:lnL w="38100" cap="flat" cmpd="sng" algn="ctr">
                      <a:solidFill>
                        <a:srgbClr val="FFFF00"/>
                      </a:solidFill>
                      <a:prstDash val="solid"/>
                      <a:round/>
                      <a:headEnd type="none" w="med" len="med"/>
                      <a:tailEnd type="none" w="med" len="med"/>
                    </a:lnL>
                    <a:lnR w="38100" cap="flat" cmpd="sng" algn="ctr">
                      <a:solidFill>
                        <a:srgbClr val="FFFF0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000" smtClean="0">
                          <a:solidFill>
                            <a:schemeClr val="bg1"/>
                          </a:solidFill>
                          <a:latin typeface="Arial (Body)"/>
                        </a:rPr>
                        <a:t>All</a:t>
                      </a:r>
                      <a:endParaRPr lang="en-US" sz="1000">
                        <a:solidFill>
                          <a:schemeClr val="bg1"/>
                        </a:solidFill>
                        <a:latin typeface="Arial (Body)"/>
                      </a:endParaRPr>
                    </a:p>
                  </a:txBody>
                  <a:tcPr anchor="ctr">
                    <a:lnL w="38100" cap="flat" cmpd="sng" algn="ctr">
                      <a:solidFill>
                        <a:srgbClr val="FFFF00"/>
                      </a:solidFill>
                      <a:prstDash val="solid"/>
                      <a:round/>
                      <a:headEnd type="none" w="med" len="med"/>
                      <a:tailEnd type="none" w="med" len="med"/>
                    </a:lnL>
                    <a:lnR w="38100" cap="flat" cmpd="sng" algn="ctr">
                      <a:solidFill>
                        <a:srgbClr val="FFFF0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000" smtClean="0">
                          <a:solidFill>
                            <a:schemeClr val="bg1"/>
                          </a:solidFill>
                          <a:latin typeface="Arial (Body)"/>
                        </a:rPr>
                        <a:t>Xây dựng tính năng mới</a:t>
                      </a:r>
                      <a:endParaRPr lang="en-US" sz="1000" dirty="0">
                        <a:solidFill>
                          <a:schemeClr val="bg1"/>
                        </a:solidFill>
                        <a:latin typeface="Arial (Body)"/>
                      </a:endParaRPr>
                    </a:p>
                  </a:txBody>
                  <a:tcPr anchor="ctr">
                    <a:lnL w="38100" cap="flat" cmpd="sng" algn="ctr">
                      <a:solidFill>
                        <a:srgbClr val="FFFF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smtClean="0">
                          <a:latin typeface="Arial (Body)"/>
                        </a:rPr>
                        <a:t>X</a:t>
                      </a:r>
                      <a:endParaRPr lang="en-US" sz="1000">
                        <a:latin typeface="Arial (Body)"/>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latin typeface="Arial (Body)"/>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latin typeface="Arial (Body)"/>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latin typeface="Arial (Body)"/>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latin typeface="Arial (Body)"/>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latin typeface="Arial (Body)"/>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latin typeface="Arial (Body)"/>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latin typeface="Arial (Body)"/>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27973024"/>
                  </a:ext>
                </a:extLst>
              </a:tr>
              <a:tr h="457200">
                <a:tc>
                  <a:txBody>
                    <a:bodyPr/>
                    <a:lstStyle/>
                    <a:p>
                      <a:r>
                        <a:rPr lang="en-US" sz="1100" b="1" smtClean="0">
                          <a:solidFill>
                            <a:schemeClr val="bg1"/>
                          </a:solidFill>
                          <a:latin typeface="Arial (Body)"/>
                        </a:rPr>
                        <a:t>Kafka</a:t>
                      </a:r>
                      <a:endParaRPr lang="en-US" sz="1100" b="1">
                        <a:solidFill>
                          <a:schemeClr val="bg1"/>
                        </a:solidFill>
                        <a:latin typeface="Arial (Body)"/>
                      </a:endParaRPr>
                    </a:p>
                  </a:txBody>
                  <a:tcPr anchor="ctr">
                    <a:lnL w="12700" cap="flat" cmpd="sng" algn="ctr">
                      <a:noFill/>
                      <a:prstDash val="solid"/>
                      <a:round/>
                      <a:headEnd type="none" w="med" len="med"/>
                      <a:tailEnd type="none" w="med" len="med"/>
                    </a:lnL>
                    <a:lnR w="38100" cap="flat" cmpd="sng" algn="ctr">
                      <a:solidFill>
                        <a:srgbClr val="FFFF0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smtClean="0">
                          <a:ln>
                            <a:noFill/>
                          </a:ln>
                          <a:solidFill>
                            <a:schemeClr val="bg1"/>
                          </a:solidFill>
                          <a:effectLst/>
                          <a:uLnTx/>
                          <a:uFillTx/>
                          <a:latin typeface="Arial (Body)"/>
                          <a:ea typeface="+mn-ea"/>
                          <a:cs typeface="Arial" panose="020B0604020202020204" pitchFamily="34" charset="0"/>
                        </a:rPr>
                        <a:t>Topic</a:t>
                      </a:r>
                    </a:p>
                  </a:txBody>
                  <a:tcPr anchor="ctr">
                    <a:lnL w="38100" cap="flat" cmpd="sng" algn="ctr">
                      <a:solidFill>
                        <a:srgbClr val="FFFF00"/>
                      </a:solidFill>
                      <a:prstDash val="solid"/>
                      <a:round/>
                      <a:headEnd type="none" w="med" len="med"/>
                      <a:tailEnd type="none" w="med" len="med"/>
                    </a:lnL>
                    <a:lnR w="38100" cap="flat" cmpd="sng" algn="ctr">
                      <a:solidFill>
                        <a:srgbClr val="FFFF0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0">
                        <a:solidFill>
                          <a:schemeClr val="bg1"/>
                        </a:solidFill>
                        <a:latin typeface="Arial (Body)"/>
                      </a:endParaRPr>
                    </a:p>
                  </a:txBody>
                  <a:tcPr anchor="ctr">
                    <a:lnL w="38100" cap="flat" cmpd="sng" algn="ctr">
                      <a:solidFill>
                        <a:srgbClr val="FFFF00"/>
                      </a:solidFill>
                      <a:prstDash val="solid"/>
                      <a:round/>
                      <a:headEnd type="none" w="med" len="med"/>
                      <a:tailEnd type="none" w="med" len="med"/>
                    </a:lnL>
                    <a:lnR w="38100" cap="flat" cmpd="sng" algn="ctr">
                      <a:solidFill>
                        <a:srgbClr val="FFFF0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000" smtClean="0">
                          <a:solidFill>
                            <a:schemeClr val="bg1"/>
                          </a:solidFill>
                          <a:latin typeface="Arial (Body)"/>
                        </a:rPr>
                        <a:t>Tạo</a:t>
                      </a:r>
                      <a:r>
                        <a:rPr lang="en-US" sz="1000" baseline="0" smtClean="0">
                          <a:solidFill>
                            <a:schemeClr val="bg1"/>
                          </a:solidFill>
                          <a:latin typeface="Arial (Body)"/>
                        </a:rPr>
                        <a:t> topic mới để quản lý Lịch chạy của các jobs</a:t>
                      </a:r>
                      <a:endParaRPr lang="en-US" sz="1000">
                        <a:solidFill>
                          <a:schemeClr val="bg1"/>
                        </a:solidFill>
                        <a:latin typeface="Arial (Body)"/>
                      </a:endParaRPr>
                    </a:p>
                  </a:txBody>
                  <a:tcPr anchor="ctr">
                    <a:lnL w="38100" cap="flat" cmpd="sng" algn="ctr">
                      <a:solidFill>
                        <a:srgbClr val="FFFF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latin typeface="Arial (Body)"/>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latin typeface="Arial (Body)"/>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smtClean="0">
                          <a:latin typeface="Arial (Body)"/>
                        </a:rPr>
                        <a:t>X</a:t>
                      </a:r>
                      <a:endParaRPr lang="en-US" sz="1000">
                        <a:latin typeface="Arial (Body)"/>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latin typeface="Arial (Body)"/>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latin typeface="Arial (Body)"/>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latin typeface="Arial (Body)"/>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latin typeface="Arial (Body)"/>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latin typeface="Arial (Body)"/>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7606991"/>
                  </a:ext>
                </a:extLst>
              </a:tr>
            </a:tbl>
          </a:graphicData>
        </a:graphic>
      </p:graphicFrame>
    </p:spTree>
    <p:extLst>
      <p:ext uri="{BB962C8B-B14F-4D97-AF65-F5344CB8AC3E}">
        <p14:creationId xmlns:p14="http://schemas.microsoft.com/office/powerpoint/2010/main" val="225323653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4" name="Title Placeholder 7"/>
          <p:cNvSpPr txBox="1">
            <a:spLocks/>
          </p:cNvSpPr>
          <p:nvPr/>
        </p:nvSpPr>
        <p:spPr>
          <a:xfrm>
            <a:off x="673100" y="2650210"/>
            <a:ext cx="10515600" cy="1899456"/>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sz="3000" b="1" i="0" u="none" strike="noStrike" kern="1200" cap="none" spc="0" normalizeH="0" baseline="0" noProof="0" dirty="0" smtClean="0">
              <a:ln>
                <a:noFill/>
              </a:ln>
              <a:solidFill>
                <a:srgbClr val="FFB81C"/>
              </a:solidFill>
              <a:effectLst/>
              <a:uLnTx/>
              <a:uFillTx/>
              <a:latin typeface="Calibri" charset="0"/>
              <a:ea typeface="Calibri" charset="0"/>
              <a:cs typeface="Calibri" charset="0"/>
            </a:endParaRPr>
          </a:p>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800" b="1" i="0" u="none" strike="noStrike" kern="1200" cap="none" spc="0" normalizeH="0" baseline="0" noProof="0" dirty="0" smtClean="0">
                <a:ln>
                  <a:noFill/>
                </a:ln>
                <a:solidFill>
                  <a:prstClr val="white"/>
                </a:solidFill>
                <a:effectLst/>
                <a:uLnTx/>
                <a:uFillTx/>
                <a:latin typeface="Calibri" charset="0"/>
                <a:ea typeface="Calibri" charset="0"/>
                <a:cs typeface="Calibri" charset="0"/>
              </a:rPr>
              <a:t>Thank You</a:t>
            </a:r>
          </a:p>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sz="4800" b="1" i="0" u="none" strike="noStrike" kern="1200" cap="none" spc="0" normalizeH="0" baseline="0" noProof="0" dirty="0">
              <a:ln>
                <a:noFill/>
              </a:ln>
              <a:solidFill>
                <a:prstClr val="white"/>
              </a:solidFill>
              <a:effectLst/>
              <a:uLnTx/>
              <a:uFillTx/>
              <a:latin typeface="Calibri" charset="0"/>
              <a:ea typeface="Calibri" charset="0"/>
              <a:cs typeface="Calibri" charset="0"/>
            </a:endParaRPr>
          </a:p>
        </p:txBody>
      </p:sp>
      <p:sp>
        <p:nvSpPr>
          <p:cNvPr id="6" name="Title Placeholder 7"/>
          <p:cNvSpPr txBox="1">
            <a:spLocks/>
          </p:cNvSpPr>
          <p:nvPr/>
        </p:nvSpPr>
        <p:spPr>
          <a:xfrm>
            <a:off x="673100" y="6219825"/>
            <a:ext cx="10515600" cy="3984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b="1" i="0" kern="1200">
                <a:solidFill>
                  <a:schemeClr val="bg1"/>
                </a:solidFill>
                <a:latin typeface="Calibri" charset="0"/>
                <a:ea typeface="Calibri" charset="0"/>
                <a:cs typeface="Calibri"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2000" b="1" i="0" u="none" strike="noStrike" kern="1200" cap="none" spc="0" normalizeH="0" baseline="0" noProof="0" dirty="0">
              <a:ln>
                <a:noFill/>
              </a:ln>
              <a:solidFill>
                <a:prstClr val="white"/>
              </a:solidFill>
              <a:effectLst/>
              <a:uLnTx/>
              <a:uFillTx/>
              <a:latin typeface="Calibri" charset="0"/>
              <a:cs typeface="Calibri" charset="0"/>
            </a:endParaRPr>
          </a:p>
        </p:txBody>
      </p:sp>
      <p:sp>
        <p:nvSpPr>
          <p:cNvPr id="8" name="Slide Number Placeholder 7"/>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875680228"/>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4" name="Title Placeholder 7"/>
          <p:cNvSpPr txBox="1">
            <a:spLocks/>
          </p:cNvSpPr>
          <p:nvPr/>
        </p:nvSpPr>
        <p:spPr>
          <a:xfrm>
            <a:off x="673100" y="2650210"/>
            <a:ext cx="10515600" cy="1899456"/>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sz="3000" b="1" i="0" u="none" strike="noStrike" kern="1200" cap="none" spc="0" normalizeH="0" baseline="0" noProof="0" dirty="0" smtClean="0">
              <a:ln>
                <a:noFill/>
              </a:ln>
              <a:solidFill>
                <a:srgbClr val="FFB81C"/>
              </a:solidFill>
              <a:effectLst/>
              <a:uLnTx/>
              <a:uFillTx/>
              <a:latin typeface="Calibri" charset="0"/>
              <a:ea typeface="Calibri" charset="0"/>
              <a:cs typeface="Calibri" charset="0"/>
            </a:endParaRPr>
          </a:p>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800" b="1" i="0" u="none" strike="noStrike" kern="1200" cap="none" spc="0" normalizeH="0" baseline="0" noProof="0" dirty="0" smtClean="0">
                <a:ln>
                  <a:noFill/>
                </a:ln>
                <a:solidFill>
                  <a:prstClr val="white"/>
                </a:solidFill>
                <a:effectLst/>
                <a:uLnTx/>
                <a:uFillTx/>
                <a:latin typeface="Calibri" charset="0"/>
                <a:ea typeface="Calibri" charset="0"/>
                <a:cs typeface="Calibri" charset="0"/>
              </a:rPr>
              <a:t>Appendix</a:t>
            </a:r>
          </a:p>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sz="4800" b="1" i="0" u="none" strike="noStrike" kern="1200" cap="none" spc="0" normalizeH="0" baseline="0" noProof="0" dirty="0">
              <a:ln>
                <a:noFill/>
              </a:ln>
              <a:solidFill>
                <a:prstClr val="white"/>
              </a:solidFill>
              <a:effectLst/>
              <a:uLnTx/>
              <a:uFillTx/>
              <a:latin typeface="Calibri" charset="0"/>
              <a:ea typeface="Calibri" charset="0"/>
              <a:cs typeface="Calibri" charset="0"/>
            </a:endParaRPr>
          </a:p>
        </p:txBody>
      </p:sp>
      <p:sp>
        <p:nvSpPr>
          <p:cNvPr id="6" name="Title Placeholder 7"/>
          <p:cNvSpPr txBox="1">
            <a:spLocks/>
          </p:cNvSpPr>
          <p:nvPr/>
        </p:nvSpPr>
        <p:spPr>
          <a:xfrm>
            <a:off x="673100" y="6219825"/>
            <a:ext cx="10515600" cy="3984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b="1" i="0" kern="1200">
                <a:solidFill>
                  <a:schemeClr val="bg1"/>
                </a:solidFill>
                <a:latin typeface="Calibri" charset="0"/>
                <a:ea typeface="Calibri" charset="0"/>
                <a:cs typeface="Calibri"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2000" b="1" i="0" u="none" strike="noStrike" kern="1200" cap="none" spc="0" normalizeH="0" baseline="0" noProof="0" dirty="0">
              <a:ln>
                <a:noFill/>
              </a:ln>
              <a:solidFill>
                <a:prstClr val="white"/>
              </a:solidFill>
              <a:effectLst/>
              <a:uLnTx/>
              <a:uFillTx/>
              <a:latin typeface="Calibri" charset="0"/>
              <a:cs typeface="Calibri" charset="0"/>
            </a:endParaRPr>
          </a:p>
        </p:txBody>
      </p:sp>
      <p:sp>
        <p:nvSpPr>
          <p:cNvPr id="8" name="Slide Number Placeholder 7"/>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066834624"/>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6" name="Object 6" hidden="1">
            <a:extLst>
              <a:ext uri="{FF2B5EF4-FFF2-40B4-BE49-F238E27FC236}">
                <a16:creationId xmlns:a16="http://schemas.microsoft.com/office/drawing/2014/main" id="{0FE275B6-7C1E-4152-91DE-0508CCD455B8}"/>
              </a:ext>
            </a:extLst>
          </p:cNvPr>
          <p:cNvGraphicFramePr>
            <a:graphicFrameLocks noChangeAspect="1"/>
          </p:cNvGraphicFramePr>
          <p:nvPr>
            <p:custDataLst>
              <p:tags r:id="rId2"/>
            </p:custDataLs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5177" name="think-cell Slide" r:id="rId5" imgW="473" imgH="476" progId="TCLayout.ActiveDocument.1">
                  <p:embed/>
                </p:oleObj>
              </mc:Choice>
              <mc:Fallback>
                <p:oleObj name="think-cell Slide" r:id="rId5" imgW="473" imgH="476" progId="TCLayout.ActiveDocument.1">
                  <p:embed/>
                  <p:pic>
                    <p:nvPicPr>
                      <p:cNvPr id="66" name="Object 6" hidden="1">
                        <a:extLst>
                          <a:ext uri="{FF2B5EF4-FFF2-40B4-BE49-F238E27FC236}">
                            <a16:creationId xmlns:a16="http://schemas.microsoft.com/office/drawing/2014/main" id="{0FE275B6-7C1E-4152-91DE-0508CCD455B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 name="Text Placeholder 1">
            <a:extLst>
              <a:ext uri="{FF2B5EF4-FFF2-40B4-BE49-F238E27FC236}">
                <a16:creationId xmlns:a16="http://schemas.microsoft.com/office/drawing/2014/main" id="{206381AD-4C2B-4745-99B1-0BBCE6131A71}"/>
              </a:ext>
            </a:extLst>
          </p:cNvPr>
          <p:cNvSpPr txBox="1">
            <a:spLocks/>
          </p:cNvSpPr>
          <p:nvPr/>
        </p:nvSpPr>
        <p:spPr>
          <a:xfrm>
            <a:off x="660177" y="-43882"/>
            <a:ext cx="10800620" cy="724247"/>
          </a:xfrm>
          <a:prstGeom prst="rect">
            <a:avLst/>
          </a:prstGeom>
        </p:spPr>
        <p:txBody>
          <a:bodyPr vert="horz" lIns="91440" tIns="45720" rIns="91440" bIns="45720" rtlCol="0" anchor="ctr">
            <a:normAutofit/>
          </a:bodyP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sz="3200" b="1" smtClean="0">
                <a:solidFill>
                  <a:srgbClr val="E67014"/>
                </a:solidFill>
              </a:rPr>
              <a:t>Biz Capability</a:t>
            </a:r>
            <a:endParaRPr lang="en-US" sz="3200" b="1">
              <a:solidFill>
                <a:srgbClr val="E67014"/>
              </a:solidFill>
            </a:endParaRPr>
          </a:p>
        </p:txBody>
      </p:sp>
      <p:sp>
        <p:nvSpPr>
          <p:cNvPr id="7" name="Google Shape;1405;p48">
            <a:extLst>
              <a:ext uri="{FF2B5EF4-FFF2-40B4-BE49-F238E27FC236}">
                <a16:creationId xmlns:a16="http://schemas.microsoft.com/office/drawing/2014/main" id="{095AB5BF-5089-854A-A575-89811E501E2D}"/>
              </a:ext>
            </a:extLst>
          </p:cNvPr>
          <p:cNvSpPr/>
          <p:nvPr/>
        </p:nvSpPr>
        <p:spPr>
          <a:xfrm rot="10800000">
            <a:off x="298043" y="9334"/>
            <a:ext cx="297504" cy="617816"/>
          </a:xfrm>
          <a:custGeom>
            <a:avLst/>
            <a:gdLst/>
            <a:ahLst/>
            <a:cxnLst/>
            <a:rect l="l" t="t" r="r" b="b"/>
            <a:pathLst>
              <a:path w="288" h="868" extrusionOk="0">
                <a:moveTo>
                  <a:pt x="144" y="0"/>
                </a:moveTo>
                <a:cubicBezTo>
                  <a:pt x="64" y="0"/>
                  <a:pt x="0" y="64"/>
                  <a:pt x="0" y="144"/>
                </a:cubicBezTo>
                <a:cubicBezTo>
                  <a:pt x="0" y="868"/>
                  <a:pt x="0" y="868"/>
                  <a:pt x="0" y="868"/>
                </a:cubicBezTo>
                <a:cubicBezTo>
                  <a:pt x="288" y="868"/>
                  <a:pt x="288" y="868"/>
                  <a:pt x="288" y="868"/>
                </a:cubicBezTo>
                <a:cubicBezTo>
                  <a:pt x="288" y="144"/>
                  <a:pt x="288" y="144"/>
                  <a:pt x="288" y="144"/>
                </a:cubicBezTo>
                <a:cubicBezTo>
                  <a:pt x="288" y="64"/>
                  <a:pt x="223" y="0"/>
                  <a:pt x="144" y="0"/>
                </a:cubicBezTo>
                <a:close/>
              </a:path>
            </a:pathLst>
          </a:custGeom>
          <a:gradFill flip="none" rotWithShape="1">
            <a:gsLst>
              <a:gs pos="0">
                <a:srgbClr val="FD4D00">
                  <a:shade val="30000"/>
                  <a:satMod val="115000"/>
                </a:srgbClr>
              </a:gs>
              <a:gs pos="44000">
                <a:srgbClr val="FD4D00">
                  <a:shade val="67500"/>
                  <a:satMod val="115000"/>
                </a:srgbClr>
              </a:gs>
              <a:gs pos="100000">
                <a:srgbClr val="FD9E00"/>
              </a:gs>
            </a:gsLst>
            <a:lin ang="16200000" scaled="1"/>
            <a:tileRect/>
          </a:gradFill>
          <a:ln>
            <a:noFill/>
          </a:ln>
        </p:spPr>
        <p:txBody>
          <a:bodyPr spcFirstLastPara="1" wrap="square" lIns="68575" tIns="34275" rIns="68575" bIns="3427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300" b="1" i="0" u="none" strike="noStrike" kern="1200" cap="none" spc="0" normalizeH="0" baseline="0" noProof="0">
              <a:ln>
                <a:noFill/>
              </a:ln>
              <a:solidFill>
                <a:prstClr val="white"/>
              </a:solidFill>
              <a:effectLst/>
              <a:uLnTx/>
              <a:uFillTx/>
              <a:ea typeface="+mn-ea"/>
              <a:cs typeface="+mn-cs"/>
              <a:sym typeface="Calibri"/>
            </a:endParaRPr>
          </a:p>
        </p:txBody>
      </p:sp>
      <p:sp>
        <p:nvSpPr>
          <p:cNvPr id="11" name="Rectangle 10"/>
          <p:cNvSpPr/>
          <p:nvPr/>
        </p:nvSpPr>
        <p:spPr>
          <a:xfrm>
            <a:off x="338214" y="684527"/>
            <a:ext cx="365760" cy="2558181"/>
          </a:xfrm>
          <a:prstGeom prst="rect">
            <a:avLst/>
          </a:prstGeom>
          <a:solidFill>
            <a:schemeClr val="bg1"/>
          </a:solidFill>
        </p:spPr>
        <p:style>
          <a:lnRef idx="1">
            <a:schemeClr val="dk1"/>
          </a:lnRef>
          <a:fillRef idx="2">
            <a:schemeClr val="dk1"/>
          </a:fillRef>
          <a:effectRef idx="1">
            <a:schemeClr val="dk1"/>
          </a:effectRef>
          <a:fontRef idx="minor">
            <a:schemeClr val="dk1"/>
          </a:fontRef>
        </p:style>
        <p:txBody>
          <a:bodyPr vert="vert270" rtlCol="0" anchor="ctr"/>
          <a:lstStyle/>
          <a:p>
            <a:pPr algn="ctr"/>
            <a:r>
              <a:rPr lang="en-US" sz="1000">
                <a:solidFill>
                  <a:sysClr val="windowText" lastClr="000000"/>
                </a:solidFill>
                <a:latin typeface="Arial (Body)"/>
                <a:cs typeface="Times New Roman" panose="02020603050405020304" pitchFamily="18" charset="0"/>
              </a:rPr>
              <a:t>4. Supporting </a:t>
            </a:r>
            <a:r>
              <a:rPr lang="en-US" sz="1000" smtClean="0">
                <a:solidFill>
                  <a:sysClr val="windowText" lastClr="000000"/>
                </a:solidFill>
                <a:latin typeface="Arial (Body)"/>
                <a:cs typeface="Times New Roman" panose="02020603050405020304" pitchFamily="18" charset="0"/>
              </a:rPr>
              <a:t>functions</a:t>
            </a:r>
            <a:endParaRPr lang="en-US" sz="1000">
              <a:solidFill>
                <a:sysClr val="windowText" lastClr="000000"/>
              </a:solidFill>
              <a:latin typeface="Arial (Body)"/>
              <a:cs typeface="Times New Roman" panose="02020603050405020304" pitchFamily="18" charset="0"/>
            </a:endParaRPr>
          </a:p>
        </p:txBody>
      </p:sp>
      <p:sp>
        <p:nvSpPr>
          <p:cNvPr id="16" name="Rectangle 15">
            <a:extLst>
              <a:ext uri="{FF2B5EF4-FFF2-40B4-BE49-F238E27FC236}">
                <a16:creationId xmlns:a16="http://schemas.microsoft.com/office/drawing/2014/main" id="{81A9F1BF-05CB-42ED-9D37-A7A02F20E5BA}"/>
              </a:ext>
            </a:extLst>
          </p:cNvPr>
          <p:cNvSpPr>
            <a:spLocks/>
          </p:cNvSpPr>
          <p:nvPr/>
        </p:nvSpPr>
        <p:spPr>
          <a:xfrm>
            <a:off x="816587" y="680365"/>
            <a:ext cx="2383185" cy="1649653"/>
          </a:xfrm>
          <a:prstGeom prst="rect">
            <a:avLst/>
          </a:prstGeom>
          <a:solidFill>
            <a:schemeClr val="bg1"/>
          </a:solidFill>
          <a:ln w="6350">
            <a:solidFill>
              <a:schemeClr val="tx1"/>
            </a:solidFill>
          </a:ln>
        </p:spPr>
        <p:txBody>
          <a:bodyPr vert="horz" wrap="square" lIns="9144" tIns="9144" rIns="9144" bIns="9144" rtlCol="0" anchor="t">
            <a:noAutofit/>
          </a:bodyPr>
          <a:lstStyle/>
          <a:p>
            <a:pPr>
              <a:spcBef>
                <a:spcPts val="300"/>
              </a:spcBef>
              <a:spcAft>
                <a:spcPts val="300"/>
              </a:spcAft>
              <a:buClr>
                <a:srgbClr val="000000"/>
              </a:buClr>
              <a:buFont typeface="Segoe UI" panose="020B0502040204020203" pitchFamily="34" charset="0"/>
              <a:buChar char="​"/>
            </a:pPr>
            <a:r>
              <a:rPr lang="en-US" sz="1000">
                <a:solidFill>
                  <a:srgbClr val="000000"/>
                </a:solidFill>
                <a:latin typeface="Arial (Body)"/>
                <a:cs typeface="Times New Roman" panose="02020603050405020304" pitchFamily="18" charset="0"/>
              </a:rPr>
              <a:t>Enterprise support</a:t>
            </a:r>
            <a:endParaRPr lang="en-US" sz="1000" dirty="0">
              <a:solidFill>
                <a:srgbClr val="000000"/>
              </a:solidFill>
              <a:latin typeface="Arial (Body)"/>
              <a:cs typeface="Times New Roman" panose="02020603050405020304" pitchFamily="18" charset="0"/>
            </a:endParaRPr>
          </a:p>
        </p:txBody>
      </p:sp>
      <p:sp>
        <p:nvSpPr>
          <p:cNvPr id="17" name="Rectangle 16">
            <a:extLst>
              <a:ext uri="{FF2B5EF4-FFF2-40B4-BE49-F238E27FC236}">
                <a16:creationId xmlns:a16="http://schemas.microsoft.com/office/drawing/2014/main" id="{658DAF26-302E-4BBE-A5F4-44630EB002AC}"/>
              </a:ext>
            </a:extLst>
          </p:cNvPr>
          <p:cNvSpPr>
            <a:spLocks/>
          </p:cNvSpPr>
          <p:nvPr/>
        </p:nvSpPr>
        <p:spPr>
          <a:xfrm>
            <a:off x="953747" y="1009718"/>
            <a:ext cx="2103120" cy="1186058"/>
          </a:xfrm>
          <a:prstGeom prst="rect">
            <a:avLst/>
          </a:prstGeom>
          <a:solidFill>
            <a:schemeClr val="bg1"/>
          </a:solidFill>
          <a:ln w="6350">
            <a:solidFill>
              <a:schemeClr val="tx1"/>
            </a:solidFill>
          </a:ln>
        </p:spPr>
        <p:txBody>
          <a:bodyPr vert="horz" wrap="square" lIns="9144" tIns="9144" rIns="9144" bIns="9144" rtlCol="0" anchor="t">
            <a:noAutofit/>
          </a:bodyPr>
          <a:lstStyle/>
          <a:p>
            <a:pPr>
              <a:spcBef>
                <a:spcPts val="300"/>
              </a:spcBef>
              <a:spcAft>
                <a:spcPts val="300"/>
              </a:spcAft>
              <a:buClr>
                <a:srgbClr val="000000"/>
              </a:buClr>
              <a:buFont typeface="Segoe UI" panose="020B0502040204020203" pitchFamily="34" charset="0"/>
              <a:buChar char="​"/>
            </a:pPr>
            <a:r>
              <a:rPr lang="en-US" sz="1000">
                <a:solidFill>
                  <a:srgbClr val="000000"/>
                </a:solidFill>
                <a:latin typeface="Arial (Body)"/>
                <a:cs typeface="Times New Roman" panose="02020603050405020304" pitchFamily="18" charset="0"/>
              </a:rPr>
              <a:t>Identity management</a:t>
            </a:r>
            <a:endParaRPr lang="en-US" sz="1000" dirty="0">
              <a:solidFill>
                <a:srgbClr val="000000"/>
              </a:solidFill>
              <a:latin typeface="Arial (Body)"/>
              <a:cs typeface="Times New Roman" panose="02020603050405020304" pitchFamily="18" charset="0"/>
            </a:endParaRPr>
          </a:p>
        </p:txBody>
      </p:sp>
      <p:sp>
        <p:nvSpPr>
          <p:cNvPr id="18" name="Rectangle 17">
            <a:extLst>
              <a:ext uri="{FF2B5EF4-FFF2-40B4-BE49-F238E27FC236}">
                <a16:creationId xmlns:a16="http://schemas.microsoft.com/office/drawing/2014/main" id="{FFAE1436-C597-4467-9199-215D813D0340}"/>
              </a:ext>
            </a:extLst>
          </p:cNvPr>
          <p:cNvSpPr>
            <a:spLocks/>
          </p:cNvSpPr>
          <p:nvPr/>
        </p:nvSpPr>
        <p:spPr>
          <a:xfrm>
            <a:off x="1090907" y="1316863"/>
            <a:ext cx="1828800" cy="762937"/>
          </a:xfrm>
          <a:prstGeom prst="rect">
            <a:avLst/>
          </a:prstGeom>
          <a:solidFill>
            <a:schemeClr val="bg1"/>
          </a:solidFill>
          <a:ln w="6350">
            <a:solidFill>
              <a:schemeClr val="tx1"/>
            </a:solidFill>
          </a:ln>
        </p:spPr>
        <p:txBody>
          <a:bodyPr vert="horz" wrap="square" lIns="9144" tIns="9144" rIns="9144" bIns="9144" rtlCol="0" anchor="t">
            <a:noAutofit/>
          </a:bodyPr>
          <a:lstStyle/>
          <a:p>
            <a:pPr>
              <a:spcBef>
                <a:spcPts val="300"/>
              </a:spcBef>
              <a:spcAft>
                <a:spcPts val="300"/>
              </a:spcAft>
              <a:buClr>
                <a:srgbClr val="000000"/>
              </a:buClr>
              <a:buFont typeface="Segoe UI" panose="020B0502040204020203" pitchFamily="34" charset="0"/>
              <a:buChar char="​"/>
            </a:pPr>
            <a:r>
              <a:rPr lang="en-US" sz="1000">
                <a:solidFill>
                  <a:srgbClr val="000000"/>
                </a:solidFill>
                <a:latin typeface="Arial (Body)"/>
                <a:cs typeface="Times New Roman" panose="02020603050405020304" pitchFamily="18" charset="0"/>
              </a:rPr>
              <a:t>Internal Identity Management</a:t>
            </a:r>
            <a:endParaRPr lang="en-US" sz="1000" dirty="0">
              <a:solidFill>
                <a:srgbClr val="000000"/>
              </a:solidFill>
              <a:latin typeface="Arial (Body)"/>
              <a:cs typeface="Times New Roman" panose="02020603050405020304" pitchFamily="18" charset="0"/>
            </a:endParaRPr>
          </a:p>
        </p:txBody>
      </p:sp>
      <p:sp>
        <p:nvSpPr>
          <p:cNvPr id="19" name="Rectangle 18">
            <a:extLst>
              <a:ext uri="{FF2B5EF4-FFF2-40B4-BE49-F238E27FC236}">
                <a16:creationId xmlns:a16="http://schemas.microsoft.com/office/drawing/2014/main" id="{D944851E-9E2D-4E45-95EA-8EAAD43D6B80}"/>
              </a:ext>
            </a:extLst>
          </p:cNvPr>
          <p:cNvSpPr>
            <a:spLocks/>
          </p:cNvSpPr>
          <p:nvPr/>
        </p:nvSpPr>
        <p:spPr>
          <a:xfrm>
            <a:off x="1182347" y="1635306"/>
            <a:ext cx="1645920" cy="365760"/>
          </a:xfrm>
          <a:prstGeom prst="rect">
            <a:avLst/>
          </a:prstGeom>
          <a:solidFill>
            <a:srgbClr val="FFFF00"/>
          </a:solidFill>
          <a:ln w="9525"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576" tIns="18288" rIns="18288" bIns="18288" numCol="1" spcCol="0" rtlCol="0" fromWordArt="0" anchor="ctr" anchorCtr="0" forceAA="0" compatLnSpc="1">
            <a:prstTxWarp prst="textNoShape">
              <a:avLst/>
            </a:prstTxWarp>
            <a:noAutofit/>
          </a:bodyPr>
          <a:lstStyle/>
          <a:p>
            <a:pPr algn="ctr">
              <a:spcBef>
                <a:spcPts val="300"/>
              </a:spcBef>
              <a:spcAft>
                <a:spcPts val="300"/>
              </a:spcAft>
            </a:pPr>
            <a:r>
              <a:rPr lang="en-US" sz="1000">
                <a:solidFill>
                  <a:schemeClr val="tx1"/>
                </a:solidFill>
                <a:latin typeface="Arial (Body)"/>
                <a:cs typeface="Times New Roman" panose="02020603050405020304" pitchFamily="18" charset="0"/>
              </a:rPr>
              <a:t>Internal authentication Management</a:t>
            </a:r>
            <a:endParaRPr lang="en-US" sz="1000" dirty="0">
              <a:solidFill>
                <a:schemeClr val="tx1"/>
              </a:solidFill>
              <a:latin typeface="Arial (Body)"/>
              <a:cs typeface="Times New Roman" panose="02020603050405020304" pitchFamily="18" charset="0"/>
            </a:endParaRPr>
          </a:p>
        </p:txBody>
      </p:sp>
      <p:sp>
        <p:nvSpPr>
          <p:cNvPr id="140" name="TextBox 139"/>
          <p:cNvSpPr txBox="1"/>
          <p:nvPr/>
        </p:nvSpPr>
        <p:spPr>
          <a:xfrm>
            <a:off x="8619826" y="846111"/>
            <a:ext cx="3364624" cy="738664"/>
          </a:xfrm>
          <a:prstGeom prst="rect">
            <a:avLst/>
          </a:prstGeom>
          <a:solidFill>
            <a:schemeClr val="tx2">
              <a:lumMod val="20000"/>
              <a:lumOff val="80000"/>
            </a:schemeClr>
          </a:solidFill>
          <a:ln>
            <a:solidFill>
              <a:schemeClr val="tx1"/>
            </a:solidFill>
          </a:ln>
        </p:spPr>
        <p:txBody>
          <a:bodyPr wrap="square" rtlCol="0">
            <a:spAutoFit/>
          </a:bodyPr>
          <a:lstStyle/>
          <a:p>
            <a:r>
              <a:rPr lang="en-US" sz="1400" b="1" smtClean="0">
                <a:solidFill>
                  <a:srgbClr val="FF0000"/>
                </a:solidFill>
                <a:latin typeface="Arial (Body)"/>
                <a:cs typeface="Arial" panose="020B0604020202020204" pitchFamily="34" charset="0"/>
              </a:rPr>
              <a:t>Note:</a:t>
            </a:r>
            <a:endParaRPr lang="vi-VN" sz="1400" b="1" smtClean="0">
              <a:solidFill>
                <a:srgbClr val="FF0000"/>
              </a:solidFill>
              <a:latin typeface="Arial (Body)"/>
              <a:cs typeface="Arial" panose="020B0604020202020204" pitchFamily="34" charset="0"/>
            </a:endParaRPr>
          </a:p>
          <a:p>
            <a:pPr marL="285750" indent="-285750">
              <a:buFont typeface="Wingdings" panose="05000000000000000000" pitchFamily="2" charset="2"/>
              <a:buChar char="Ø"/>
            </a:pPr>
            <a:r>
              <a:rPr lang="en-US" sz="1400" smtClean="0">
                <a:latin typeface="Arial (Body)"/>
                <a:cs typeface="Arial" panose="020B0604020202020204" pitchFamily="34" charset="0"/>
              </a:rPr>
              <a:t>Cập nhật các tính năng nội bộ trên Portal của D-Signature</a:t>
            </a:r>
            <a:endParaRPr lang="en-US" sz="1400" dirty="0" smtClean="0">
              <a:latin typeface="Arial (Body)"/>
              <a:cs typeface="Arial" panose="020B0604020202020204" pitchFamily="34" charset="0"/>
            </a:endParaRPr>
          </a:p>
        </p:txBody>
      </p:sp>
      <p:sp>
        <p:nvSpPr>
          <p:cNvPr id="141" name="Rounded Rectangle 140"/>
          <p:cNvSpPr/>
          <p:nvPr/>
        </p:nvSpPr>
        <p:spPr>
          <a:xfrm>
            <a:off x="958761" y="1258874"/>
            <a:ext cx="2049557" cy="878913"/>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Rounded Rectangle 141"/>
          <p:cNvSpPr/>
          <p:nvPr/>
        </p:nvSpPr>
        <p:spPr>
          <a:xfrm>
            <a:off x="7833598" y="240109"/>
            <a:ext cx="1516825" cy="218960"/>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smtClean="0">
                <a:solidFill>
                  <a:schemeClr val="tx1"/>
                </a:solidFill>
              </a:rPr>
              <a:t>Main Capabilities</a:t>
            </a:r>
            <a:endParaRPr lang="en-US" sz="1200">
              <a:solidFill>
                <a:schemeClr val="tx1"/>
              </a:solidFill>
            </a:endParaRPr>
          </a:p>
        </p:txBody>
      </p:sp>
      <p:grpSp>
        <p:nvGrpSpPr>
          <p:cNvPr id="143" name="Group 142"/>
          <p:cNvGrpSpPr/>
          <p:nvPr/>
        </p:nvGrpSpPr>
        <p:grpSpPr>
          <a:xfrm>
            <a:off x="9497308" y="200288"/>
            <a:ext cx="2487142" cy="289160"/>
            <a:chOff x="4623204" y="4924467"/>
            <a:chExt cx="3732732" cy="274320"/>
          </a:xfrm>
        </p:grpSpPr>
        <p:sp>
          <p:nvSpPr>
            <p:cNvPr id="144" name="Rectangle 143"/>
            <p:cNvSpPr/>
            <p:nvPr/>
          </p:nvSpPr>
          <p:spPr>
            <a:xfrm>
              <a:off x="4623204" y="4924467"/>
              <a:ext cx="3732732" cy="27432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146" name="Rectangle 145">
              <a:extLst>
                <a:ext uri="{FF2B5EF4-FFF2-40B4-BE49-F238E27FC236}">
                  <a16:creationId xmlns:a16="http://schemas.microsoft.com/office/drawing/2014/main" id="{D944851E-9E2D-4E45-95EA-8EAAD43D6B80}"/>
                </a:ext>
              </a:extLst>
            </p:cNvPr>
            <p:cNvSpPr>
              <a:spLocks/>
            </p:cNvSpPr>
            <p:nvPr/>
          </p:nvSpPr>
          <p:spPr>
            <a:xfrm>
              <a:off x="5940930" y="4924467"/>
              <a:ext cx="1097280" cy="274320"/>
            </a:xfrm>
            <a:prstGeom prst="rect">
              <a:avLst/>
            </a:prstGeom>
            <a:solidFill>
              <a:srgbClr val="FFFF00"/>
            </a:solidFill>
            <a:ln w="9525"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576" tIns="18288" rIns="18288" bIns="18288" numCol="1" spcCol="0" rtlCol="0" fromWordArt="0" anchor="ctr" anchorCtr="0" forceAA="0" compatLnSpc="1">
              <a:prstTxWarp prst="textNoShape">
                <a:avLst/>
              </a:prstTxWarp>
              <a:noAutofit/>
            </a:bodyPr>
            <a:lstStyle/>
            <a:p>
              <a:pPr lvl="0" algn="ctr">
                <a:spcBef>
                  <a:spcPts val="300"/>
                </a:spcBef>
                <a:spcAft>
                  <a:spcPts val="300"/>
                </a:spcAft>
                <a:defRPr/>
              </a:pPr>
              <a:r>
                <a:rPr lang="en-US" sz="800">
                  <a:solidFill>
                    <a:schemeClr val="tx1"/>
                  </a:solidFill>
                  <a:latin typeface="Arial (Body)"/>
                  <a:cs typeface="Times New Roman" panose="02020603050405020304" pitchFamily="18" charset="0"/>
                </a:rPr>
                <a:t>Modify</a:t>
              </a:r>
              <a:endParaRPr kumimoji="0" lang="en-US" sz="800" i="0" u="none" strike="noStrike" kern="1200" cap="none" spc="0" normalizeH="0" baseline="0" noProof="0" dirty="0">
                <a:ln>
                  <a:noFill/>
                </a:ln>
                <a:solidFill>
                  <a:schemeClr val="tx1"/>
                </a:solidFill>
                <a:effectLst/>
                <a:uLnTx/>
                <a:uFillTx/>
                <a:latin typeface="Arial (Body)"/>
                <a:cs typeface="Times New Roman" panose="02020603050405020304" pitchFamily="18" charset="0"/>
              </a:endParaRPr>
            </a:p>
          </p:txBody>
        </p:sp>
        <p:sp>
          <p:nvSpPr>
            <p:cNvPr id="147" name="Rectangle 146">
              <a:extLst>
                <a:ext uri="{FF2B5EF4-FFF2-40B4-BE49-F238E27FC236}">
                  <a16:creationId xmlns:a16="http://schemas.microsoft.com/office/drawing/2014/main" id="{FFAE1436-C597-4467-9199-215D813D0340}"/>
                </a:ext>
              </a:extLst>
            </p:cNvPr>
            <p:cNvSpPr>
              <a:spLocks/>
            </p:cNvSpPr>
            <p:nvPr/>
          </p:nvSpPr>
          <p:spPr>
            <a:xfrm>
              <a:off x="7258656" y="4924467"/>
              <a:ext cx="1097280" cy="274320"/>
            </a:xfrm>
            <a:prstGeom prst="rect">
              <a:avLst/>
            </a:prstGeom>
            <a:solidFill>
              <a:srgbClr val="92D050"/>
            </a:solidFill>
            <a:ln w="9525"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576" tIns="18288" rIns="18288" bIns="18288" numCol="1" spcCol="0" rtlCol="0" fromWordArt="0" anchor="ctr" anchorCtr="0" forceAA="0" compatLnSpc="1">
              <a:prstTxWarp prst="textNoShape">
                <a:avLst/>
              </a:prstTxWarp>
              <a:noAutofit/>
            </a:bodyPr>
            <a:lstStyle/>
            <a:p>
              <a:pPr lvl="0" algn="ctr">
                <a:spcBef>
                  <a:spcPts val="300"/>
                </a:spcBef>
                <a:spcAft>
                  <a:spcPts val="300"/>
                </a:spcAft>
                <a:defRPr/>
              </a:pPr>
              <a:r>
                <a:rPr lang="en-US" sz="800">
                  <a:solidFill>
                    <a:srgbClr val="000000"/>
                  </a:solidFill>
                  <a:latin typeface="Arial (Body)"/>
                  <a:cs typeface="Times New Roman" panose="02020603050405020304" pitchFamily="18" charset="0"/>
                </a:rPr>
                <a:t>Existed</a:t>
              </a:r>
              <a:endParaRPr kumimoji="0" lang="en-US" sz="800" i="0" u="none" strike="noStrike" kern="1200" cap="none" spc="0" normalizeH="0" baseline="0" noProof="0" dirty="0">
                <a:ln>
                  <a:noFill/>
                </a:ln>
                <a:solidFill>
                  <a:srgbClr val="000000"/>
                </a:solidFill>
                <a:effectLst/>
                <a:uLnTx/>
                <a:uFillTx/>
                <a:latin typeface="Arial (Body)"/>
                <a:cs typeface="Times New Roman" panose="02020603050405020304" pitchFamily="18" charset="0"/>
              </a:endParaRPr>
            </a:p>
          </p:txBody>
        </p:sp>
        <p:sp>
          <p:nvSpPr>
            <p:cNvPr id="148" name="Rectangle 147">
              <a:extLst>
                <a:ext uri="{FF2B5EF4-FFF2-40B4-BE49-F238E27FC236}">
                  <a16:creationId xmlns:a16="http://schemas.microsoft.com/office/drawing/2014/main" id="{D944851E-9E2D-4E45-95EA-8EAAD43D6B80}"/>
                </a:ext>
              </a:extLst>
            </p:cNvPr>
            <p:cNvSpPr>
              <a:spLocks/>
            </p:cNvSpPr>
            <p:nvPr/>
          </p:nvSpPr>
          <p:spPr>
            <a:xfrm>
              <a:off x="4623204" y="4924467"/>
              <a:ext cx="1097280" cy="274320"/>
            </a:xfrm>
            <a:prstGeom prst="rect">
              <a:avLst/>
            </a:prstGeom>
            <a:solidFill>
              <a:schemeClr val="accent1">
                <a:lumMod val="40000"/>
                <a:lumOff val="60000"/>
              </a:schemeClr>
            </a:solidFill>
            <a:ln w="9525"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576" tIns="18288" rIns="18288" bIns="18288"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latin typeface="Arial (Body)"/>
                  <a:cs typeface="Times New Roman" panose="02020603050405020304" pitchFamily="18" charset="0"/>
                </a:rPr>
                <a:t>New</a:t>
              </a:r>
              <a:endParaRPr lang="en-US" sz="800" dirty="0">
                <a:solidFill>
                  <a:schemeClr val="tx1"/>
                </a:solidFill>
                <a:latin typeface="Arial (Body)"/>
                <a:cs typeface="Times New Roman" panose="02020603050405020304" pitchFamily="18" charset="0"/>
              </a:endParaRPr>
            </a:p>
          </p:txBody>
        </p:sp>
      </p:grpSp>
    </p:spTree>
    <p:extLst>
      <p:ext uri="{BB962C8B-B14F-4D97-AF65-F5344CB8AC3E}">
        <p14:creationId xmlns:p14="http://schemas.microsoft.com/office/powerpoint/2010/main" val="418426807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6" name="Object 6" hidden="1">
            <a:extLst>
              <a:ext uri="{FF2B5EF4-FFF2-40B4-BE49-F238E27FC236}">
                <a16:creationId xmlns:a16="http://schemas.microsoft.com/office/drawing/2014/main" id="{0FE275B6-7C1E-4152-91DE-0508CCD455B8}"/>
              </a:ext>
            </a:extLst>
          </p:cNvPr>
          <p:cNvGraphicFramePr>
            <a:graphicFrameLocks noChangeAspect="1"/>
          </p:cNvGraphicFramePr>
          <p:nvPr>
            <p:custDataLst>
              <p:tags r:id="rId2"/>
            </p:custDataLs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4066" name="think-cell Slide" r:id="rId5" imgW="473" imgH="476" progId="TCLayout.ActiveDocument.1">
                  <p:embed/>
                </p:oleObj>
              </mc:Choice>
              <mc:Fallback>
                <p:oleObj name="think-cell Slide" r:id="rId5" imgW="473" imgH="476" progId="TCLayout.ActiveDocument.1">
                  <p:embed/>
                  <p:pic>
                    <p:nvPicPr>
                      <p:cNvPr id="66" name="Object 6" hidden="1">
                        <a:extLst>
                          <a:ext uri="{FF2B5EF4-FFF2-40B4-BE49-F238E27FC236}">
                            <a16:creationId xmlns:a16="http://schemas.microsoft.com/office/drawing/2014/main" id="{0FE275B6-7C1E-4152-91DE-0508CCD455B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 name="Text Placeholder 1">
            <a:extLst>
              <a:ext uri="{FF2B5EF4-FFF2-40B4-BE49-F238E27FC236}">
                <a16:creationId xmlns:a16="http://schemas.microsoft.com/office/drawing/2014/main" id="{206381AD-4C2B-4745-99B1-0BBCE6131A71}"/>
              </a:ext>
            </a:extLst>
          </p:cNvPr>
          <p:cNvSpPr txBox="1">
            <a:spLocks/>
          </p:cNvSpPr>
          <p:nvPr/>
        </p:nvSpPr>
        <p:spPr>
          <a:xfrm>
            <a:off x="660177" y="-43882"/>
            <a:ext cx="10800620" cy="724247"/>
          </a:xfrm>
          <a:prstGeom prst="rect">
            <a:avLst/>
          </a:prstGeom>
        </p:spPr>
        <p:txBody>
          <a:bodyPr vert="horz" lIns="91440" tIns="45720" rIns="91440" bIns="45720" rtlCol="0" anchor="ctr">
            <a:normAutofit/>
          </a:bodyP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a:pPr>
            <a:r>
              <a:rPr lang="en-US" sz="3200" b="1" smtClean="0">
                <a:solidFill>
                  <a:srgbClr val="E67014"/>
                </a:solidFill>
              </a:rPr>
              <a:t>IT Capability</a:t>
            </a:r>
            <a:endParaRPr lang="en-US" sz="3200" b="1" dirty="0">
              <a:solidFill>
                <a:srgbClr val="E67014"/>
              </a:solidFill>
            </a:endParaRPr>
          </a:p>
        </p:txBody>
      </p:sp>
      <p:sp>
        <p:nvSpPr>
          <p:cNvPr id="7" name="Google Shape;1405;p48">
            <a:extLst>
              <a:ext uri="{FF2B5EF4-FFF2-40B4-BE49-F238E27FC236}">
                <a16:creationId xmlns:a16="http://schemas.microsoft.com/office/drawing/2014/main" id="{095AB5BF-5089-854A-A575-89811E501E2D}"/>
              </a:ext>
            </a:extLst>
          </p:cNvPr>
          <p:cNvSpPr/>
          <p:nvPr/>
        </p:nvSpPr>
        <p:spPr>
          <a:xfrm rot="10800000">
            <a:off x="298043" y="9334"/>
            <a:ext cx="297504" cy="617816"/>
          </a:xfrm>
          <a:custGeom>
            <a:avLst/>
            <a:gdLst/>
            <a:ahLst/>
            <a:cxnLst/>
            <a:rect l="l" t="t" r="r" b="b"/>
            <a:pathLst>
              <a:path w="288" h="868" extrusionOk="0">
                <a:moveTo>
                  <a:pt x="144" y="0"/>
                </a:moveTo>
                <a:cubicBezTo>
                  <a:pt x="64" y="0"/>
                  <a:pt x="0" y="64"/>
                  <a:pt x="0" y="144"/>
                </a:cubicBezTo>
                <a:cubicBezTo>
                  <a:pt x="0" y="868"/>
                  <a:pt x="0" y="868"/>
                  <a:pt x="0" y="868"/>
                </a:cubicBezTo>
                <a:cubicBezTo>
                  <a:pt x="288" y="868"/>
                  <a:pt x="288" y="868"/>
                  <a:pt x="288" y="868"/>
                </a:cubicBezTo>
                <a:cubicBezTo>
                  <a:pt x="288" y="144"/>
                  <a:pt x="288" y="144"/>
                  <a:pt x="288" y="144"/>
                </a:cubicBezTo>
                <a:cubicBezTo>
                  <a:pt x="288" y="64"/>
                  <a:pt x="223" y="0"/>
                  <a:pt x="144" y="0"/>
                </a:cubicBezTo>
                <a:close/>
              </a:path>
            </a:pathLst>
          </a:custGeom>
          <a:gradFill flip="none" rotWithShape="1">
            <a:gsLst>
              <a:gs pos="0">
                <a:srgbClr val="FD4D00">
                  <a:shade val="30000"/>
                  <a:satMod val="115000"/>
                </a:srgbClr>
              </a:gs>
              <a:gs pos="44000">
                <a:srgbClr val="FD4D00">
                  <a:shade val="67500"/>
                  <a:satMod val="115000"/>
                </a:srgbClr>
              </a:gs>
              <a:gs pos="100000">
                <a:srgbClr val="FD9E00"/>
              </a:gs>
            </a:gsLst>
            <a:lin ang="16200000" scaled="1"/>
            <a:tileRect/>
          </a:gradFill>
          <a:ln>
            <a:noFill/>
          </a:ln>
        </p:spPr>
        <p:txBody>
          <a:bodyPr spcFirstLastPara="1" wrap="square" lIns="68575" tIns="34275" rIns="68575" bIns="3427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300" b="1" i="0" u="none" strike="noStrike" kern="1200" cap="none" spc="0" normalizeH="0" baseline="0" noProof="0">
              <a:ln>
                <a:noFill/>
              </a:ln>
              <a:solidFill>
                <a:prstClr val="white"/>
              </a:solidFill>
              <a:effectLst/>
              <a:uLnTx/>
              <a:uFillTx/>
              <a:ea typeface="+mn-ea"/>
              <a:cs typeface="+mn-cs"/>
              <a:sym typeface="Calibri"/>
            </a:endParaRPr>
          </a:p>
        </p:txBody>
      </p:sp>
      <p:sp>
        <p:nvSpPr>
          <p:cNvPr id="11" name="Rectangle 10"/>
          <p:cNvSpPr/>
          <p:nvPr/>
        </p:nvSpPr>
        <p:spPr>
          <a:xfrm>
            <a:off x="106665" y="886093"/>
            <a:ext cx="1371600" cy="2230984"/>
          </a:xfrm>
          <a:prstGeom prst="rect">
            <a:avLst/>
          </a:prstGeom>
          <a:solidFill>
            <a:schemeClr val="bg1"/>
          </a:solidFill>
        </p:spPr>
        <p:style>
          <a:lnRef idx="1">
            <a:schemeClr val="dk1"/>
          </a:lnRef>
          <a:fillRef idx="2">
            <a:schemeClr val="dk1"/>
          </a:fillRef>
          <a:effectRef idx="1">
            <a:schemeClr val="dk1"/>
          </a:effectRef>
          <a:fontRef idx="minor">
            <a:schemeClr val="dk1"/>
          </a:fontRef>
        </p:style>
        <p:txBody>
          <a:bodyPr rtlCol="0" anchor="ctr"/>
          <a:lstStyle/>
          <a:p>
            <a:r>
              <a:rPr lang="en-US" sz="1400">
                <a:solidFill>
                  <a:sysClr val="windowText" lastClr="000000"/>
                </a:solidFill>
                <a:latin typeface="Arial (Body)"/>
                <a:cs typeface="Times New Roman" panose="02020603050405020304" pitchFamily="18" charset="0"/>
              </a:rPr>
              <a:t>6. Domain-oriented &amp; micro-services</a:t>
            </a:r>
          </a:p>
        </p:txBody>
      </p:sp>
      <p:sp>
        <p:nvSpPr>
          <p:cNvPr id="15" name="Rectangle 14">
            <a:extLst>
              <a:ext uri="{FF2B5EF4-FFF2-40B4-BE49-F238E27FC236}">
                <a16:creationId xmlns:a16="http://schemas.microsoft.com/office/drawing/2014/main" id="{81A9F1BF-05CB-42ED-9D37-A7A02F20E5BA}"/>
              </a:ext>
            </a:extLst>
          </p:cNvPr>
          <p:cNvSpPr>
            <a:spLocks/>
          </p:cNvSpPr>
          <p:nvPr/>
        </p:nvSpPr>
        <p:spPr>
          <a:xfrm>
            <a:off x="1592565" y="894448"/>
            <a:ext cx="4010917" cy="1871309"/>
          </a:xfrm>
          <a:prstGeom prst="rect">
            <a:avLst/>
          </a:prstGeom>
          <a:solidFill>
            <a:schemeClr val="bg1"/>
          </a:solidFill>
          <a:ln w="6350">
            <a:solidFill>
              <a:schemeClr val="tx1"/>
            </a:solidFill>
          </a:ln>
        </p:spPr>
        <p:txBody>
          <a:bodyPr vert="horz" wrap="square" lIns="9144" tIns="9144" rIns="9144" bIns="9144" rtlCol="0" anchor="t">
            <a:noAutofit/>
          </a:bodyPr>
          <a:lstStyle/>
          <a:p>
            <a:pPr marL="0" marR="0" lvl="0" indent="0" algn="l" defTabSz="914400" rtl="0" eaLnBrk="1" fontAlgn="auto" latinLnBrk="0" hangingPunct="1">
              <a:lnSpc>
                <a:spcPct val="100000"/>
              </a:lnSpc>
              <a:spcBef>
                <a:spcPts val="300"/>
              </a:spcBef>
              <a:spcAft>
                <a:spcPts val="300"/>
              </a:spcAft>
              <a:buClr>
                <a:srgbClr val="000000"/>
              </a:buClr>
              <a:buSzTx/>
              <a:buFont typeface="Segoe UI" panose="020B0502040204020203" pitchFamily="34" charset="0"/>
              <a:buChar char="​"/>
              <a:tabLst/>
              <a:defRPr/>
            </a:pPr>
            <a:r>
              <a:rPr kumimoji="0" lang="en-US" sz="1200" i="0" u="none" strike="noStrike" kern="1200" cap="none" spc="0" normalizeH="0" baseline="0" noProof="0" smtClean="0">
                <a:ln>
                  <a:noFill/>
                </a:ln>
                <a:solidFill>
                  <a:srgbClr val="000000"/>
                </a:solidFill>
                <a:effectLst/>
                <a:uLnTx/>
                <a:uFillTx/>
                <a:latin typeface="Arial (Body)"/>
                <a:cs typeface="Times New Roman" panose="02020603050405020304" pitchFamily="18" charset="0"/>
              </a:rPr>
              <a:t>Share services</a:t>
            </a:r>
            <a:endParaRPr kumimoji="0" lang="en-US" sz="1200" i="0" u="none" strike="noStrike" kern="1200" cap="none" spc="0" normalizeH="0" baseline="0" noProof="0" dirty="0">
              <a:ln>
                <a:noFill/>
              </a:ln>
              <a:solidFill>
                <a:srgbClr val="000000"/>
              </a:solidFill>
              <a:effectLst/>
              <a:uLnTx/>
              <a:uFillTx/>
              <a:latin typeface="Arial (Body)"/>
              <a:cs typeface="Times New Roman" panose="02020603050405020304" pitchFamily="18" charset="0"/>
            </a:endParaRPr>
          </a:p>
        </p:txBody>
      </p:sp>
      <p:sp>
        <p:nvSpPr>
          <p:cNvPr id="16" name="Rectangle 15">
            <a:extLst>
              <a:ext uri="{FF2B5EF4-FFF2-40B4-BE49-F238E27FC236}">
                <a16:creationId xmlns:a16="http://schemas.microsoft.com/office/drawing/2014/main" id="{658DAF26-302E-4BBE-A5F4-44630EB002AC}"/>
              </a:ext>
            </a:extLst>
          </p:cNvPr>
          <p:cNvSpPr>
            <a:spLocks/>
          </p:cNvSpPr>
          <p:nvPr/>
        </p:nvSpPr>
        <p:spPr>
          <a:xfrm>
            <a:off x="1729725" y="1155477"/>
            <a:ext cx="3693003" cy="1450792"/>
          </a:xfrm>
          <a:prstGeom prst="rect">
            <a:avLst/>
          </a:prstGeom>
          <a:solidFill>
            <a:schemeClr val="bg1"/>
          </a:solidFill>
          <a:ln w="9525"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576" tIns="18288" rIns="18288" bIns="18288"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200" i="0" u="none" strike="noStrike" kern="1200" cap="none" spc="0" normalizeH="0" baseline="0" noProof="0" smtClean="0">
                <a:ln>
                  <a:noFill/>
                </a:ln>
                <a:solidFill>
                  <a:srgbClr val="000000"/>
                </a:solidFill>
                <a:effectLst/>
                <a:uLnTx/>
                <a:uFillTx/>
                <a:latin typeface="Arial (Body)"/>
                <a:cs typeface="Times New Roman" panose="02020603050405020304" pitchFamily="18" charset="0"/>
              </a:rPr>
              <a:t>Digital signature</a:t>
            </a:r>
            <a:endParaRPr kumimoji="0" lang="en-US" sz="1200" i="0" u="none" strike="noStrike" kern="1200" cap="none" spc="0" normalizeH="0" baseline="0" noProof="0" dirty="0">
              <a:ln>
                <a:noFill/>
              </a:ln>
              <a:solidFill>
                <a:srgbClr val="000000"/>
              </a:solidFill>
              <a:effectLst/>
              <a:uLnTx/>
              <a:uFillTx/>
              <a:latin typeface="Arial (Body)"/>
              <a:cs typeface="Times New Roman" panose="02020603050405020304" pitchFamily="18" charset="0"/>
            </a:endParaRPr>
          </a:p>
        </p:txBody>
      </p:sp>
      <p:sp>
        <p:nvSpPr>
          <p:cNvPr id="17" name="Rectangle 16">
            <a:extLst>
              <a:ext uri="{FF2B5EF4-FFF2-40B4-BE49-F238E27FC236}">
                <a16:creationId xmlns:a16="http://schemas.microsoft.com/office/drawing/2014/main" id="{D944851E-9E2D-4E45-95EA-8EAAD43D6B80}"/>
              </a:ext>
            </a:extLst>
          </p:cNvPr>
          <p:cNvSpPr>
            <a:spLocks/>
          </p:cNvSpPr>
          <p:nvPr/>
        </p:nvSpPr>
        <p:spPr>
          <a:xfrm>
            <a:off x="1820930" y="1418411"/>
            <a:ext cx="1645920" cy="365760"/>
          </a:xfrm>
          <a:prstGeom prst="rect">
            <a:avLst/>
          </a:prstGeom>
          <a:solidFill>
            <a:srgbClr val="FFFF00"/>
          </a:solidFill>
          <a:ln w="9525"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576" tIns="18288" rIns="18288" bIns="18288" numCol="1" spcCol="0" rtlCol="0" fromWordArt="0" anchor="ctr" anchorCtr="0" forceAA="0" compatLnSpc="1">
            <a:prstTxWarp prst="textNoShape">
              <a:avLst/>
            </a:prstTxWarp>
            <a:noAutofit/>
          </a:bodyPr>
          <a:lstStyle/>
          <a:p>
            <a:pPr algn="ctr">
              <a:spcBef>
                <a:spcPts val="300"/>
              </a:spcBef>
              <a:spcAft>
                <a:spcPts val="300"/>
              </a:spcAft>
            </a:pPr>
            <a:r>
              <a:rPr lang="en-US" sz="1100">
                <a:solidFill>
                  <a:schemeClr val="tx1"/>
                </a:solidFill>
                <a:latin typeface="Arial (Body)"/>
                <a:cs typeface="Times New Roman" panose="02020603050405020304" pitchFamily="18" charset="0"/>
              </a:rPr>
              <a:t>Provisioning</a:t>
            </a:r>
            <a:endParaRPr lang="en-US" sz="1100" dirty="0">
              <a:solidFill>
                <a:schemeClr val="tx1"/>
              </a:solidFill>
              <a:latin typeface="Arial (Body)"/>
              <a:cs typeface="Times New Roman" panose="02020603050405020304" pitchFamily="18" charset="0"/>
            </a:endParaRPr>
          </a:p>
        </p:txBody>
      </p:sp>
      <p:sp>
        <p:nvSpPr>
          <p:cNvPr id="24" name="Rectangle 23">
            <a:extLst>
              <a:ext uri="{FF2B5EF4-FFF2-40B4-BE49-F238E27FC236}">
                <a16:creationId xmlns:a16="http://schemas.microsoft.com/office/drawing/2014/main" id="{D944851E-9E2D-4E45-95EA-8EAAD43D6B80}"/>
              </a:ext>
            </a:extLst>
          </p:cNvPr>
          <p:cNvSpPr>
            <a:spLocks/>
          </p:cNvSpPr>
          <p:nvPr/>
        </p:nvSpPr>
        <p:spPr>
          <a:xfrm>
            <a:off x="3642075" y="1418411"/>
            <a:ext cx="1645920" cy="365760"/>
          </a:xfrm>
          <a:prstGeom prst="rect">
            <a:avLst/>
          </a:prstGeom>
          <a:solidFill>
            <a:srgbClr val="FFFF00"/>
          </a:solidFill>
          <a:ln w="9525"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576" tIns="18288" rIns="18288" bIns="18288" numCol="1" spcCol="0" rtlCol="0" fromWordArt="0" anchor="ctr" anchorCtr="0" forceAA="0" compatLnSpc="1">
            <a:prstTxWarp prst="textNoShape">
              <a:avLst/>
            </a:prstTxWarp>
            <a:noAutofit/>
          </a:bodyPr>
          <a:lstStyle/>
          <a:p>
            <a:pPr algn="ctr">
              <a:spcBef>
                <a:spcPts val="300"/>
              </a:spcBef>
              <a:spcAft>
                <a:spcPts val="300"/>
              </a:spcAft>
            </a:pPr>
            <a:r>
              <a:rPr lang="vi-VN" sz="1100">
                <a:solidFill>
                  <a:schemeClr val="tx1"/>
                </a:solidFill>
                <a:latin typeface="Arial (Body)"/>
                <a:cs typeface="Times New Roman" panose="02020603050405020304" pitchFamily="18" charset="0"/>
              </a:rPr>
              <a:t>Signature Creation</a:t>
            </a:r>
            <a:endParaRPr lang="en-US" sz="1100" dirty="0">
              <a:solidFill>
                <a:schemeClr val="tx1"/>
              </a:solidFill>
              <a:latin typeface="Arial (Body)"/>
              <a:cs typeface="Times New Roman" panose="02020603050405020304" pitchFamily="18" charset="0"/>
            </a:endParaRPr>
          </a:p>
        </p:txBody>
      </p:sp>
      <p:sp>
        <p:nvSpPr>
          <p:cNvPr id="31" name="Rounded Rectangle 30"/>
          <p:cNvSpPr/>
          <p:nvPr/>
        </p:nvSpPr>
        <p:spPr>
          <a:xfrm>
            <a:off x="1433071" y="816831"/>
            <a:ext cx="4310969" cy="2023354"/>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ounded Rectangle 33"/>
          <p:cNvSpPr/>
          <p:nvPr/>
        </p:nvSpPr>
        <p:spPr>
          <a:xfrm>
            <a:off x="4070352" y="6417388"/>
            <a:ext cx="1459475" cy="365760"/>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smtClean="0">
                <a:solidFill>
                  <a:schemeClr val="tx1"/>
                </a:solidFill>
              </a:rPr>
              <a:t>Main Capabilities</a:t>
            </a:r>
            <a:endParaRPr lang="en-US" sz="1200">
              <a:solidFill>
                <a:schemeClr val="tx1"/>
              </a:solidFill>
            </a:endParaRPr>
          </a:p>
        </p:txBody>
      </p:sp>
      <p:sp>
        <p:nvSpPr>
          <p:cNvPr id="42" name="Rectangle 41">
            <a:extLst>
              <a:ext uri="{FF2B5EF4-FFF2-40B4-BE49-F238E27FC236}">
                <a16:creationId xmlns:a16="http://schemas.microsoft.com/office/drawing/2014/main" id="{D944851E-9E2D-4E45-95EA-8EAAD43D6B80}"/>
              </a:ext>
            </a:extLst>
          </p:cNvPr>
          <p:cNvSpPr>
            <a:spLocks/>
          </p:cNvSpPr>
          <p:nvPr/>
        </p:nvSpPr>
        <p:spPr>
          <a:xfrm>
            <a:off x="1434900" y="6463108"/>
            <a:ext cx="1097280" cy="274320"/>
          </a:xfrm>
          <a:prstGeom prst="rect">
            <a:avLst/>
          </a:prstGeom>
          <a:solidFill>
            <a:srgbClr val="FFFF00"/>
          </a:solidFill>
          <a:ln w="9525"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576" tIns="18288" rIns="18288" bIns="18288" numCol="1" spcCol="0" rtlCol="0" fromWordArt="0" anchor="ctr" anchorCtr="0" forceAA="0" compatLnSpc="1">
            <a:prstTxWarp prst="textNoShape">
              <a:avLst/>
            </a:prstTxWarp>
            <a:noAutofit/>
          </a:bodyPr>
          <a:lstStyle/>
          <a:p>
            <a:pPr lvl="0" algn="ctr">
              <a:spcBef>
                <a:spcPts val="300"/>
              </a:spcBef>
              <a:spcAft>
                <a:spcPts val="300"/>
              </a:spcAft>
              <a:defRPr/>
            </a:pPr>
            <a:r>
              <a:rPr lang="en-US" sz="1100">
                <a:solidFill>
                  <a:schemeClr val="tx1"/>
                </a:solidFill>
                <a:latin typeface="Arial (Body)"/>
                <a:cs typeface="Times New Roman" panose="02020603050405020304" pitchFamily="18" charset="0"/>
              </a:rPr>
              <a:t>Modify</a:t>
            </a:r>
            <a:endParaRPr kumimoji="0" lang="en-US" sz="1100" i="0" u="none" strike="noStrike" kern="1200" cap="none" spc="0" normalizeH="0" baseline="0" noProof="0" dirty="0">
              <a:ln>
                <a:noFill/>
              </a:ln>
              <a:solidFill>
                <a:schemeClr val="tx1"/>
              </a:solidFill>
              <a:effectLst/>
              <a:uLnTx/>
              <a:uFillTx/>
              <a:latin typeface="Arial (Body)"/>
              <a:cs typeface="Times New Roman" panose="02020603050405020304" pitchFamily="18" charset="0"/>
            </a:endParaRPr>
          </a:p>
        </p:txBody>
      </p:sp>
      <p:sp>
        <p:nvSpPr>
          <p:cNvPr id="43" name="Rectangle 42">
            <a:extLst>
              <a:ext uri="{FF2B5EF4-FFF2-40B4-BE49-F238E27FC236}">
                <a16:creationId xmlns:a16="http://schemas.microsoft.com/office/drawing/2014/main" id="{FFAE1436-C597-4467-9199-215D813D0340}"/>
              </a:ext>
            </a:extLst>
          </p:cNvPr>
          <p:cNvSpPr>
            <a:spLocks/>
          </p:cNvSpPr>
          <p:nvPr/>
        </p:nvSpPr>
        <p:spPr>
          <a:xfrm>
            <a:off x="2752626" y="6463108"/>
            <a:ext cx="1097280" cy="274320"/>
          </a:xfrm>
          <a:prstGeom prst="rect">
            <a:avLst/>
          </a:prstGeom>
          <a:solidFill>
            <a:srgbClr val="92D050"/>
          </a:solidFill>
          <a:ln w="9525"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576" tIns="18288" rIns="18288" bIns="18288" numCol="1" spcCol="0" rtlCol="0" fromWordArt="0" anchor="ctr" anchorCtr="0" forceAA="0" compatLnSpc="1">
            <a:prstTxWarp prst="textNoShape">
              <a:avLst/>
            </a:prstTxWarp>
            <a:noAutofit/>
          </a:bodyPr>
          <a:lstStyle/>
          <a:p>
            <a:pPr lvl="0" algn="ctr">
              <a:spcBef>
                <a:spcPts val="300"/>
              </a:spcBef>
              <a:spcAft>
                <a:spcPts val="300"/>
              </a:spcAft>
              <a:defRPr/>
            </a:pPr>
            <a:r>
              <a:rPr lang="en-US" sz="1100">
                <a:solidFill>
                  <a:srgbClr val="000000"/>
                </a:solidFill>
                <a:latin typeface="Arial (Body)"/>
                <a:cs typeface="Times New Roman" panose="02020603050405020304" pitchFamily="18" charset="0"/>
              </a:rPr>
              <a:t>Existed</a:t>
            </a:r>
            <a:endParaRPr kumimoji="0" lang="en-US" sz="1100" i="0" u="none" strike="noStrike" kern="1200" cap="none" spc="0" normalizeH="0" baseline="0" noProof="0" dirty="0">
              <a:ln>
                <a:noFill/>
              </a:ln>
              <a:solidFill>
                <a:srgbClr val="000000"/>
              </a:solidFill>
              <a:effectLst/>
              <a:uLnTx/>
              <a:uFillTx/>
              <a:latin typeface="Arial (Body)"/>
              <a:cs typeface="Times New Roman" panose="02020603050405020304" pitchFamily="18" charset="0"/>
            </a:endParaRPr>
          </a:p>
        </p:txBody>
      </p:sp>
      <p:sp>
        <p:nvSpPr>
          <p:cNvPr id="44" name="Rectangle 43">
            <a:extLst>
              <a:ext uri="{FF2B5EF4-FFF2-40B4-BE49-F238E27FC236}">
                <a16:creationId xmlns:a16="http://schemas.microsoft.com/office/drawing/2014/main" id="{D944851E-9E2D-4E45-95EA-8EAAD43D6B80}"/>
              </a:ext>
            </a:extLst>
          </p:cNvPr>
          <p:cNvSpPr>
            <a:spLocks/>
          </p:cNvSpPr>
          <p:nvPr/>
        </p:nvSpPr>
        <p:spPr>
          <a:xfrm>
            <a:off x="117174" y="6463108"/>
            <a:ext cx="1097280" cy="274320"/>
          </a:xfrm>
          <a:prstGeom prst="rect">
            <a:avLst/>
          </a:prstGeom>
          <a:solidFill>
            <a:schemeClr val="accent1">
              <a:lumMod val="40000"/>
              <a:lumOff val="60000"/>
            </a:schemeClr>
          </a:solidFill>
          <a:ln w="9525"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576" tIns="18288" rIns="18288" bIns="18288" numCol="1" spcCol="0" rtlCol="0" fromWordArt="0" anchor="ctr" anchorCtr="0" forceAA="0" compatLnSpc="1">
            <a:prstTxWarp prst="textNoShape">
              <a:avLst/>
            </a:prstTxWarp>
            <a:noAutofit/>
          </a:bodyPr>
          <a:lstStyle/>
          <a:p>
            <a:pPr algn="ctr">
              <a:spcBef>
                <a:spcPts val="300"/>
              </a:spcBef>
              <a:spcAft>
                <a:spcPts val="300"/>
              </a:spcAft>
            </a:pPr>
            <a:r>
              <a:rPr lang="en-US" sz="1100">
                <a:solidFill>
                  <a:schemeClr val="tx1"/>
                </a:solidFill>
                <a:latin typeface="Arial (Body)"/>
                <a:cs typeface="Times New Roman" panose="02020603050405020304" pitchFamily="18" charset="0"/>
              </a:rPr>
              <a:t>New</a:t>
            </a:r>
            <a:endParaRPr lang="en-US" sz="1100" dirty="0">
              <a:solidFill>
                <a:schemeClr val="tx1"/>
              </a:solidFill>
              <a:latin typeface="Arial (Body)"/>
              <a:cs typeface="Times New Roman" panose="02020603050405020304" pitchFamily="18" charset="0"/>
            </a:endParaRPr>
          </a:p>
        </p:txBody>
      </p:sp>
      <p:sp>
        <p:nvSpPr>
          <p:cNvPr id="37" name="Folded Corner 36"/>
          <p:cNvSpPr/>
          <p:nvPr/>
        </p:nvSpPr>
        <p:spPr>
          <a:xfrm>
            <a:off x="7432373" y="680365"/>
            <a:ext cx="4581827" cy="6102783"/>
          </a:xfrm>
          <a:prstGeom prst="foldedCorner">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38" name="TextBox 37"/>
          <p:cNvSpPr txBox="1"/>
          <p:nvPr/>
        </p:nvSpPr>
        <p:spPr>
          <a:xfrm>
            <a:off x="7432373" y="680365"/>
            <a:ext cx="4581827" cy="2123658"/>
          </a:xfrm>
          <a:prstGeom prst="rect">
            <a:avLst/>
          </a:prstGeom>
          <a:noFill/>
        </p:spPr>
        <p:txBody>
          <a:bodyPr wrap="square" rtlCol="0">
            <a:spAutoFit/>
          </a:bodyPr>
          <a:lstStyle/>
          <a:p>
            <a:r>
              <a:rPr lang="en-US" sz="1200" b="1">
                <a:solidFill>
                  <a:srgbClr val="FF0000"/>
                </a:solidFill>
                <a:latin typeface="Arial (Body)"/>
              </a:rPr>
              <a:t>Notes:</a:t>
            </a:r>
          </a:p>
          <a:p>
            <a:r>
              <a:rPr lang="en-US" sz="1200" b="1">
                <a:latin typeface="Arial (Body)"/>
              </a:rPr>
              <a:t>Box 6:</a:t>
            </a:r>
          </a:p>
          <a:p>
            <a:pPr marL="171450" indent="-171450">
              <a:buFont typeface="Arial" panose="020B0604020202020204" pitchFamily="34" charset="0"/>
              <a:buChar char="•"/>
            </a:pPr>
            <a:r>
              <a:rPr lang="en-US" sz="1200">
                <a:latin typeface="Arial (Body)"/>
              </a:rPr>
              <a:t>Provisioning: </a:t>
            </a:r>
          </a:p>
          <a:p>
            <a:pPr marL="404813" lvl="1" indent="-285750">
              <a:buFont typeface="Wingdings" panose="05000000000000000000" pitchFamily="2" charset="2"/>
              <a:buChar char="§"/>
            </a:pPr>
            <a:r>
              <a:rPr lang="en-US" sz="1200">
                <a:latin typeface="Arial (Body)"/>
              </a:rPr>
              <a:t>Credential Management: </a:t>
            </a:r>
            <a:r>
              <a:rPr lang="vi-VN" sz="1200">
                <a:latin typeface="Arial (Body)"/>
              </a:rPr>
              <a:t>Quản trị dịch vụ CKS : CTS người dùng, client</a:t>
            </a:r>
            <a:r>
              <a:rPr lang="en-US" sz="1200" smtClean="0">
                <a:latin typeface="Arial (Body)"/>
              </a:rPr>
              <a:t>.</a:t>
            </a:r>
            <a:endParaRPr lang="en-US" sz="1200">
              <a:latin typeface="Arial (Body)"/>
            </a:endParaRPr>
          </a:p>
          <a:p>
            <a:pPr marL="171450" indent="-171450">
              <a:buFont typeface="Arial" panose="020B0604020202020204" pitchFamily="34" charset="0"/>
              <a:buChar char="•"/>
            </a:pPr>
            <a:r>
              <a:rPr lang="en-US" sz="1200" smtClean="0">
                <a:latin typeface="Arial (Body)"/>
              </a:rPr>
              <a:t>Signature </a:t>
            </a:r>
            <a:r>
              <a:rPr lang="en-US" sz="1200">
                <a:latin typeface="Arial (Body)"/>
              </a:rPr>
              <a:t>Creation: </a:t>
            </a:r>
          </a:p>
          <a:p>
            <a:pPr marL="404813" lvl="1" indent="-285750">
              <a:buFont typeface="Wingdings" panose="05000000000000000000" pitchFamily="2" charset="2"/>
              <a:buChar char="§"/>
            </a:pPr>
            <a:r>
              <a:rPr lang="en-US" sz="1200">
                <a:latin typeface="Arial (Body)"/>
              </a:rPr>
              <a:t>File Signing: </a:t>
            </a:r>
            <a:r>
              <a:rPr lang="vi-VN" sz="1200">
                <a:latin typeface="Arial (Body)"/>
              </a:rPr>
              <a:t>Ký file đơn </a:t>
            </a:r>
            <a:r>
              <a:rPr lang="vi-VN" sz="1200" smtClean="0">
                <a:latin typeface="Arial (Body)"/>
              </a:rPr>
              <a:t>lẻ</a:t>
            </a:r>
            <a:r>
              <a:rPr lang="en-US" sz="1200" smtClean="0">
                <a:latin typeface="Arial (Body)"/>
              </a:rPr>
              <a:t> trên Portal.</a:t>
            </a:r>
            <a:endParaRPr lang="en-US" sz="1200">
              <a:latin typeface="Arial (Body)"/>
            </a:endParaRPr>
          </a:p>
          <a:p>
            <a:pPr marL="404813" lvl="1" indent="-285750">
              <a:buFont typeface="Wingdings" panose="05000000000000000000" pitchFamily="2" charset="2"/>
              <a:buChar char="§"/>
            </a:pPr>
            <a:r>
              <a:rPr lang="en-US" sz="1200">
                <a:latin typeface="Arial (Body)"/>
              </a:rPr>
              <a:t>Bulk Signing: </a:t>
            </a:r>
            <a:r>
              <a:rPr lang="en-US" sz="1200" smtClean="0">
                <a:latin typeface="Arial (Body)"/>
              </a:rPr>
              <a:t>Ký theo lô trên Portal.</a:t>
            </a:r>
          </a:p>
          <a:p>
            <a:pPr marL="404813" lvl="1" indent="-285750">
              <a:buFont typeface="Wingdings" panose="05000000000000000000" pitchFamily="2" charset="2"/>
              <a:buChar char="§"/>
            </a:pPr>
            <a:r>
              <a:rPr lang="en-US" sz="1200" smtClean="0">
                <a:latin typeface="Arial (Body)"/>
              </a:rPr>
              <a:t>Phản hồi kết quả ký với HTVT qua Kafka</a:t>
            </a:r>
            <a:endParaRPr lang="en-US" sz="1200">
              <a:latin typeface="Arial (Body)"/>
            </a:endParaRPr>
          </a:p>
          <a:p>
            <a:pPr marL="171450" indent="-171450">
              <a:buFont typeface="Arial" panose="020B0604020202020204" pitchFamily="34" charset="0"/>
              <a:buChar char="•"/>
            </a:pPr>
            <a:r>
              <a:rPr lang="en-US" sz="1200">
                <a:latin typeface="Arial (Body)"/>
              </a:rPr>
              <a:t>Signature Verification: Verify chữ ký </a:t>
            </a:r>
            <a:r>
              <a:rPr lang="en-US" sz="1200" smtClean="0">
                <a:latin typeface="Arial (Body)"/>
              </a:rPr>
              <a:t>số trên Portal</a:t>
            </a:r>
            <a:endParaRPr lang="en-US" sz="1200">
              <a:latin typeface="Arial (Body)"/>
            </a:endParaRPr>
          </a:p>
          <a:p>
            <a:endParaRPr lang="en-US" sz="1200" smtClean="0">
              <a:latin typeface="Arial (Body)"/>
            </a:endParaRPr>
          </a:p>
        </p:txBody>
      </p:sp>
      <p:sp>
        <p:nvSpPr>
          <p:cNvPr id="46" name="Rectangle 45">
            <a:extLst>
              <a:ext uri="{FF2B5EF4-FFF2-40B4-BE49-F238E27FC236}">
                <a16:creationId xmlns:a16="http://schemas.microsoft.com/office/drawing/2014/main" id="{D944851E-9E2D-4E45-95EA-8EAAD43D6B80}"/>
              </a:ext>
            </a:extLst>
          </p:cNvPr>
          <p:cNvSpPr>
            <a:spLocks/>
          </p:cNvSpPr>
          <p:nvPr/>
        </p:nvSpPr>
        <p:spPr>
          <a:xfrm>
            <a:off x="1820930" y="2023314"/>
            <a:ext cx="1645920" cy="365760"/>
          </a:xfrm>
          <a:prstGeom prst="rect">
            <a:avLst/>
          </a:prstGeom>
          <a:solidFill>
            <a:srgbClr val="FFFF00"/>
          </a:solidFill>
          <a:ln w="9525"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576" tIns="18288" rIns="18288" bIns="18288" numCol="1" spcCol="0" rtlCol="0" fromWordArt="0" anchor="ctr" anchorCtr="0" forceAA="0" compatLnSpc="1">
            <a:prstTxWarp prst="textNoShape">
              <a:avLst/>
            </a:prstTxWarp>
            <a:noAutofit/>
          </a:bodyPr>
          <a:lstStyle/>
          <a:p>
            <a:pPr algn="ctr">
              <a:spcBef>
                <a:spcPts val="300"/>
              </a:spcBef>
              <a:spcAft>
                <a:spcPts val="300"/>
              </a:spcAft>
            </a:pPr>
            <a:r>
              <a:rPr lang="en-US" sz="1100">
                <a:solidFill>
                  <a:schemeClr val="tx1"/>
                </a:solidFill>
                <a:latin typeface="Arial (Body)"/>
                <a:cs typeface="Times New Roman" panose="02020603050405020304" pitchFamily="18" charset="0"/>
              </a:rPr>
              <a:t>Signature Verification</a:t>
            </a:r>
            <a:endParaRPr lang="en-US" sz="1100" dirty="0">
              <a:solidFill>
                <a:schemeClr val="tx1"/>
              </a:solidFill>
              <a:latin typeface="Arial (Body)"/>
              <a:cs typeface="Times New Roman" panose="02020603050405020304" pitchFamily="18" charset="0"/>
            </a:endParaRPr>
          </a:p>
        </p:txBody>
      </p:sp>
    </p:spTree>
    <p:extLst>
      <p:ext uri="{BB962C8B-B14F-4D97-AF65-F5344CB8AC3E}">
        <p14:creationId xmlns:p14="http://schemas.microsoft.com/office/powerpoint/2010/main" val="75815597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6" name="Object 6" hidden="1">
            <a:extLst>
              <a:ext uri="{FF2B5EF4-FFF2-40B4-BE49-F238E27FC236}">
                <a16:creationId xmlns:a16="http://schemas.microsoft.com/office/drawing/2014/main" id="{0FE275B6-7C1E-4152-91DE-0508CCD455B8}"/>
              </a:ext>
            </a:extLst>
          </p:cNvPr>
          <p:cNvGraphicFramePr>
            <a:graphicFrameLocks noChangeAspect="1"/>
          </p:cNvGraphicFramePr>
          <p:nvPr>
            <p:custDataLst>
              <p:tags r:id="rId2"/>
            </p:custDataLs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3062" name="think-cell Slide" r:id="rId5" imgW="473" imgH="476" progId="TCLayout.ActiveDocument.1">
                  <p:embed/>
                </p:oleObj>
              </mc:Choice>
              <mc:Fallback>
                <p:oleObj name="think-cell Slide" r:id="rId5" imgW="473" imgH="476" progId="TCLayout.ActiveDocument.1">
                  <p:embed/>
                  <p:pic>
                    <p:nvPicPr>
                      <p:cNvPr id="66" name="Object 6" hidden="1">
                        <a:extLst>
                          <a:ext uri="{FF2B5EF4-FFF2-40B4-BE49-F238E27FC236}">
                            <a16:creationId xmlns:a16="http://schemas.microsoft.com/office/drawing/2014/main" id="{0FE275B6-7C1E-4152-91DE-0508CCD455B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 name="Text Placeholder 1">
            <a:extLst>
              <a:ext uri="{FF2B5EF4-FFF2-40B4-BE49-F238E27FC236}">
                <a16:creationId xmlns:a16="http://schemas.microsoft.com/office/drawing/2014/main" id="{206381AD-4C2B-4745-99B1-0BBCE6131A71}"/>
              </a:ext>
            </a:extLst>
          </p:cNvPr>
          <p:cNvSpPr txBox="1">
            <a:spLocks/>
          </p:cNvSpPr>
          <p:nvPr/>
        </p:nvSpPr>
        <p:spPr>
          <a:xfrm>
            <a:off x="660177" y="-43882"/>
            <a:ext cx="10800620" cy="724247"/>
          </a:xfrm>
          <a:prstGeom prst="rect">
            <a:avLst/>
          </a:prstGeom>
        </p:spPr>
        <p:txBody>
          <a:bodyPr vert="horz" lIns="91440" tIns="45720" rIns="91440" bIns="45720" rtlCol="0" anchor="ctr">
            <a:normAutofit/>
          </a:bodyP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a:pPr>
            <a:r>
              <a:rPr lang="en-US" sz="3200" b="1" smtClean="0">
                <a:solidFill>
                  <a:srgbClr val="E67014"/>
                </a:solidFill>
              </a:rPr>
              <a:t>Application Landscape</a:t>
            </a:r>
            <a:endParaRPr lang="en-US" sz="3200" b="1" dirty="0">
              <a:solidFill>
                <a:srgbClr val="E67014"/>
              </a:solidFill>
            </a:endParaRPr>
          </a:p>
        </p:txBody>
      </p:sp>
      <p:sp>
        <p:nvSpPr>
          <p:cNvPr id="7" name="Google Shape;1405;p48">
            <a:extLst>
              <a:ext uri="{FF2B5EF4-FFF2-40B4-BE49-F238E27FC236}">
                <a16:creationId xmlns:a16="http://schemas.microsoft.com/office/drawing/2014/main" id="{095AB5BF-5089-854A-A575-89811E501E2D}"/>
              </a:ext>
            </a:extLst>
          </p:cNvPr>
          <p:cNvSpPr/>
          <p:nvPr/>
        </p:nvSpPr>
        <p:spPr>
          <a:xfrm rot="10800000">
            <a:off x="298043" y="9334"/>
            <a:ext cx="297504" cy="617816"/>
          </a:xfrm>
          <a:custGeom>
            <a:avLst/>
            <a:gdLst/>
            <a:ahLst/>
            <a:cxnLst/>
            <a:rect l="l" t="t" r="r" b="b"/>
            <a:pathLst>
              <a:path w="288" h="868" extrusionOk="0">
                <a:moveTo>
                  <a:pt x="144" y="0"/>
                </a:moveTo>
                <a:cubicBezTo>
                  <a:pt x="64" y="0"/>
                  <a:pt x="0" y="64"/>
                  <a:pt x="0" y="144"/>
                </a:cubicBezTo>
                <a:cubicBezTo>
                  <a:pt x="0" y="868"/>
                  <a:pt x="0" y="868"/>
                  <a:pt x="0" y="868"/>
                </a:cubicBezTo>
                <a:cubicBezTo>
                  <a:pt x="288" y="868"/>
                  <a:pt x="288" y="868"/>
                  <a:pt x="288" y="868"/>
                </a:cubicBezTo>
                <a:cubicBezTo>
                  <a:pt x="288" y="144"/>
                  <a:pt x="288" y="144"/>
                  <a:pt x="288" y="144"/>
                </a:cubicBezTo>
                <a:cubicBezTo>
                  <a:pt x="288" y="64"/>
                  <a:pt x="223" y="0"/>
                  <a:pt x="144" y="0"/>
                </a:cubicBezTo>
                <a:close/>
              </a:path>
            </a:pathLst>
          </a:custGeom>
          <a:gradFill flip="none" rotWithShape="1">
            <a:gsLst>
              <a:gs pos="0">
                <a:srgbClr val="FD4D00">
                  <a:shade val="30000"/>
                  <a:satMod val="115000"/>
                </a:srgbClr>
              </a:gs>
              <a:gs pos="44000">
                <a:srgbClr val="FD4D00">
                  <a:shade val="67500"/>
                  <a:satMod val="115000"/>
                </a:srgbClr>
              </a:gs>
              <a:gs pos="100000">
                <a:srgbClr val="FD9E00"/>
              </a:gs>
            </a:gsLst>
            <a:lin ang="16200000" scaled="1"/>
            <a:tileRect/>
          </a:gradFill>
          <a:ln>
            <a:noFill/>
          </a:ln>
        </p:spPr>
        <p:txBody>
          <a:bodyPr spcFirstLastPara="1" wrap="square" lIns="68575" tIns="34275" rIns="68575" bIns="3427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300" b="1" i="0" u="none" strike="noStrike" kern="1200" cap="none" spc="0" normalizeH="0" baseline="0" noProof="0">
              <a:ln>
                <a:noFill/>
              </a:ln>
              <a:solidFill>
                <a:prstClr val="white"/>
              </a:solidFill>
              <a:effectLst/>
              <a:uLnTx/>
              <a:uFillTx/>
              <a:ea typeface="+mn-ea"/>
              <a:cs typeface="+mn-cs"/>
              <a:sym typeface="Calibri"/>
            </a:endParaRPr>
          </a:p>
        </p:txBody>
      </p:sp>
      <p:sp>
        <p:nvSpPr>
          <p:cNvPr id="8" name="Rectangle 7"/>
          <p:cNvSpPr/>
          <p:nvPr/>
        </p:nvSpPr>
        <p:spPr>
          <a:xfrm>
            <a:off x="117174" y="963875"/>
            <a:ext cx="1371600" cy="1788167"/>
          </a:xfrm>
          <a:prstGeom prst="rect">
            <a:avLst/>
          </a:prstGeom>
          <a:solidFill>
            <a:schemeClr val="bg1"/>
          </a:solidFill>
        </p:spPr>
        <p:style>
          <a:lnRef idx="1">
            <a:schemeClr val="dk1"/>
          </a:lnRef>
          <a:fillRef idx="2">
            <a:schemeClr val="dk1"/>
          </a:fillRef>
          <a:effectRef idx="1">
            <a:schemeClr val="dk1"/>
          </a:effectRef>
          <a:fontRef idx="minor">
            <a:schemeClr val="dk1"/>
          </a:fontRef>
        </p:style>
        <p:txBody>
          <a:bodyPr rtlCol="0" anchor="ctr"/>
          <a:lstStyle/>
          <a:p>
            <a:r>
              <a:rPr lang="en-US" sz="1400">
                <a:solidFill>
                  <a:sysClr val="windowText" lastClr="000000"/>
                </a:solidFill>
                <a:latin typeface="Arial (Body)"/>
                <a:cs typeface="Times New Roman" panose="02020603050405020304" pitchFamily="18" charset="0"/>
              </a:rPr>
              <a:t>6. Domain-oriented &amp; micro-services</a:t>
            </a:r>
          </a:p>
        </p:txBody>
      </p:sp>
      <p:sp>
        <p:nvSpPr>
          <p:cNvPr id="9" name="Rectangle 8">
            <a:extLst>
              <a:ext uri="{FF2B5EF4-FFF2-40B4-BE49-F238E27FC236}">
                <a16:creationId xmlns:a16="http://schemas.microsoft.com/office/drawing/2014/main" id="{D944851E-9E2D-4E45-95EA-8EAAD43D6B80}"/>
              </a:ext>
            </a:extLst>
          </p:cNvPr>
          <p:cNvSpPr>
            <a:spLocks/>
          </p:cNvSpPr>
          <p:nvPr/>
        </p:nvSpPr>
        <p:spPr>
          <a:xfrm>
            <a:off x="1434900" y="6378044"/>
            <a:ext cx="1097280" cy="274320"/>
          </a:xfrm>
          <a:prstGeom prst="rect">
            <a:avLst/>
          </a:prstGeom>
          <a:solidFill>
            <a:srgbClr val="FFFF00"/>
          </a:solidFill>
          <a:ln w="9525"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576" tIns="18288" rIns="18288" bIns="18288" numCol="1" spcCol="0" rtlCol="0" fromWordArt="0" anchor="ctr" anchorCtr="0" forceAA="0" compatLnSpc="1">
            <a:prstTxWarp prst="textNoShape">
              <a:avLst/>
            </a:prstTxWarp>
            <a:noAutofit/>
          </a:bodyPr>
          <a:lstStyle/>
          <a:p>
            <a:pPr lvl="0" algn="ctr">
              <a:spcBef>
                <a:spcPts val="300"/>
              </a:spcBef>
              <a:spcAft>
                <a:spcPts val="300"/>
              </a:spcAft>
              <a:defRPr/>
            </a:pPr>
            <a:r>
              <a:rPr lang="en-US" sz="1100">
                <a:solidFill>
                  <a:schemeClr val="tx1"/>
                </a:solidFill>
                <a:latin typeface="Arial (Body)"/>
                <a:cs typeface="Times New Roman" panose="02020603050405020304" pitchFamily="18" charset="0"/>
              </a:rPr>
              <a:t>Modify</a:t>
            </a:r>
            <a:endParaRPr kumimoji="0" lang="en-US" sz="1100" i="0" u="none" strike="noStrike" kern="1200" cap="none" spc="0" normalizeH="0" baseline="0" noProof="0" dirty="0">
              <a:ln>
                <a:noFill/>
              </a:ln>
              <a:solidFill>
                <a:schemeClr val="tx1"/>
              </a:solidFill>
              <a:effectLst/>
              <a:uLnTx/>
              <a:uFillTx/>
              <a:latin typeface="Arial (Body)"/>
              <a:cs typeface="Times New Roman" panose="02020603050405020304" pitchFamily="18" charset="0"/>
            </a:endParaRPr>
          </a:p>
        </p:txBody>
      </p:sp>
      <p:sp>
        <p:nvSpPr>
          <p:cNvPr id="10" name="Rectangle 9">
            <a:extLst>
              <a:ext uri="{FF2B5EF4-FFF2-40B4-BE49-F238E27FC236}">
                <a16:creationId xmlns:a16="http://schemas.microsoft.com/office/drawing/2014/main" id="{FFAE1436-C597-4467-9199-215D813D0340}"/>
              </a:ext>
            </a:extLst>
          </p:cNvPr>
          <p:cNvSpPr>
            <a:spLocks/>
          </p:cNvSpPr>
          <p:nvPr/>
        </p:nvSpPr>
        <p:spPr>
          <a:xfrm>
            <a:off x="2752626" y="6378044"/>
            <a:ext cx="1097280" cy="274320"/>
          </a:xfrm>
          <a:prstGeom prst="rect">
            <a:avLst/>
          </a:prstGeom>
          <a:solidFill>
            <a:srgbClr val="92D050"/>
          </a:solidFill>
          <a:ln w="9525"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576" tIns="18288" rIns="18288" bIns="18288" numCol="1" spcCol="0" rtlCol="0" fromWordArt="0" anchor="ctr" anchorCtr="0" forceAA="0" compatLnSpc="1">
            <a:prstTxWarp prst="textNoShape">
              <a:avLst/>
            </a:prstTxWarp>
            <a:noAutofit/>
          </a:bodyPr>
          <a:lstStyle/>
          <a:p>
            <a:pPr lvl="0" algn="ctr">
              <a:spcBef>
                <a:spcPts val="300"/>
              </a:spcBef>
              <a:spcAft>
                <a:spcPts val="300"/>
              </a:spcAft>
              <a:defRPr/>
            </a:pPr>
            <a:r>
              <a:rPr lang="en-US" sz="1100">
                <a:solidFill>
                  <a:srgbClr val="000000"/>
                </a:solidFill>
                <a:latin typeface="Arial (Body)"/>
                <a:cs typeface="Times New Roman" panose="02020603050405020304" pitchFamily="18" charset="0"/>
              </a:rPr>
              <a:t>Existed</a:t>
            </a:r>
            <a:endParaRPr kumimoji="0" lang="en-US" sz="1100" i="0" u="none" strike="noStrike" kern="1200" cap="none" spc="0" normalizeH="0" baseline="0" noProof="0" dirty="0">
              <a:ln>
                <a:noFill/>
              </a:ln>
              <a:solidFill>
                <a:srgbClr val="000000"/>
              </a:solidFill>
              <a:effectLst/>
              <a:uLnTx/>
              <a:uFillTx/>
              <a:latin typeface="Arial (Body)"/>
              <a:cs typeface="Times New Roman" panose="02020603050405020304" pitchFamily="18" charset="0"/>
            </a:endParaRPr>
          </a:p>
        </p:txBody>
      </p:sp>
      <p:sp>
        <p:nvSpPr>
          <p:cNvPr id="16" name="Rectangle 15">
            <a:extLst>
              <a:ext uri="{FF2B5EF4-FFF2-40B4-BE49-F238E27FC236}">
                <a16:creationId xmlns:a16="http://schemas.microsoft.com/office/drawing/2014/main" id="{658DAF26-302E-4BBE-A5F4-44630EB002AC}"/>
              </a:ext>
            </a:extLst>
          </p:cNvPr>
          <p:cNvSpPr>
            <a:spLocks/>
          </p:cNvSpPr>
          <p:nvPr/>
        </p:nvSpPr>
        <p:spPr>
          <a:xfrm>
            <a:off x="1857675" y="1084233"/>
            <a:ext cx="1643247" cy="821980"/>
          </a:xfrm>
          <a:prstGeom prst="rect">
            <a:avLst/>
          </a:prstGeom>
          <a:solidFill>
            <a:srgbClr val="FFFF00"/>
          </a:solidFill>
          <a:ln w="9525"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576" tIns="18288" rIns="18288" bIns="18288" numCol="1" spcCol="0" rtlCol="0" fromWordArt="0" anchor="ctr" anchorCtr="0" forceAA="0" compatLnSpc="1">
            <a:prstTxWarp prst="textNoShape">
              <a:avLst/>
            </a:prstTxWarp>
            <a:noAutofit/>
          </a:bodyPr>
          <a:lstStyle/>
          <a:p>
            <a:pPr algn="ctr">
              <a:spcBef>
                <a:spcPts val="300"/>
              </a:spcBef>
              <a:spcAft>
                <a:spcPts val="300"/>
              </a:spcAft>
            </a:pPr>
            <a:r>
              <a:rPr lang="en-US" sz="1100">
                <a:solidFill>
                  <a:schemeClr val="tx1"/>
                </a:solidFill>
                <a:latin typeface="Arial (Body)"/>
                <a:cs typeface="Times New Roman" panose="02020603050405020304" pitchFamily="18" charset="0"/>
              </a:rPr>
              <a:t>D-Signature</a:t>
            </a:r>
            <a:endParaRPr lang="en-US" sz="1100" dirty="0">
              <a:solidFill>
                <a:schemeClr val="tx1"/>
              </a:solidFill>
              <a:latin typeface="Arial (Body)"/>
              <a:cs typeface="Times New Roman" panose="02020603050405020304" pitchFamily="18" charset="0"/>
            </a:endParaRPr>
          </a:p>
        </p:txBody>
      </p:sp>
      <p:sp>
        <p:nvSpPr>
          <p:cNvPr id="21" name="Rectangle 20">
            <a:extLst>
              <a:ext uri="{FF2B5EF4-FFF2-40B4-BE49-F238E27FC236}">
                <a16:creationId xmlns:a16="http://schemas.microsoft.com/office/drawing/2014/main" id="{D944851E-9E2D-4E45-95EA-8EAAD43D6B80}"/>
              </a:ext>
            </a:extLst>
          </p:cNvPr>
          <p:cNvSpPr>
            <a:spLocks/>
          </p:cNvSpPr>
          <p:nvPr/>
        </p:nvSpPr>
        <p:spPr>
          <a:xfrm>
            <a:off x="117174" y="6378044"/>
            <a:ext cx="1097280" cy="274320"/>
          </a:xfrm>
          <a:prstGeom prst="rect">
            <a:avLst/>
          </a:prstGeom>
          <a:solidFill>
            <a:schemeClr val="accent1">
              <a:lumMod val="40000"/>
              <a:lumOff val="60000"/>
            </a:schemeClr>
          </a:solidFill>
          <a:ln w="9525"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576" tIns="18288" rIns="18288" bIns="18288" numCol="1" spcCol="0" rtlCol="0" fromWordArt="0" anchor="ctr" anchorCtr="0" forceAA="0" compatLnSpc="1">
            <a:prstTxWarp prst="textNoShape">
              <a:avLst/>
            </a:prstTxWarp>
            <a:noAutofit/>
          </a:bodyPr>
          <a:lstStyle/>
          <a:p>
            <a:pPr algn="ctr">
              <a:spcBef>
                <a:spcPts val="300"/>
              </a:spcBef>
              <a:spcAft>
                <a:spcPts val="300"/>
              </a:spcAft>
            </a:pPr>
            <a:r>
              <a:rPr lang="en-US" sz="1100">
                <a:solidFill>
                  <a:schemeClr val="tx1"/>
                </a:solidFill>
                <a:latin typeface="Arial (Body)"/>
                <a:cs typeface="Times New Roman" panose="02020603050405020304" pitchFamily="18" charset="0"/>
              </a:rPr>
              <a:t>New</a:t>
            </a:r>
            <a:endParaRPr lang="en-US" sz="1100" dirty="0">
              <a:solidFill>
                <a:schemeClr val="tx1"/>
              </a:solidFill>
              <a:latin typeface="Arial (Body)"/>
              <a:cs typeface="Times New Roman" panose="02020603050405020304" pitchFamily="18" charset="0"/>
            </a:endParaRPr>
          </a:p>
        </p:txBody>
      </p:sp>
      <p:sp>
        <p:nvSpPr>
          <p:cNvPr id="19" name="Folded Corner 18"/>
          <p:cNvSpPr/>
          <p:nvPr/>
        </p:nvSpPr>
        <p:spPr>
          <a:xfrm>
            <a:off x="7652820" y="680365"/>
            <a:ext cx="4361380" cy="6102783"/>
          </a:xfrm>
          <a:prstGeom prst="foldedCorner">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0" name="Google Shape;811;p104"/>
          <p:cNvSpPr txBox="1"/>
          <p:nvPr/>
        </p:nvSpPr>
        <p:spPr>
          <a:xfrm>
            <a:off x="7652820" y="723240"/>
            <a:ext cx="4361380" cy="5929124"/>
          </a:xfrm>
          <a:prstGeom prst="rect">
            <a:avLst/>
          </a:prstGeom>
          <a:noFill/>
          <a:ln>
            <a:noFill/>
          </a:ln>
        </p:spPr>
        <p:txBody>
          <a:bodyPr spcFirstLastPara="1" wrap="square" lIns="91433" tIns="45700" rIns="91433" bIns="45700" anchor="t" anchorCtr="0">
            <a:noAutofit/>
          </a:bodyPr>
          <a:lstStyle/>
          <a:p>
            <a:pPr marL="171450" indent="-171450">
              <a:buSzPts val="1200"/>
              <a:buFontTx/>
              <a:buChar char="-"/>
            </a:pPr>
            <a:r>
              <a:rPr lang="en-US" sz="1200" b="1" smtClean="0">
                <a:latin typeface="Arial" panose="020B0604020202020204" pitchFamily="34" charset="0"/>
                <a:cs typeface="Arial" panose="020B0604020202020204" pitchFamily="34" charset="0"/>
              </a:rPr>
              <a:t>D-Signature</a:t>
            </a:r>
            <a:r>
              <a:rPr lang="en-US" sz="1200" smtClean="0">
                <a:latin typeface="Arial" panose="020B0604020202020204" pitchFamily="34" charset="0"/>
                <a:cs typeface="Arial" panose="020B0604020202020204" pitchFamily="34" charset="0"/>
              </a:rPr>
              <a:t>: </a:t>
            </a:r>
            <a:r>
              <a:rPr lang="en-US" sz="1200">
                <a:latin typeface="Arial" panose="020B0604020202020204" pitchFamily="34" charset="0"/>
                <a:cs typeface="Arial" panose="020B0604020202020204" pitchFamily="34" charset="0"/>
              </a:rPr>
              <a:t>Nền tảng chữ ký số </a:t>
            </a:r>
            <a:r>
              <a:rPr lang="en-US" sz="1200" smtClean="0">
                <a:latin typeface="Arial" panose="020B0604020202020204" pitchFamily="34" charset="0"/>
                <a:cs typeface="Arial" panose="020B0604020202020204" pitchFamily="34" charset="0"/>
              </a:rPr>
              <a:t>bổ sung các chức năng:</a:t>
            </a:r>
            <a:endParaRPr lang="en-US" sz="1200">
              <a:latin typeface="Arial" panose="020B0604020202020204" pitchFamily="34" charset="0"/>
              <a:cs typeface="Arial" panose="020B0604020202020204" pitchFamily="34" charset="0"/>
            </a:endParaRPr>
          </a:p>
          <a:p>
            <a:pPr marL="628650" lvl="1" indent="-171450">
              <a:buSzPts val="1200"/>
              <a:buFont typeface="Wingdings" panose="05000000000000000000" pitchFamily="2" charset="2"/>
              <a:buChar char="v"/>
            </a:pPr>
            <a:r>
              <a:rPr lang="vi-VN" sz="1200">
                <a:cs typeface="Arial" panose="020B0604020202020204" pitchFamily="34" charset="0"/>
              </a:rPr>
              <a:t>DS phân quyền: Người dùng, hệ thống sử dụng dịch vụ CKS</a:t>
            </a:r>
          </a:p>
          <a:p>
            <a:pPr marL="628650" lvl="1" indent="-171450">
              <a:buSzPts val="1200"/>
              <a:buFont typeface="Wingdings" panose="05000000000000000000" pitchFamily="2" charset="2"/>
              <a:buChar char="v"/>
            </a:pPr>
            <a:r>
              <a:rPr lang="vi-VN" sz="1200">
                <a:cs typeface="Arial" panose="020B0604020202020204" pitchFamily="34" charset="0"/>
              </a:rPr>
              <a:t>Quản trị dịch vụ CKS : CTS người dùng, client</a:t>
            </a:r>
          </a:p>
          <a:p>
            <a:pPr marL="628650" lvl="1" indent="-171450">
              <a:buSzPts val="1200"/>
              <a:buFont typeface="Wingdings" panose="05000000000000000000" pitchFamily="2" charset="2"/>
              <a:buChar char="v"/>
            </a:pPr>
            <a:r>
              <a:rPr lang="vi-VN" sz="1200">
                <a:cs typeface="Arial" panose="020B0604020202020204" pitchFamily="34" charset="0"/>
              </a:rPr>
              <a:t>Quản trị dịch vụ CKS : Quản trị lịch sử, NCC CKS</a:t>
            </a:r>
          </a:p>
          <a:p>
            <a:pPr marL="628650" lvl="1" indent="-171450">
              <a:buSzPts val="1200"/>
              <a:buFont typeface="Wingdings" panose="05000000000000000000" pitchFamily="2" charset="2"/>
              <a:buChar char="v"/>
            </a:pPr>
            <a:r>
              <a:rPr lang="vi-VN" sz="1200">
                <a:cs typeface="Arial" panose="020B0604020202020204" pitchFamily="34" charset="0"/>
              </a:rPr>
              <a:t>DS Web Portal Dashboard thống kê</a:t>
            </a:r>
          </a:p>
          <a:p>
            <a:pPr marL="628650" lvl="1" indent="-171450">
              <a:buSzPts val="1200"/>
              <a:buFont typeface="Wingdings" panose="05000000000000000000" pitchFamily="2" charset="2"/>
              <a:buChar char="v"/>
            </a:pPr>
            <a:r>
              <a:rPr lang="vi-VN" sz="1200">
                <a:cs typeface="Arial" panose="020B0604020202020204" pitchFamily="34" charset="0"/>
              </a:rPr>
              <a:t>Web Portal - Ký file đơn lẻ, theo lô</a:t>
            </a:r>
          </a:p>
          <a:p>
            <a:pPr marL="628650" lvl="1" indent="-171450">
              <a:buSzPts val="1200"/>
              <a:buFont typeface="Wingdings" panose="05000000000000000000" pitchFamily="2" charset="2"/>
              <a:buChar char="v"/>
            </a:pPr>
            <a:r>
              <a:rPr lang="vi-VN" sz="1200">
                <a:cs typeface="Arial" panose="020B0604020202020204" pitchFamily="34" charset="0"/>
              </a:rPr>
              <a:t>Quản lý chất lượng - Monitoring dịch vụ NCC CKS</a:t>
            </a:r>
          </a:p>
          <a:p>
            <a:pPr marL="628650" lvl="1" indent="-171450">
              <a:buSzPts val="1200"/>
              <a:buFont typeface="Wingdings" panose="05000000000000000000" pitchFamily="2" charset="2"/>
              <a:buChar char="v"/>
            </a:pPr>
            <a:r>
              <a:rPr lang="vi-VN" sz="1200">
                <a:cs typeface="Arial" panose="020B0604020202020204" pitchFamily="34" charset="0"/>
              </a:rPr>
              <a:t>KHDN ký CKS có sẵn của VNPT</a:t>
            </a:r>
          </a:p>
          <a:p>
            <a:pPr marL="628650" lvl="1" indent="-171450">
              <a:buSzPts val="1200"/>
              <a:buFont typeface="Wingdings" panose="05000000000000000000" pitchFamily="2" charset="2"/>
              <a:buChar char="v"/>
            </a:pPr>
            <a:r>
              <a:rPr lang="vi-VN" sz="1200">
                <a:cs typeface="Arial" panose="020B0604020202020204" pitchFamily="34" charset="0"/>
              </a:rPr>
              <a:t>Web Portal - Chọn vị trí ký khi ký đơn lẻ, theo lô</a:t>
            </a:r>
          </a:p>
          <a:p>
            <a:pPr marL="628650" lvl="1" indent="-171450">
              <a:buSzPts val="1200"/>
              <a:buFont typeface="Wingdings" panose="05000000000000000000" pitchFamily="2" charset="2"/>
              <a:buChar char="v"/>
            </a:pPr>
            <a:r>
              <a:rPr lang="vi-VN" sz="1200">
                <a:cs typeface="Arial" panose="020B0604020202020204" pitchFamily="34" charset="0"/>
              </a:rPr>
              <a:t>Web Portal - Verify chữ ký số</a:t>
            </a:r>
          </a:p>
          <a:p>
            <a:pPr marL="628650" lvl="1" indent="-171450">
              <a:buSzPts val="1200"/>
              <a:buFont typeface="Wingdings" panose="05000000000000000000" pitchFamily="2" charset="2"/>
              <a:buChar char="v"/>
            </a:pPr>
            <a:r>
              <a:rPr lang="vi-VN" sz="1200">
                <a:cs typeface="Arial" panose="020B0604020202020204" pitchFamily="34" charset="0"/>
              </a:rPr>
              <a:t>Phản hồi kết quả ký số cho HTVT qua Kafka</a:t>
            </a:r>
          </a:p>
          <a:p>
            <a:pPr lvl="1">
              <a:buSzPts val="1200"/>
            </a:pPr>
            <a:endParaRPr lang="en-US" sz="1200" b="1">
              <a:latin typeface="Arial" panose="020B0604020202020204" pitchFamily="34" charset="0"/>
              <a:cs typeface="Arial" panose="020B0604020202020204" pitchFamily="34" charset="0"/>
            </a:endParaRPr>
          </a:p>
          <a:p>
            <a:pPr>
              <a:buSzPts val="1200"/>
            </a:pPr>
            <a:endParaRPr lang="en-US" sz="1200" smtClean="0">
              <a:latin typeface="Arial (Body)"/>
            </a:endParaRPr>
          </a:p>
        </p:txBody>
      </p:sp>
      <p:sp>
        <p:nvSpPr>
          <p:cNvPr id="22" name="Rounded Rectangle 21"/>
          <p:cNvSpPr/>
          <p:nvPr/>
        </p:nvSpPr>
        <p:spPr>
          <a:xfrm>
            <a:off x="1711842" y="963875"/>
            <a:ext cx="1945758" cy="1088208"/>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2155016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6" name="Object 6" hidden="1">
            <a:extLst>
              <a:ext uri="{FF2B5EF4-FFF2-40B4-BE49-F238E27FC236}">
                <a16:creationId xmlns:a16="http://schemas.microsoft.com/office/drawing/2014/main" id="{0FE275B6-7C1E-4152-91DE-0508CCD455B8}"/>
              </a:ext>
            </a:extLst>
          </p:cNvPr>
          <p:cNvGraphicFramePr>
            <a:graphicFrameLocks noChangeAspect="1"/>
          </p:cNvGraphicFramePr>
          <p:nvPr>
            <p:custDataLst>
              <p:tags r:id="rId2"/>
            </p:custDataLs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9144" name="think-cell Slide" r:id="rId5" imgW="473" imgH="476" progId="TCLayout.ActiveDocument.1">
                  <p:embed/>
                </p:oleObj>
              </mc:Choice>
              <mc:Fallback>
                <p:oleObj name="think-cell Slide" r:id="rId5" imgW="473" imgH="476" progId="TCLayout.ActiveDocument.1">
                  <p:embed/>
                  <p:pic>
                    <p:nvPicPr>
                      <p:cNvPr id="66" name="Object 6" hidden="1">
                        <a:extLst>
                          <a:ext uri="{FF2B5EF4-FFF2-40B4-BE49-F238E27FC236}">
                            <a16:creationId xmlns:a16="http://schemas.microsoft.com/office/drawing/2014/main" id="{0FE275B6-7C1E-4152-91DE-0508CCD455B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 name="Text Placeholder 1">
            <a:extLst>
              <a:ext uri="{FF2B5EF4-FFF2-40B4-BE49-F238E27FC236}">
                <a16:creationId xmlns:a16="http://schemas.microsoft.com/office/drawing/2014/main" id="{206381AD-4C2B-4745-99B1-0BBCE6131A71}"/>
              </a:ext>
            </a:extLst>
          </p:cNvPr>
          <p:cNvSpPr txBox="1">
            <a:spLocks/>
          </p:cNvSpPr>
          <p:nvPr/>
        </p:nvSpPr>
        <p:spPr>
          <a:xfrm>
            <a:off x="660177" y="-43882"/>
            <a:ext cx="10800620" cy="724247"/>
          </a:xfrm>
          <a:prstGeom prst="rect">
            <a:avLst/>
          </a:prstGeom>
        </p:spPr>
        <p:txBody>
          <a:bodyPr vert="horz" lIns="91440" tIns="45720" rIns="91440" bIns="45720" rtlCol="0" anchor="ctr">
            <a:normAutofit/>
          </a:bodyP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a:pPr>
            <a:r>
              <a:rPr lang="en-US" sz="3200" b="1" smtClean="0">
                <a:solidFill>
                  <a:srgbClr val="E67014"/>
                </a:solidFill>
              </a:rPr>
              <a:t>Techstack</a:t>
            </a:r>
            <a:endParaRPr lang="en-US" sz="3200" b="1" dirty="0">
              <a:solidFill>
                <a:srgbClr val="E67014"/>
              </a:solidFill>
            </a:endParaRPr>
          </a:p>
        </p:txBody>
      </p:sp>
      <p:sp>
        <p:nvSpPr>
          <p:cNvPr id="7" name="Google Shape;1405;p48">
            <a:extLst>
              <a:ext uri="{FF2B5EF4-FFF2-40B4-BE49-F238E27FC236}">
                <a16:creationId xmlns:a16="http://schemas.microsoft.com/office/drawing/2014/main" id="{095AB5BF-5089-854A-A575-89811E501E2D}"/>
              </a:ext>
            </a:extLst>
          </p:cNvPr>
          <p:cNvSpPr/>
          <p:nvPr/>
        </p:nvSpPr>
        <p:spPr>
          <a:xfrm rot="10800000">
            <a:off x="298043" y="9334"/>
            <a:ext cx="297504" cy="617816"/>
          </a:xfrm>
          <a:custGeom>
            <a:avLst/>
            <a:gdLst/>
            <a:ahLst/>
            <a:cxnLst/>
            <a:rect l="l" t="t" r="r" b="b"/>
            <a:pathLst>
              <a:path w="288" h="868" extrusionOk="0">
                <a:moveTo>
                  <a:pt x="144" y="0"/>
                </a:moveTo>
                <a:cubicBezTo>
                  <a:pt x="64" y="0"/>
                  <a:pt x="0" y="64"/>
                  <a:pt x="0" y="144"/>
                </a:cubicBezTo>
                <a:cubicBezTo>
                  <a:pt x="0" y="868"/>
                  <a:pt x="0" y="868"/>
                  <a:pt x="0" y="868"/>
                </a:cubicBezTo>
                <a:cubicBezTo>
                  <a:pt x="288" y="868"/>
                  <a:pt x="288" y="868"/>
                  <a:pt x="288" y="868"/>
                </a:cubicBezTo>
                <a:cubicBezTo>
                  <a:pt x="288" y="144"/>
                  <a:pt x="288" y="144"/>
                  <a:pt x="288" y="144"/>
                </a:cubicBezTo>
                <a:cubicBezTo>
                  <a:pt x="288" y="64"/>
                  <a:pt x="223" y="0"/>
                  <a:pt x="144" y="0"/>
                </a:cubicBezTo>
                <a:close/>
              </a:path>
            </a:pathLst>
          </a:custGeom>
          <a:gradFill flip="none" rotWithShape="1">
            <a:gsLst>
              <a:gs pos="0">
                <a:srgbClr val="FD4D00">
                  <a:shade val="30000"/>
                  <a:satMod val="115000"/>
                </a:srgbClr>
              </a:gs>
              <a:gs pos="44000">
                <a:srgbClr val="FD4D00">
                  <a:shade val="67500"/>
                  <a:satMod val="115000"/>
                </a:srgbClr>
              </a:gs>
              <a:gs pos="100000">
                <a:srgbClr val="FD9E00"/>
              </a:gs>
            </a:gsLst>
            <a:lin ang="16200000" scaled="1"/>
            <a:tileRect/>
          </a:gradFill>
          <a:ln>
            <a:noFill/>
          </a:ln>
        </p:spPr>
        <p:txBody>
          <a:bodyPr spcFirstLastPara="1" wrap="square" lIns="68575" tIns="34275" rIns="68575" bIns="3427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300" b="1" i="0" u="none" strike="noStrike" kern="1200" cap="none" spc="0" normalizeH="0" baseline="0" noProof="0">
              <a:ln>
                <a:noFill/>
              </a:ln>
              <a:solidFill>
                <a:prstClr val="white"/>
              </a:solidFill>
              <a:effectLst/>
              <a:uLnTx/>
              <a:uFillTx/>
              <a:ea typeface="+mn-ea"/>
              <a:cs typeface="+mn-cs"/>
              <a:sym typeface="Calibri"/>
            </a:endParaRPr>
          </a:p>
        </p:txBody>
      </p:sp>
      <p:pic>
        <p:nvPicPr>
          <p:cNvPr id="8" name="Picture 7"/>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909910" y="627151"/>
            <a:ext cx="6301154" cy="6010218"/>
          </a:xfrm>
          <a:prstGeom prst="rect">
            <a:avLst/>
          </a:prstGeom>
        </p:spPr>
      </p:pic>
      <p:pic>
        <p:nvPicPr>
          <p:cNvPr id="19077" name="Picture 645" descr="Event Sourcing CQRS using Axon - NashTech Blo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918162" y="4464213"/>
            <a:ext cx="873416" cy="58227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p:cNvPicPr>
            <a:picLocks noChangeAspect="1"/>
          </p:cNvPicPr>
          <p:nvPr/>
        </p:nvPicPr>
        <p:blipFill>
          <a:blip r:embed="rId9"/>
          <a:stretch>
            <a:fillRect/>
          </a:stretch>
        </p:blipFill>
        <p:spPr>
          <a:xfrm>
            <a:off x="4927244" y="4552749"/>
            <a:ext cx="534671" cy="405207"/>
          </a:xfrm>
          <a:prstGeom prst="rect">
            <a:avLst/>
          </a:prstGeom>
        </p:spPr>
      </p:pic>
      <p:pic>
        <p:nvPicPr>
          <p:cNvPr id="19081" name="Picture 649" descr="Domain-Driven Design by Eric Evans (Part I) - DEV Community"/>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062374" y="3845693"/>
            <a:ext cx="1692057" cy="7070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2032342"/>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3.xml><?xml version="1.0" encoding="utf-8"?>
<p:tagLst xmlns:a="http://schemas.openxmlformats.org/drawingml/2006/main" xmlns:r="http://schemas.openxmlformats.org/officeDocument/2006/relationships" xmlns:p="http://schemas.openxmlformats.org/presentationml/2006/main">
  <p:tag name="SHAPENAME" val="3. Subtitle"/>
</p:tagLst>
</file>

<file path=ppt/tags/tag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xml><?xml version="1.0" encoding="utf-8"?>
<p:tagLst xmlns:a="http://schemas.openxmlformats.org/drawingml/2006/main" xmlns:r="http://schemas.openxmlformats.org/officeDocument/2006/relationships" xmlns:p="http://schemas.openxmlformats.org/presentationml/2006/main">
  <p:tag name="SHAPENAME" val="5. Source"/>
</p:tagLst>
</file>

<file path=ppt/tags/tag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0.xml><?xml version="1.0" encoding="utf-8"?>
<p:tagLst xmlns:a="http://schemas.openxmlformats.org/drawingml/2006/main" xmlns:r="http://schemas.openxmlformats.org/officeDocument/2006/relationships" xmlns:p="http://schemas.openxmlformats.org/presentationml/2006/main">
  <p:tag name="SHAPENAME" val="5. Source"/>
</p:tagLst>
</file>

<file path=ppt/tags/tag1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Office Theme">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IDA">
    <a:dk1>
      <a:srgbClr val="000000"/>
    </a:dk1>
    <a:lt1>
      <a:srgbClr val="FFFFFF"/>
    </a:lt1>
    <a:dk2>
      <a:srgbClr val="0B5DAC"/>
    </a:dk2>
    <a:lt2>
      <a:srgbClr val="E6E6E6"/>
    </a:lt2>
    <a:accent1>
      <a:srgbClr val="008FD5"/>
    </a:accent1>
    <a:accent2>
      <a:srgbClr val="139CFF"/>
    </a:accent2>
    <a:accent3>
      <a:srgbClr val="0B5DAC"/>
    </a:accent3>
    <a:accent4>
      <a:srgbClr val="6E6E6E"/>
    </a:accent4>
    <a:accent5>
      <a:srgbClr val="8C8C8C"/>
    </a:accent5>
    <a:accent6>
      <a:srgbClr val="505050"/>
    </a:accent6>
    <a:hlink>
      <a:srgbClr val="008FD5"/>
    </a:hlink>
    <a:folHlink>
      <a:srgbClr val="6E6E6E"/>
    </a:folHlink>
  </a:clrScheme>
</a:themeOverride>
</file>

<file path=ppt/theme/themeOverride2.xml><?xml version="1.0" encoding="utf-8"?>
<a:themeOverride xmlns:a="http://schemas.openxmlformats.org/drawingml/2006/main">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themeOverride>
</file>

<file path=ppt/theme/themeOverride3.xml><?xml version="1.0" encoding="utf-8"?>
<a:themeOverride xmlns:a="http://schemas.openxmlformats.org/drawingml/2006/main">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themeOverride>
</file>

<file path=ppt/theme/themeOverride4.xml><?xml version="1.0" encoding="utf-8"?>
<a:themeOverride xmlns:a="http://schemas.openxmlformats.org/drawingml/2006/main">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themeOverride>
</file>

<file path=docProps/app.xml><?xml version="1.0" encoding="utf-8"?>
<Properties xmlns="http://schemas.openxmlformats.org/officeDocument/2006/extended-properties" xmlns:vt="http://schemas.openxmlformats.org/officeDocument/2006/docPropsVTypes">
  <TotalTime>135692</TotalTime>
  <Words>2358</Words>
  <Application>Microsoft Office PowerPoint</Application>
  <PresentationFormat>Widescreen</PresentationFormat>
  <Paragraphs>332</Paragraphs>
  <Slides>17</Slides>
  <Notes>14</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17</vt:i4>
      </vt:variant>
    </vt:vector>
  </HeadingPairs>
  <TitlesOfParts>
    <vt:vector size="28" baseType="lpstr">
      <vt:lpstr>Arial</vt:lpstr>
      <vt:lpstr>Arial (Body)</vt:lpstr>
      <vt:lpstr>Arial Unicode MS</vt:lpstr>
      <vt:lpstr>Calibri</vt:lpstr>
      <vt:lpstr>Calibri Light</vt:lpstr>
      <vt:lpstr>Segoe UI</vt:lpstr>
      <vt:lpstr>Times New Roman</vt:lpstr>
      <vt:lpstr>Trebuchet MS</vt:lpstr>
      <vt:lpstr>Wingdings</vt:lpstr>
      <vt:lpstr>1_Office Theme</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Anh Dao Tuan (CN-DB&amp;PTNLCN CG.KTGP)</cp:lastModifiedBy>
  <cp:revision>1264</cp:revision>
  <dcterms:created xsi:type="dcterms:W3CDTF">2019-12-04T02:29:14Z</dcterms:created>
  <dcterms:modified xsi:type="dcterms:W3CDTF">2025-07-25T06:48:54Z</dcterms:modified>
</cp:coreProperties>
</file>